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0f4e6ea-6f80-cac8-f9f3-ef8dd8929ddf}">
          <p14:sldIdLst>
            <p14:sldId id="256"/>
            <p14:sldId id="257"/>
          </p14:sldIdLst>
        </p14:section>
        <p14:section name="Claim Pilot" id="{a0d1109a-939a-dfd0-2ee8-6dbd331a1dbd}">
          <p14:sldIdLst>
            <p14:sldId id="258"/>
            <p14:sldId id="259"/>
            <p14:sldId id="260"/>
          </p14:sldIdLst>
        </p14:section>
        <p14:section name="Trade Pilot" id="{dcf00ed9-4cbd-fcb3-3a24-90113dede84a}">
          <p14:sldIdLst>
            <p14:sldId id="261"/>
            <p14:sldId id="262"/>
            <p14:sldId id="263"/>
          </p14:sldIdLst>
        </p14:section>
        <p14:section name="Agentic AI Layer" id="{03846b6c-ed12-a091-234b-ea49b550d947}">
          <p14:sldIdLst>
            <p14:sldId id="264"/>
            <p14:sldId id="265"/>
            <p14:sldId id="266"/>
          </p14:sldIdLst>
        </p14:section>
        <p14:section name="WareBot" id="{db0f6ce6-84fa-f517-a9fc-7d4ee7a09b54}">
          <p14:sldIdLst>
            <p14:sldId id="267"/>
            <p14:sldId id="268"/>
          </p14:sldIdLst>
        </p14:section>
        <p14:section name="Summary" id="{58b9707c-96d3-0f1d-0dfc-be0dc24dd1d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build AI agents that finish a task and record it in the business system, not chatbots that only answer. Four examples today. The console replays the Agentic AI Layer sales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departments, same shape: a familiar channel in, AI does the reading and typing, a person approves, the business system is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Staff snap a receipt in Microsoft Teams. AI reads it. Two people sign off. Finance gets a clean entry. Mileage claims work from a route map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matters most: the claimant sees each figure next to the photo it came from, so mistakes are caught early. Two separate people sign off. The printout carries the approval trail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claims become invoice or general ledger journals in Microsoft Dynamics 365. Foreign receipts use the central bank's rate. Users follow the company directory, so there is no separate user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and staff send a familiar WhatsApp message, as a photo, PDF or spreadsheet. What comes out is a real quotation, sales order or goods received note in AutoCount, the accounting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photo of the purchase or delivery order starts it. AI reads the supplier, items and quantities. A person checks them against the original, including anything that doesn't match, before AutoCount is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pay-by-link setups stop at sending the link. Here the payment confirmation (via Fiuu) comes back automatically and is applied to the right invoice in AutoCount. Duplicates and failures are matched or flagged for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WhatsApp chat, a small team of agents behind it, each with one job. The conversation is the demo scenario; watch what happens when the recommended unit is out of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keep their channels. Systems of record don't change. The layer in the middle understands the request, picks the right agent, and every action passes guardrails and a permission check. Trade Pilot runs on the same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stock check fails, the product agent is asked again with that model excluded, and the new choice is checked again. Same for the installation date. The customer never hits a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chat assistant inside the warehouse mobile app. Staff type, scan a barcode or speak. Questions get answers right away; anything that changes stock shows a confirmation card and waits for a tap. Figures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thirty-five warehouse actions, from stock balances to transfers, goods received and adjustments. Every change needs a tap; an unconfirmed change expires after five minutes. It can run on a privately hosted AI model, so warehouse data stays on your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agents get adopted and trusted: familiar channels, AI on the tedious parts, people on the decisions, the existing system of record left in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them to bring one workflow that runs on re-typing, chasing approvals or checking two screens. That is usually the first agent worth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36792"/>
            <a:ext cx="219456" cy="219456"/>
          </a:xfrm>
          <a:prstGeom prst="rect">
            <a:avLst/>
          </a:prstGeom>
        </p:spPr>
      </p:pic>
      <p:sp>
        <p:nvSpPr>
          <p:cNvPr id="3" name="Text 0"/>
          <p:cNvSpPr/>
          <p:nvPr/>
        </p:nvSpPr>
        <p:spPr>
          <a:xfrm>
            <a:off x="877824" y="6336792"/>
            <a:ext cx="4572000" cy="219456"/>
          </a:xfrm>
          <a:prstGeom prst="rect">
            <a:avLst/>
          </a:prstGeom>
          <a:noFill/>
          <a:ln/>
        </p:spPr>
        <p:txBody>
          <a:bodyPr wrap="square" lIns="0" tIns="0" rIns="0" bIns="0" rtlCol="0" anchor="ctr"/>
          <a:lstStyle/>
          <a:p>
            <a:pPr indent="0" marL="0">
              <a:buNone/>
            </a:pPr>
            <a:r>
              <a:rPr lang="en-US" sz="1000" spc="100" kern="0" dirty="0">
                <a:solidFill>
                  <a:schemeClr val="accent2"/>
                </a:solidFill>
                <a:latin typeface="Courier New" pitchFamily="34" charset="0"/>
                <a:ea typeface="Courier New" pitchFamily="34" charset="-122"/>
                <a:cs typeface="Courier New" pitchFamily="34" charset="-120"/>
              </a:rPr>
              <a:t>LIM CHEE KIN · KIN.RAG.WTF</a:t>
            </a:r>
            <a:endParaRPr lang="en-US" sz="1000" dirty="0"/>
          </a:p>
        </p:txBody>
      </p:sp>
      <p:sp>
        <p:nvSpPr>
          <p:cNvPr id="4" name="Text 1"/>
          <p:cNvSpPr/>
          <p:nvPr>
            <p:ph idx="102" type="body" hasCustomPrompt="1"/>
          </p:nvPr>
        </p:nvSpPr>
        <p:spPr>
          <a:xfrm>
            <a:off x="6796735" y="6336792"/>
            <a:ext cx="4206240" cy="219456"/>
          </a:xfrm>
          <a:prstGeom prst="rect">
            <a:avLst/>
          </a:prstGeom>
          <a:noFill/>
          <a:ln/>
        </p:spPr>
        <p:txBody>
          <a:bodyPr wrap="square" rtlCol="0"/>
          <a:lstStyle>
            <a:lvl1pPr algn="r" indent="0" marL="0">
              <a:buNone/>
              <a:defRPr lang="en-US" sz="1000" spc="100" kern="0" dirty="0">
                <a:solidFill>
                  <a:schemeClr val="accent2"/>
                </a:solidFill>
                <a:latin typeface="Courier New" pitchFamily="34" charset="0"/>
                <a:ea typeface="Courier New" pitchFamily="34" charset="-122"/>
                <a:cs typeface="Courier New" pitchFamily="34" charset="-120"/>
              </a:defRPr>
            </a:lvl1pPr>
          </a:lstStyle>
          <a:p>
            <a:pPr algn="r" indent="0" marL="0">
              <a:buNone/>
            </a:pPr>
            <a:endParaRPr lang="en-US" sz="1000" dirty="0"/>
          </a:p>
        </p:txBody>
      </p:sp>
      <p:sp>
        <p:nvSpPr>
          <p:cNvPr id="5" name="Text 1"/>
          <p:cNvSpPr/>
          <p:nvPr>
            <p:ph idx="103" type="title" hasCustomPrompt="1"/>
          </p:nvPr>
        </p:nvSpPr>
        <p:spPr>
          <a:xfrm>
            <a:off x="548640" y="640080"/>
            <a:ext cx="11094415"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6" name="Text 1"/>
          <p:cNvSpPr/>
          <p:nvPr>
            <p:ph idx="104" type="body" hasCustomPrompt="1"/>
          </p:nvPr>
        </p:nvSpPr>
        <p:spPr>
          <a:xfrm>
            <a:off x="548640" y="1335024"/>
            <a:ext cx="11094415" cy="566928"/>
          </a:xfrm>
          <a:prstGeom prst="rect">
            <a:avLst/>
          </a:prstGeom>
          <a:noFill/>
          <a:ln/>
        </p:spPr>
        <p:txBody>
          <a:bodyPr wrap="square" rtlCol="0"/>
          <a:lstStyle>
            <a:lvl1pPr indent="0" marL="0">
              <a:buNone/>
              <a:defRPr lang="en-US" sz="1600" dirty="0">
                <a:solidFill>
                  <a:schemeClr val="accent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se Opener">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36792"/>
            <a:ext cx="219456" cy="219456"/>
          </a:xfrm>
          <a:prstGeom prst="rect">
            <a:avLst/>
          </a:prstGeom>
        </p:spPr>
      </p:pic>
      <p:sp>
        <p:nvSpPr>
          <p:cNvPr id="3" name="Text 0"/>
          <p:cNvSpPr/>
          <p:nvPr/>
        </p:nvSpPr>
        <p:spPr>
          <a:xfrm>
            <a:off x="877824" y="6336792"/>
            <a:ext cx="4572000" cy="219456"/>
          </a:xfrm>
          <a:prstGeom prst="rect">
            <a:avLst/>
          </a:prstGeom>
          <a:noFill/>
          <a:ln/>
        </p:spPr>
        <p:txBody>
          <a:bodyPr wrap="square" lIns="0" tIns="0" rIns="0" bIns="0" rtlCol="0" anchor="ctr"/>
          <a:lstStyle/>
          <a:p>
            <a:pPr indent="0" marL="0">
              <a:buNone/>
            </a:pPr>
            <a:r>
              <a:rPr lang="en-US" sz="1000" spc="100" kern="0" dirty="0">
                <a:solidFill>
                  <a:schemeClr val="accent2"/>
                </a:solidFill>
                <a:latin typeface="Courier New" pitchFamily="34" charset="0"/>
                <a:ea typeface="Courier New" pitchFamily="34" charset="-122"/>
                <a:cs typeface="Courier New" pitchFamily="34" charset="-120"/>
              </a:rPr>
              <a:t>LIM CHEE KIN · KIN.RAG.WTF</a:t>
            </a:r>
            <a:endParaRPr lang="en-US" sz="1000" dirty="0"/>
          </a:p>
        </p:txBody>
      </p:sp>
      <p:sp>
        <p:nvSpPr>
          <p:cNvPr id="4" name="Text 1"/>
          <p:cNvSpPr/>
          <p:nvPr>
            <p:ph idx="102" type="body" hasCustomPrompt="1"/>
          </p:nvPr>
        </p:nvSpPr>
        <p:spPr>
          <a:xfrm>
            <a:off x="6796735" y="6336792"/>
            <a:ext cx="4206240" cy="219456"/>
          </a:xfrm>
          <a:prstGeom prst="rect">
            <a:avLst/>
          </a:prstGeom>
          <a:noFill/>
          <a:ln/>
        </p:spPr>
        <p:txBody>
          <a:bodyPr wrap="square" rtlCol="0"/>
          <a:lstStyle>
            <a:lvl1pPr algn="r" indent="0" marL="0">
              <a:buNone/>
              <a:defRPr lang="en-US" sz="1000" spc="100" kern="0" dirty="0">
                <a:solidFill>
                  <a:schemeClr val="accent2"/>
                </a:solidFill>
                <a:latin typeface="Courier New" pitchFamily="34" charset="0"/>
                <a:ea typeface="Courier New" pitchFamily="34" charset="-122"/>
                <a:cs typeface="Courier New" pitchFamily="34" charset="-120"/>
              </a:defRPr>
            </a:lvl1pPr>
          </a:lstStyle>
          <a:p>
            <a:pPr algn="r" indent="0" marL="0">
              <a:buNone/>
            </a:pPr>
            <a:endParaRPr lang="en-US" sz="1000" dirty="0"/>
          </a:p>
        </p:txBody>
      </p:sp>
      <p:sp>
        <p:nvSpPr>
          <p:cNvPr id="5" name="Text 1"/>
          <p:cNvSpPr/>
          <p:nvPr>
            <p:ph idx="103" type="title" hasCustomPrompt="1"/>
          </p:nvPr>
        </p:nvSpPr>
        <p:spPr>
          <a:xfrm>
            <a:off x="548640" y="1188720"/>
            <a:ext cx="658368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6" name="Text 1"/>
          <p:cNvSpPr/>
          <p:nvPr>
            <p:ph idx="104" type="body" hasCustomPrompt="1"/>
          </p:nvPr>
        </p:nvSpPr>
        <p:spPr>
          <a:xfrm>
            <a:off x="548640" y="2240280"/>
            <a:ext cx="6400800" cy="11887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949440" cy="21945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3.png"/><Relationship Id="rId8" Type="http://schemas.openxmlformats.org/officeDocument/2006/relationships/image" Target="../media/image-1-3.png"/><Relationship Id="rId9" Type="http://schemas.openxmlformats.org/officeDocument/2006/relationships/slideLayout" Target="../slideLayouts/slideLayout4.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4-2.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3-3.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6-2.png"/><Relationship Id="rId3" Type="http://schemas.openxmlformats.org/officeDocument/2006/relationships/image" Target="../media/image-10-7.png"/><Relationship Id="rId4" Type="http://schemas.openxmlformats.org/officeDocument/2006/relationships/image" Target="../media/image-6-2.png"/><Relationship Id="rId5" Type="http://schemas.openxmlformats.org/officeDocument/2006/relationships/image" Target="../media/image-10-9.png"/><Relationship Id="rId6" Type="http://schemas.openxmlformats.org/officeDocument/2006/relationships/image" Target="../media/image-6-2.png"/><Relationship Id="rId7" Type="http://schemas.openxmlformats.org/officeDocument/2006/relationships/image" Target="../media/image-14-4.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6-2.png"/><Relationship Id="rId3" Type="http://schemas.openxmlformats.org/officeDocument/2006/relationships/image" Target="../media/image-14-2.png"/><Relationship Id="rId4" Type="http://schemas.openxmlformats.org/officeDocument/2006/relationships/image" Target="../media/image-6-2.png"/><Relationship Id="rId5" Type="http://schemas.openxmlformats.org/officeDocument/2006/relationships/image" Target="../media/image-14-3.png"/><Relationship Id="rId6" Type="http://schemas.openxmlformats.org/officeDocument/2006/relationships/image" Target="../media/image-6-2.png"/><Relationship Id="rId7" Type="http://schemas.openxmlformats.org/officeDocument/2006/relationships/image" Target="../media/image-7-7.png"/><Relationship Id="rId8" Type="http://schemas.openxmlformats.org/officeDocument/2006/relationships/image" Target="../media/image-6-2.png"/><Relationship Id="rId9" Type="http://schemas.openxmlformats.org/officeDocument/2006/relationships/image" Target="../media/image-14-4.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10-6.png"/><Relationship Id="rId3" Type="http://schemas.openxmlformats.org/officeDocument/2006/relationships/image" Target="../media/image-2-2.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5.pn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3.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kin.rag.wtf" TargetMode="External"/><Relationship Id="rId5" Type="http://schemas.openxmlformats.org/officeDocument/2006/relationships/hyperlink" Target="mailto:limcheekin@vobject.com" TargetMode="External"/><Relationship Id="rId7" Type="http://schemas.openxmlformats.org/officeDocument/2006/relationships/hyperlink" Target="https://linkedin.com/in/limcheekin" TargetMode="External"/><Relationship Id="rId1" Type="http://schemas.openxmlformats.org/officeDocument/2006/relationships/image" Target="../media/image-1-1.png"/><Relationship Id="rId2" Type="http://schemas.openxmlformats.org/officeDocument/2006/relationships/image" Target="../media/image-15-2.png"/><Relationship Id="rId4" Type="http://schemas.openxmlformats.org/officeDocument/2006/relationships/image" Target="../media/image-15-3.png"/><Relationship Id="rId6" Type="http://schemas.openxmlformats.org/officeDocument/2006/relationships/image" Target="../media/image-15-4.png"/><Relationship Id="rId8" Type="http://schemas.openxmlformats.org/officeDocument/2006/relationships/image" Target="../media/image-15-5.jpe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949440" cy="2194560"/>
          </a:xfrm>
          <a:prstGeom prst="rect">
            <a:avLst/>
          </a:prstGeom>
          <a:noFill/>
          <a:ln/>
        </p:spPr>
        <p:txBody>
          <a:bodyPr wrap="square" lIns="0" tIns="0" rIns="0" bIns="0" rtlCol="0" anchor="t"/>
          <a:lstStyle/>
          <a:p>
            <a:pPr algn="l" indent="0" marL="0">
              <a:buNone/>
            </a:pPr>
            <a:r>
              <a:rPr lang="en-US" sz="4600" b="1" dirty="0">
                <a:solidFill>
                  <a:schemeClr val="bg1"/>
                </a:solidFill>
              </a:rPr>
              <a:t>AI agents that do </a:t>
            </a:r>
            <a:pPr algn="l" indent="0" marL="0">
              <a:buNone/>
            </a:pPr>
            <a:r>
              <a:rPr lang="en-US" sz="4600" b="1" dirty="0">
                <a:solidFill>
                  <a:schemeClr val="accent1"/>
                </a:solidFill>
              </a:rPr>
              <a:t>real work</a:t>
            </a:r>
            <a:pPr algn="l" indent="0" marL="0">
              <a:buNone/>
            </a:pPr>
            <a:r>
              <a:rPr lang="en-US" sz="4600" b="1" dirty="0">
                <a:solidFill>
                  <a:schemeClr val="bg1"/>
                </a:solidFill>
              </a:rPr>
              <a:t> inside business systems</a:t>
            </a:r>
            <a:endParaRPr lang="en-US" sz="4600" dirty="0"/>
          </a:p>
        </p:txBody>
      </p:sp>
      <p:pic>
        <p:nvPicPr>
          <p:cNvPr id="3" name="Image 0" descr="Lim Chee Kin logo mark">    </p:cNvPr>
          <p:cNvPicPr>
            <a:picLocks noChangeAspect="1"/>
          </p:cNvPicPr>
          <p:nvPr/>
        </p:nvPicPr>
        <p:blipFill>
          <a:blip r:embed="rId1"/>
          <a:stretch>
            <a:fillRect/>
          </a:stretch>
        </p:blipFill>
        <p:spPr>
          <a:xfrm>
            <a:off x="548640" y="548640"/>
            <a:ext cx="457200" cy="457200"/>
          </a:xfrm>
          <a:prstGeom prst="rect">
            <a:avLst/>
          </a:prstGeom>
        </p:spPr>
      </p:pic>
      <p:sp>
        <p:nvSpPr>
          <p:cNvPr id="4" name="Text 1"/>
          <p:cNvSpPr txBox="1"/>
          <p:nvPr/>
        </p:nvSpPr>
        <p:spPr>
          <a:xfrm>
            <a:off x="548640" y="4069080"/>
            <a:ext cx="6309360" cy="457200"/>
          </a:xfrm>
          <a:prstGeom prst="rect">
            <a:avLst/>
          </a:prstGeom>
          <a:noFill/>
          <a:ln/>
        </p:spPr>
        <p:txBody>
          <a:bodyPr wrap="square" lIns="0" tIns="0" rIns="0" bIns="0" rtlCol="0" anchor="t"/>
          <a:lstStyle/>
          <a:p>
            <a:pPr indent="0" marL="0">
              <a:buNone/>
            </a:pPr>
            <a:r>
              <a:rPr lang="en-US" sz="2000" dirty="0">
                <a:solidFill>
                  <a:schemeClr val="bg2"/>
                </a:solidFill>
              </a:rPr>
              <a:t>Four agents in action.</a:t>
            </a:r>
            <a:endParaRPr lang="en-US" sz="2000" dirty="0"/>
          </a:p>
        </p:txBody>
      </p:sp>
      <p:sp>
        <p:nvSpPr>
          <p:cNvPr id="5" name="Text 2"/>
          <p:cNvSpPr txBox="1"/>
          <p:nvPr/>
        </p:nvSpPr>
        <p:spPr>
          <a:xfrm>
            <a:off x="548640" y="5349240"/>
            <a:ext cx="5486400" cy="329184"/>
          </a:xfrm>
          <a:prstGeom prst="rect">
            <a:avLst/>
          </a:prstGeom>
          <a:noFill/>
          <a:ln/>
        </p:spPr>
        <p:txBody>
          <a:bodyPr wrap="square" lIns="0" tIns="0" rIns="0" bIns="0" rtlCol="0" anchor="t"/>
          <a:lstStyle/>
          <a:p>
            <a:pPr indent="0" marL="0">
              <a:buNone/>
            </a:pPr>
            <a:r>
              <a:rPr lang="en-US" sz="1800" b="1" dirty="0">
                <a:solidFill>
                  <a:schemeClr val="bg1"/>
                </a:solidFill>
              </a:rPr>
              <a:t>Lim Chee Kin</a:t>
            </a:r>
            <a:endParaRPr lang="en-US" sz="1800" dirty="0"/>
          </a:p>
        </p:txBody>
      </p:sp>
      <p:sp>
        <p:nvSpPr>
          <p:cNvPr id="6" name="Text 3"/>
          <p:cNvSpPr txBox="1"/>
          <p:nvPr/>
        </p:nvSpPr>
        <p:spPr>
          <a:xfrm>
            <a:off x="548640" y="5715000"/>
            <a:ext cx="548640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AI SOLUTIONS ARCHITECT · KIN.RAG.WTF</a:t>
            </a:r>
            <a:endParaRPr lang="en-US" sz="1200" dirty="0"/>
          </a:p>
        </p:txBody>
      </p:sp>
      <p:sp>
        <p:nvSpPr>
          <p:cNvPr id="7" name="agent console">
            <a:extLst>
              <a:ext uri="{C183D7F6-B498-43B3-948B-1728B52AA6E4}">
                <adec:decorative xmlns:adec="http://schemas.microsoft.com/office/drawing/2017/decorative" val="1"/>
              </a:ext>
            </a:extLst>
          </p:cNvPr>
          <p:cNvSpPr/>
          <p:nvPr/>
        </p:nvSpPr>
        <p:spPr>
          <a:xfrm>
            <a:off x="7726680" y="1417320"/>
            <a:ext cx="3916375" cy="4160520"/>
          </a:xfrm>
          <a:prstGeom prst="roundRect">
            <a:avLst>
              <a:gd name="adj" fmla="val 2802"/>
            </a:avLst>
          </a:prstGeom>
          <a:solidFill>
            <a:srgbClr val="09090B"/>
          </a:solidFill>
          <a:ln w="9525">
            <a:solidFill>
              <a:schemeClr val="accent5"/>
            </a:solidFill>
            <a:prstDash val="solid"/>
          </a:ln>
          <a:effectLst>
            <a:outerShdw sx="100000" sy="100000" kx="0" ky="0" algn="bl" rotWithShape="0" blurRad="228600" dist="50800" dir="5400000">
              <a:srgbClr val="00D992">
                <a:alpha val="35000"/>
              </a:srgbClr>
            </a:outerShdw>
          </a:effectLst>
        </p:spPr>
      </p:sp>
      <p:sp>
        <p:nvSpPr>
          <p:cNvPr id="8" name="Shape 5">
            <a:extLst>
              <a:ext uri="{C183D7F6-B498-43B3-948B-1728B52AA6E4}">
                <adec:decorative xmlns:adec="http://schemas.microsoft.com/office/drawing/2017/decorative" val="1"/>
              </a:ext>
            </a:extLst>
          </p:cNvPr>
          <p:cNvSpPr/>
          <p:nvPr/>
        </p:nvSpPr>
        <p:spPr>
          <a:xfrm>
            <a:off x="7955280" y="1600200"/>
            <a:ext cx="100584" cy="100584"/>
          </a:xfrm>
          <a:prstGeom prst="ellipse">
            <a:avLst/>
          </a:prstGeom>
          <a:solidFill>
            <a:srgbClr val="26262A"/>
          </a:solidFill>
          <a:ln w="6350">
            <a:solidFill>
              <a:srgbClr val="26262A"/>
            </a:solidFill>
            <a:prstDash val="solid"/>
          </a:ln>
        </p:spPr>
      </p:sp>
      <p:sp>
        <p:nvSpPr>
          <p:cNvPr id="9" name="Shape 6">
            <a:extLst>
              <a:ext uri="{C183D7F6-B498-43B3-948B-1728B52AA6E4}">
                <adec:decorative xmlns:adec="http://schemas.microsoft.com/office/drawing/2017/decorative" val="1"/>
              </a:ext>
            </a:extLst>
          </p:cNvPr>
          <p:cNvSpPr/>
          <p:nvPr/>
        </p:nvSpPr>
        <p:spPr>
          <a:xfrm>
            <a:off x="8138160" y="1600200"/>
            <a:ext cx="100584" cy="100584"/>
          </a:xfrm>
          <a:prstGeom prst="ellipse">
            <a:avLst/>
          </a:prstGeom>
          <a:solidFill>
            <a:srgbClr val="26262A"/>
          </a:solidFill>
          <a:ln w="6350">
            <a:solidFill>
              <a:srgbClr val="26262A"/>
            </a:solidFill>
            <a:prstDash val="solid"/>
          </a:ln>
        </p:spPr>
      </p:sp>
      <p:sp>
        <p:nvSpPr>
          <p:cNvPr id="10" name="Shape 7">
            <a:extLst>
              <a:ext uri="{C183D7F6-B498-43B3-948B-1728B52AA6E4}">
                <adec:decorative xmlns:adec="http://schemas.microsoft.com/office/drawing/2017/decorative" val="1"/>
              </a:ext>
            </a:extLst>
          </p:cNvPr>
          <p:cNvSpPr/>
          <p:nvPr/>
        </p:nvSpPr>
        <p:spPr>
          <a:xfrm>
            <a:off x="8321040" y="1600200"/>
            <a:ext cx="100584" cy="100584"/>
          </a:xfrm>
          <a:prstGeom prst="ellipse">
            <a:avLst/>
          </a:prstGeom>
          <a:solidFill>
            <a:srgbClr val="26262A"/>
          </a:solidFill>
          <a:ln w="6350">
            <a:solidFill>
              <a:srgbClr val="26262A"/>
            </a:solidFill>
            <a:prstDash val="solid"/>
          </a:ln>
        </p:spPr>
      </p:sp>
      <p:sp>
        <p:nvSpPr>
          <p:cNvPr id="11" name="Text 8"/>
          <p:cNvSpPr txBox="1"/>
          <p:nvPr/>
        </p:nvSpPr>
        <p:spPr>
          <a:xfrm>
            <a:off x="8595360" y="1527048"/>
            <a:ext cx="2819095"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sales on whatsapp</a:t>
            </a:r>
            <a:endParaRPr lang="en-US" sz="1200" dirty="0"/>
          </a:p>
        </p:txBody>
      </p:sp>
      <p:sp>
        <p:nvSpPr>
          <p:cNvPr id="12" name="Shape 9">
            <a:extLst>
              <a:ext uri="{C183D7F6-B498-43B3-948B-1728B52AA6E4}">
                <adec:decorative xmlns:adec="http://schemas.microsoft.com/office/drawing/2017/decorative" val="1"/>
              </a:ext>
            </a:extLst>
          </p:cNvPr>
          <p:cNvSpPr/>
          <p:nvPr/>
        </p:nvSpPr>
        <p:spPr>
          <a:xfrm>
            <a:off x="7726680" y="1856232"/>
            <a:ext cx="3916375" cy="0"/>
          </a:xfrm>
          <a:prstGeom prst="line">
            <a:avLst/>
          </a:prstGeom>
          <a:noFill/>
          <a:ln w="9525">
            <a:solidFill>
              <a:srgbClr val="1C1C20"/>
            </a:solidFill>
            <a:prstDash val="solid"/>
          </a:ln>
        </p:spPr>
      </p:sp>
      <p:pic>
        <p:nvPicPr>
          <p:cNvPr id="13" name="Image 1" descr="request">    </p:cNvPr>
          <p:cNvPicPr>
            <a:picLocks noChangeAspect="1"/>
          </p:cNvPicPr>
          <p:nvPr/>
        </p:nvPicPr>
        <p:blipFill>
          <a:blip r:embed="rId2"/>
          <a:stretch>
            <a:fillRect/>
          </a:stretch>
        </p:blipFill>
        <p:spPr>
          <a:xfrm>
            <a:off x="8001000" y="2103120"/>
            <a:ext cx="219456" cy="219456"/>
          </a:xfrm>
          <a:prstGeom prst="rect">
            <a:avLst/>
          </a:prstGeom>
        </p:spPr>
      </p:pic>
      <p:sp>
        <p:nvSpPr>
          <p:cNvPr id="14" name="Text 10"/>
          <p:cNvSpPr txBox="1"/>
          <p:nvPr/>
        </p:nvSpPr>
        <p:spPr>
          <a:xfrm>
            <a:off x="8348472" y="2057400"/>
            <a:ext cx="3093415" cy="310896"/>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“AC for a 250 sqft office?”</a:t>
            </a:r>
            <a:endParaRPr lang="en-US" sz="1200" dirty="0"/>
          </a:p>
        </p:txBody>
      </p:sp>
      <p:pic>
        <p:nvPicPr>
          <p:cNvPr id="15" name="Image 2" descr="done">    </p:cNvPr>
          <p:cNvPicPr>
            <a:picLocks noChangeAspect="1"/>
          </p:cNvPicPr>
          <p:nvPr/>
        </p:nvPicPr>
        <p:blipFill>
          <a:blip r:embed="rId3"/>
          <a:stretch>
            <a:fillRect/>
          </a:stretch>
        </p:blipFill>
        <p:spPr>
          <a:xfrm>
            <a:off x="8001000" y="2578608"/>
            <a:ext cx="219456" cy="219456"/>
          </a:xfrm>
          <a:prstGeom prst="rect">
            <a:avLst/>
          </a:prstGeom>
        </p:spPr>
      </p:pic>
      <p:sp>
        <p:nvSpPr>
          <p:cNvPr id="16" name="Text 11"/>
          <p:cNvSpPr txBox="1"/>
          <p:nvPr/>
        </p:nvSpPr>
        <p:spPr>
          <a:xfrm>
            <a:off x="8348472" y="2532888"/>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understood · office, 250 sqft</a:t>
            </a:r>
            <a:endParaRPr lang="en-US" sz="1200" dirty="0"/>
          </a:p>
        </p:txBody>
      </p:sp>
      <p:pic>
        <p:nvPicPr>
          <p:cNvPr id="17" name="Image 3" descr="done">    </p:cNvPr>
          <p:cNvPicPr>
            <a:picLocks noChangeAspect="1"/>
          </p:cNvPicPr>
          <p:nvPr/>
        </p:nvPicPr>
        <p:blipFill>
          <a:blip r:embed="rId4"/>
          <a:stretch>
            <a:fillRect/>
          </a:stretch>
        </p:blipFill>
        <p:spPr>
          <a:xfrm>
            <a:off x="8001000" y="3054096"/>
            <a:ext cx="219456" cy="219456"/>
          </a:xfrm>
          <a:prstGeom prst="rect">
            <a:avLst/>
          </a:prstGeom>
        </p:spPr>
      </p:pic>
      <p:sp>
        <p:nvSpPr>
          <p:cNvPr id="18" name="Text 12"/>
          <p:cNvSpPr txBox="1"/>
          <p:nvPr/>
        </p:nvSpPr>
        <p:spPr>
          <a:xfrm>
            <a:off x="8348472" y="3008376"/>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recommended · 2.5 HP inverter</a:t>
            </a:r>
            <a:endParaRPr lang="en-US" sz="1200" dirty="0"/>
          </a:p>
        </p:txBody>
      </p:sp>
      <p:pic>
        <p:nvPicPr>
          <p:cNvPr id="19" name="Image 4" descr="failed">    </p:cNvPr>
          <p:cNvPicPr>
            <a:picLocks noChangeAspect="1"/>
          </p:cNvPicPr>
          <p:nvPr/>
        </p:nvPicPr>
        <p:blipFill>
          <a:blip r:embed="rId5"/>
          <a:stretch>
            <a:fillRect/>
          </a:stretch>
        </p:blipFill>
        <p:spPr>
          <a:xfrm>
            <a:off x="8001000" y="3529584"/>
            <a:ext cx="219456" cy="219456"/>
          </a:xfrm>
          <a:prstGeom prst="rect">
            <a:avLst/>
          </a:prstGeom>
        </p:spPr>
      </p:pic>
      <p:sp>
        <p:nvSpPr>
          <p:cNvPr id="20" name="Text 13"/>
          <p:cNvSpPr txBox="1"/>
          <p:nvPr/>
        </p:nvSpPr>
        <p:spPr>
          <a:xfrm>
            <a:off x="8348472" y="3483864"/>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stock check · out of stock</a:t>
            </a:r>
            <a:endParaRPr lang="en-US" sz="1200" dirty="0"/>
          </a:p>
        </p:txBody>
      </p:sp>
      <p:pic>
        <p:nvPicPr>
          <p:cNvPr id="21" name="Image 5" descr="retried">    </p:cNvPr>
          <p:cNvPicPr>
            <a:picLocks noChangeAspect="1"/>
          </p:cNvPicPr>
          <p:nvPr/>
        </p:nvPicPr>
        <p:blipFill>
          <a:blip r:embed="rId6"/>
          <a:stretch>
            <a:fillRect/>
          </a:stretch>
        </p:blipFill>
        <p:spPr>
          <a:xfrm>
            <a:off x="8001000" y="4005072"/>
            <a:ext cx="219456" cy="219456"/>
          </a:xfrm>
          <a:prstGeom prst="rect">
            <a:avLst/>
          </a:prstGeom>
        </p:spPr>
      </p:pic>
      <p:sp>
        <p:nvSpPr>
          <p:cNvPr id="22" name="Text 14"/>
          <p:cNvSpPr txBox="1"/>
          <p:nvPr/>
        </p:nvSpPr>
        <p:spPr>
          <a:xfrm>
            <a:off x="8348472" y="3959352"/>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next-best match · in stock</a:t>
            </a:r>
            <a:endParaRPr lang="en-US" sz="1200" dirty="0"/>
          </a:p>
        </p:txBody>
      </p:sp>
      <p:pic>
        <p:nvPicPr>
          <p:cNvPr id="23" name="Image 6" descr="done">    </p:cNvPr>
          <p:cNvPicPr>
            <a:picLocks noChangeAspect="1"/>
          </p:cNvPicPr>
          <p:nvPr/>
        </p:nvPicPr>
        <p:blipFill>
          <a:blip r:embed="rId7"/>
          <a:stretch>
            <a:fillRect/>
          </a:stretch>
        </p:blipFill>
        <p:spPr>
          <a:xfrm>
            <a:off x="8001000" y="4480560"/>
            <a:ext cx="219456" cy="219456"/>
          </a:xfrm>
          <a:prstGeom prst="rect">
            <a:avLst/>
          </a:prstGeom>
        </p:spPr>
      </p:pic>
      <p:sp>
        <p:nvSpPr>
          <p:cNvPr id="24" name="Text 15"/>
          <p:cNvSpPr txBox="1"/>
          <p:nvPr/>
        </p:nvSpPr>
        <p:spPr>
          <a:xfrm>
            <a:off x="8348472" y="4434840"/>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install booked · 16 June</a:t>
            </a:r>
            <a:endParaRPr lang="en-US" sz="1200" dirty="0"/>
          </a:p>
        </p:txBody>
      </p:sp>
      <p:pic>
        <p:nvPicPr>
          <p:cNvPr id="25" name="Image 7" descr="done">    </p:cNvPr>
          <p:cNvPicPr>
            <a:picLocks noChangeAspect="1"/>
          </p:cNvPicPr>
          <p:nvPr/>
        </p:nvPicPr>
        <p:blipFill>
          <a:blip r:embed="rId8"/>
          <a:stretch>
            <a:fillRect/>
          </a:stretch>
        </p:blipFill>
        <p:spPr>
          <a:xfrm>
            <a:off x="8001000" y="4956048"/>
            <a:ext cx="219456" cy="219456"/>
          </a:xfrm>
          <a:prstGeom prst="rect">
            <a:avLst/>
          </a:prstGeom>
        </p:spPr>
      </p:pic>
      <p:sp>
        <p:nvSpPr>
          <p:cNvPr id="26" name="Text 16"/>
          <p:cNvSpPr txBox="1"/>
          <p:nvPr/>
        </p:nvSpPr>
        <p:spPr>
          <a:xfrm>
            <a:off x="8348472" y="4910328"/>
            <a:ext cx="3093415" cy="310896"/>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quote sent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Four agents, one idea</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OVERVIEW</a:t>
            </a:r>
            <a:endParaRPr lang="en-US" sz="1000" dirty="0"/>
          </a:p>
        </p:txBody>
      </p:sp>
      <p:sp>
        <p:nvSpPr>
          <p:cNvPr id="4" name="Claim Pilot card">
            <a:extLst>
              <a:ext uri="{C183D7F6-B498-43B3-948B-1728B52AA6E4}">
                <adec:decorative xmlns:adec="http://schemas.microsoft.com/office/drawing/2017/decorative" val="1"/>
              </a:ext>
            </a:extLst>
          </p:cNvPr>
          <p:cNvSpPr/>
          <p:nvPr/>
        </p:nvSpPr>
        <p:spPr>
          <a:xfrm>
            <a:off x="548640" y="1920240"/>
            <a:ext cx="2567864" cy="2834640"/>
          </a:xfrm>
          <a:prstGeom prst="roundRect">
            <a:avLst>
              <a:gd name="adj" fmla="val 5697"/>
            </a:avLst>
          </a:prstGeom>
          <a:solidFill>
            <a:schemeClr val="tx2"/>
          </a:solidFill>
          <a:ln w="9525">
            <a:solidFill>
              <a:schemeClr val="accent2"/>
            </a:solidFill>
            <a:prstDash val="solid"/>
          </a:ln>
        </p:spPr>
      </p:sp>
      <p:sp>
        <p:nvSpPr>
          <p:cNvPr id="5" name="Text 3"/>
          <p:cNvSpPr txBox="1"/>
          <p:nvPr/>
        </p:nvSpPr>
        <p:spPr>
          <a:xfrm>
            <a:off x="822960" y="219456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01</a:t>
            </a:r>
            <a:endParaRPr lang="en-US" sz="2000" dirty="0"/>
          </a:p>
        </p:txBody>
      </p:sp>
      <p:sp>
        <p:nvSpPr>
          <p:cNvPr id="6" name="icon circle">
            <a:extLst>
              <a:ext uri="{C183D7F6-B498-43B3-948B-1728B52AA6E4}">
                <adec:decorative xmlns:adec="http://schemas.microsoft.com/office/drawing/2017/decorative" val="1"/>
              </a:ext>
            </a:extLst>
          </p:cNvPr>
          <p:cNvSpPr/>
          <p:nvPr/>
        </p:nvSpPr>
        <p:spPr>
          <a:xfrm>
            <a:off x="2275256" y="2148840"/>
            <a:ext cx="566928" cy="566928"/>
          </a:xfrm>
          <a:prstGeom prst="ellipse">
            <a:avLst/>
          </a:prstGeom>
          <a:solidFill>
            <a:srgbClr val="0F2A20"/>
          </a:solidFill>
          <a:ln w="12700">
            <a:solidFill>
              <a:srgbClr val="1D4D3A"/>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416988" y="2290572"/>
            <a:ext cx="283464" cy="283464"/>
          </a:xfrm>
          <a:prstGeom prst="rect">
            <a:avLst/>
          </a:prstGeom>
        </p:spPr>
      </p:pic>
      <p:sp>
        <p:nvSpPr>
          <p:cNvPr id="8" name="Text 5"/>
          <p:cNvSpPr txBox="1"/>
          <p:nvPr/>
        </p:nvSpPr>
        <p:spPr>
          <a:xfrm>
            <a:off x="822960" y="2971800"/>
            <a:ext cx="2202104" cy="384048"/>
          </a:xfrm>
          <a:prstGeom prst="rect">
            <a:avLst/>
          </a:prstGeom>
          <a:noFill/>
          <a:ln/>
        </p:spPr>
        <p:txBody>
          <a:bodyPr wrap="square" lIns="0" tIns="0" rIns="0" bIns="0" rtlCol="0" anchor="t"/>
          <a:lstStyle/>
          <a:p>
            <a:pPr indent="0" marL="0">
              <a:buNone/>
            </a:pPr>
            <a:r>
              <a:rPr lang="en-US" sz="2100" b="1" dirty="0">
                <a:solidFill>
                  <a:schemeClr val="bg1"/>
                </a:solidFill>
              </a:rPr>
              <a:t>Claim Pilot</a:t>
            </a:r>
            <a:endParaRPr lang="en-US" sz="2100" dirty="0"/>
          </a:p>
        </p:txBody>
      </p:sp>
      <p:sp>
        <p:nvSpPr>
          <p:cNvPr id="9" name="Text 6"/>
          <p:cNvSpPr txBox="1"/>
          <p:nvPr/>
        </p:nvSpPr>
        <p:spPr>
          <a:xfrm>
            <a:off x="822960" y="3401568"/>
            <a:ext cx="2019224" cy="329184"/>
          </a:xfrm>
          <a:prstGeom prst="rect">
            <a:avLst/>
          </a:prstGeom>
          <a:noFill/>
          <a:ln/>
        </p:spPr>
        <p:txBody>
          <a:bodyPr wrap="square" lIns="0" tIns="0" rIns="0" bIns="0" rtlCol="0" anchor="t"/>
          <a:lstStyle/>
          <a:p>
            <a:pPr indent="0" marL="0">
              <a:buNone/>
            </a:pPr>
            <a:r>
              <a:rPr lang="en-US" sz="1600" dirty="0">
                <a:solidFill>
                  <a:schemeClr val="bg2"/>
                </a:solidFill>
              </a:rPr>
              <a:t>Expense claims</a:t>
            </a:r>
            <a:endParaRPr lang="en-US" sz="1600" dirty="0"/>
          </a:p>
        </p:txBody>
      </p:sp>
      <p:sp>
        <p:nvSpPr>
          <p:cNvPr id="10" name="Shape 7">
            <a:extLst>
              <a:ext uri="{C183D7F6-B498-43B3-948B-1728B52AA6E4}">
                <adec:decorative xmlns:adec="http://schemas.microsoft.com/office/drawing/2017/decorative" val="1"/>
              </a:ext>
            </a:extLst>
          </p:cNvPr>
          <p:cNvSpPr/>
          <p:nvPr/>
        </p:nvSpPr>
        <p:spPr>
          <a:xfrm>
            <a:off x="822960" y="4114800"/>
            <a:ext cx="2019224" cy="0"/>
          </a:xfrm>
          <a:prstGeom prst="line">
            <a:avLst/>
          </a:prstGeom>
          <a:noFill/>
          <a:ln w="9525">
            <a:solidFill>
              <a:srgbClr val="1C1C20"/>
            </a:solidFill>
            <a:prstDash val="solid"/>
          </a:ln>
        </p:spPr>
      </p:sp>
      <p:sp>
        <p:nvSpPr>
          <p:cNvPr id="11" name="Text 8"/>
          <p:cNvSpPr txBox="1"/>
          <p:nvPr/>
        </p:nvSpPr>
        <p:spPr>
          <a:xfrm>
            <a:off x="822960" y="4251960"/>
            <a:ext cx="2019224"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TEAMS</a:t>
            </a:r>
            <a:endParaRPr lang="en-US" sz="1200" dirty="0"/>
          </a:p>
        </p:txBody>
      </p:sp>
      <p:sp>
        <p:nvSpPr>
          <p:cNvPr id="12" name="Trade Pilot card">
            <a:extLst>
              <a:ext uri="{C183D7F6-B498-43B3-948B-1728B52AA6E4}">
                <adec:decorative xmlns:adec="http://schemas.microsoft.com/office/drawing/2017/decorative" val="1"/>
              </a:ext>
            </a:extLst>
          </p:cNvPr>
          <p:cNvSpPr/>
          <p:nvPr/>
        </p:nvSpPr>
        <p:spPr>
          <a:xfrm>
            <a:off x="3390824" y="1920240"/>
            <a:ext cx="2567864" cy="2834640"/>
          </a:xfrm>
          <a:prstGeom prst="roundRect">
            <a:avLst>
              <a:gd name="adj" fmla="val 5697"/>
            </a:avLst>
          </a:prstGeom>
          <a:solidFill>
            <a:schemeClr val="tx2"/>
          </a:solidFill>
          <a:ln w="9525">
            <a:solidFill>
              <a:schemeClr val="accent2"/>
            </a:solidFill>
            <a:prstDash val="solid"/>
          </a:ln>
        </p:spPr>
      </p:sp>
      <p:sp>
        <p:nvSpPr>
          <p:cNvPr id="13" name="Text 10"/>
          <p:cNvSpPr txBox="1"/>
          <p:nvPr/>
        </p:nvSpPr>
        <p:spPr>
          <a:xfrm>
            <a:off x="3665144" y="219456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02</a:t>
            </a:r>
            <a:endParaRPr lang="en-US" sz="2000" dirty="0"/>
          </a:p>
        </p:txBody>
      </p:sp>
      <p:sp>
        <p:nvSpPr>
          <p:cNvPr id="14" name="icon circle">
            <a:extLst>
              <a:ext uri="{C183D7F6-B498-43B3-948B-1728B52AA6E4}">
                <adec:decorative xmlns:adec="http://schemas.microsoft.com/office/drawing/2017/decorative" val="1"/>
              </a:ext>
            </a:extLst>
          </p:cNvPr>
          <p:cNvSpPr/>
          <p:nvPr/>
        </p:nvSpPr>
        <p:spPr>
          <a:xfrm>
            <a:off x="5117440" y="2148840"/>
            <a:ext cx="566928" cy="566928"/>
          </a:xfrm>
          <a:prstGeom prst="ellipse">
            <a:avLst/>
          </a:prstGeom>
          <a:solidFill>
            <a:srgbClr val="0F2A20"/>
          </a:solidFill>
          <a:ln w="12700">
            <a:solidFill>
              <a:srgbClr val="1D4D3A"/>
            </a:solidFill>
            <a:prstDash val="solid"/>
          </a:ln>
        </p:spPr>
      </p:sp>
      <p:pic>
        <p:nvPicPr>
          <p:cNvPr id="15"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259172" y="2290572"/>
            <a:ext cx="283464" cy="283464"/>
          </a:xfrm>
          <a:prstGeom prst="rect">
            <a:avLst/>
          </a:prstGeom>
        </p:spPr>
      </p:pic>
      <p:sp>
        <p:nvSpPr>
          <p:cNvPr id="16" name="Text 12"/>
          <p:cNvSpPr txBox="1"/>
          <p:nvPr/>
        </p:nvSpPr>
        <p:spPr>
          <a:xfrm>
            <a:off x="3665144" y="2971800"/>
            <a:ext cx="2202104" cy="384048"/>
          </a:xfrm>
          <a:prstGeom prst="rect">
            <a:avLst/>
          </a:prstGeom>
          <a:noFill/>
          <a:ln/>
        </p:spPr>
        <p:txBody>
          <a:bodyPr wrap="square" lIns="0" tIns="0" rIns="0" bIns="0" rtlCol="0" anchor="t"/>
          <a:lstStyle/>
          <a:p>
            <a:pPr indent="0" marL="0">
              <a:buNone/>
            </a:pPr>
            <a:r>
              <a:rPr lang="en-US" sz="2100" b="1" dirty="0">
                <a:solidFill>
                  <a:schemeClr val="bg1"/>
                </a:solidFill>
              </a:rPr>
              <a:t>Trade Pilot</a:t>
            </a:r>
            <a:endParaRPr lang="en-US" sz="2100" dirty="0"/>
          </a:p>
        </p:txBody>
      </p:sp>
      <p:sp>
        <p:nvSpPr>
          <p:cNvPr id="17" name="Text 13"/>
          <p:cNvSpPr txBox="1"/>
          <p:nvPr/>
        </p:nvSpPr>
        <p:spPr>
          <a:xfrm>
            <a:off x="3665144" y="3401568"/>
            <a:ext cx="2019224" cy="329184"/>
          </a:xfrm>
          <a:prstGeom prst="rect">
            <a:avLst/>
          </a:prstGeom>
          <a:noFill/>
          <a:ln/>
        </p:spPr>
        <p:txBody>
          <a:bodyPr wrap="square" lIns="0" tIns="0" rIns="0" bIns="0" rtlCol="0" anchor="t"/>
          <a:lstStyle/>
          <a:p>
            <a:pPr indent="0" marL="0">
              <a:buNone/>
            </a:pPr>
            <a:r>
              <a:rPr lang="en-US" sz="1600" dirty="0">
                <a:solidFill>
                  <a:schemeClr val="bg2"/>
                </a:solidFill>
              </a:rPr>
              <a:t>Orders &amp; payments</a:t>
            </a:r>
            <a:endParaRPr lang="en-US" sz="1600" dirty="0"/>
          </a:p>
        </p:txBody>
      </p:sp>
      <p:sp>
        <p:nvSpPr>
          <p:cNvPr id="18" name="Shape 14">
            <a:extLst>
              <a:ext uri="{C183D7F6-B498-43B3-948B-1728B52AA6E4}">
                <adec:decorative xmlns:adec="http://schemas.microsoft.com/office/drawing/2017/decorative" val="1"/>
              </a:ext>
            </a:extLst>
          </p:cNvPr>
          <p:cNvSpPr/>
          <p:nvPr/>
        </p:nvSpPr>
        <p:spPr>
          <a:xfrm>
            <a:off x="3665144" y="4114800"/>
            <a:ext cx="2019224" cy="0"/>
          </a:xfrm>
          <a:prstGeom prst="line">
            <a:avLst/>
          </a:prstGeom>
          <a:noFill/>
          <a:ln w="9525">
            <a:solidFill>
              <a:srgbClr val="1C1C20"/>
            </a:solidFill>
            <a:prstDash val="solid"/>
          </a:ln>
        </p:spPr>
      </p:sp>
      <p:sp>
        <p:nvSpPr>
          <p:cNvPr id="19" name="Text 15"/>
          <p:cNvSpPr txBox="1"/>
          <p:nvPr/>
        </p:nvSpPr>
        <p:spPr>
          <a:xfrm>
            <a:off x="3665144" y="4251960"/>
            <a:ext cx="2019224"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WHATSAPP</a:t>
            </a:r>
            <a:endParaRPr lang="en-US" sz="1200" dirty="0"/>
          </a:p>
        </p:txBody>
      </p:sp>
      <p:sp>
        <p:nvSpPr>
          <p:cNvPr id="20" name="Agentic AI Layer card">
            <a:extLst>
              <a:ext uri="{C183D7F6-B498-43B3-948B-1728B52AA6E4}">
                <adec:decorative xmlns:adec="http://schemas.microsoft.com/office/drawing/2017/decorative" val="1"/>
              </a:ext>
            </a:extLst>
          </p:cNvPr>
          <p:cNvSpPr/>
          <p:nvPr/>
        </p:nvSpPr>
        <p:spPr>
          <a:xfrm>
            <a:off x="6233008" y="1920240"/>
            <a:ext cx="2567864" cy="2834640"/>
          </a:xfrm>
          <a:prstGeom prst="roundRect">
            <a:avLst>
              <a:gd name="adj" fmla="val 5697"/>
            </a:avLst>
          </a:prstGeom>
          <a:solidFill>
            <a:schemeClr val="tx2"/>
          </a:solidFill>
          <a:ln w="9525">
            <a:solidFill>
              <a:schemeClr val="accent2"/>
            </a:solidFill>
            <a:prstDash val="solid"/>
          </a:ln>
        </p:spPr>
      </p:sp>
      <p:sp>
        <p:nvSpPr>
          <p:cNvPr id="21" name="Text 17"/>
          <p:cNvSpPr txBox="1"/>
          <p:nvPr/>
        </p:nvSpPr>
        <p:spPr>
          <a:xfrm>
            <a:off x="6507328" y="219456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03</a:t>
            </a:r>
            <a:endParaRPr lang="en-US" sz="2000" dirty="0"/>
          </a:p>
        </p:txBody>
      </p:sp>
      <p:sp>
        <p:nvSpPr>
          <p:cNvPr id="22" name="icon circle">
            <a:extLst>
              <a:ext uri="{C183D7F6-B498-43B3-948B-1728B52AA6E4}">
                <adec:decorative xmlns:adec="http://schemas.microsoft.com/office/drawing/2017/decorative" val="1"/>
              </a:ext>
            </a:extLst>
          </p:cNvPr>
          <p:cNvSpPr/>
          <p:nvPr/>
        </p:nvSpPr>
        <p:spPr>
          <a:xfrm>
            <a:off x="7959623" y="2148840"/>
            <a:ext cx="566928" cy="566928"/>
          </a:xfrm>
          <a:prstGeom prst="ellipse">
            <a:avLst/>
          </a:prstGeom>
          <a:solidFill>
            <a:srgbClr val="0F2A20"/>
          </a:solidFill>
          <a:ln w="12700">
            <a:solidFill>
              <a:srgbClr val="1D4D3A"/>
            </a:solidFill>
            <a:prstDash val="solid"/>
          </a:ln>
        </p:spPr>
      </p:sp>
      <p:pic>
        <p:nvPicPr>
          <p:cNvPr id="23"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101355" y="2290572"/>
            <a:ext cx="283464" cy="283464"/>
          </a:xfrm>
          <a:prstGeom prst="rect">
            <a:avLst/>
          </a:prstGeom>
        </p:spPr>
      </p:pic>
      <p:sp>
        <p:nvSpPr>
          <p:cNvPr id="24" name="Text 19"/>
          <p:cNvSpPr txBox="1"/>
          <p:nvPr/>
        </p:nvSpPr>
        <p:spPr>
          <a:xfrm>
            <a:off x="6507328" y="2971800"/>
            <a:ext cx="2202104" cy="384048"/>
          </a:xfrm>
          <a:prstGeom prst="rect">
            <a:avLst/>
          </a:prstGeom>
          <a:noFill/>
          <a:ln/>
        </p:spPr>
        <p:txBody>
          <a:bodyPr wrap="square" lIns="0" tIns="0" rIns="0" bIns="0" rtlCol="0" anchor="t"/>
          <a:lstStyle/>
          <a:p>
            <a:pPr indent="0" marL="0">
              <a:buNone/>
            </a:pPr>
            <a:r>
              <a:rPr lang="en-US" sz="2100" b="1" dirty="0">
                <a:solidFill>
                  <a:schemeClr val="bg1"/>
                </a:solidFill>
              </a:rPr>
              <a:t>Agentic AI Layer</a:t>
            </a:r>
            <a:endParaRPr lang="en-US" sz="2100" dirty="0"/>
          </a:p>
        </p:txBody>
      </p:sp>
      <p:sp>
        <p:nvSpPr>
          <p:cNvPr id="25" name="Text 20"/>
          <p:cNvSpPr txBox="1"/>
          <p:nvPr/>
        </p:nvSpPr>
        <p:spPr>
          <a:xfrm>
            <a:off x="6507328" y="3401568"/>
            <a:ext cx="2019224" cy="329184"/>
          </a:xfrm>
          <a:prstGeom prst="rect">
            <a:avLst/>
          </a:prstGeom>
          <a:noFill/>
          <a:ln/>
        </p:spPr>
        <p:txBody>
          <a:bodyPr wrap="square" lIns="0" tIns="0" rIns="0" bIns="0" rtlCol="0" anchor="t"/>
          <a:lstStyle/>
          <a:p>
            <a:pPr indent="0" marL="0">
              <a:buNone/>
            </a:pPr>
            <a:r>
              <a:rPr lang="en-US" sz="1600" dirty="0">
                <a:solidFill>
                  <a:schemeClr val="bg2"/>
                </a:solidFill>
              </a:rPr>
              <a:t>Sales</a:t>
            </a:r>
            <a:endParaRPr lang="en-US" sz="1600" dirty="0"/>
          </a:p>
        </p:txBody>
      </p:sp>
      <p:sp>
        <p:nvSpPr>
          <p:cNvPr id="26" name="Shape 21">
            <a:extLst>
              <a:ext uri="{C183D7F6-B498-43B3-948B-1728B52AA6E4}">
                <adec:decorative xmlns:adec="http://schemas.microsoft.com/office/drawing/2017/decorative" val="1"/>
              </a:ext>
            </a:extLst>
          </p:cNvPr>
          <p:cNvSpPr/>
          <p:nvPr/>
        </p:nvSpPr>
        <p:spPr>
          <a:xfrm>
            <a:off x="6507328" y="4114800"/>
            <a:ext cx="2019224" cy="0"/>
          </a:xfrm>
          <a:prstGeom prst="line">
            <a:avLst/>
          </a:prstGeom>
          <a:noFill/>
          <a:ln w="9525">
            <a:solidFill>
              <a:srgbClr val="1C1C20"/>
            </a:solidFill>
            <a:prstDash val="solid"/>
          </a:ln>
        </p:spPr>
      </p:sp>
      <p:sp>
        <p:nvSpPr>
          <p:cNvPr id="27" name="Text 22"/>
          <p:cNvSpPr txBox="1"/>
          <p:nvPr/>
        </p:nvSpPr>
        <p:spPr>
          <a:xfrm>
            <a:off x="6507328" y="4251960"/>
            <a:ext cx="2019224"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WHATSAPP</a:t>
            </a:r>
            <a:endParaRPr lang="en-US" sz="1200" dirty="0"/>
          </a:p>
        </p:txBody>
      </p:sp>
      <p:sp>
        <p:nvSpPr>
          <p:cNvPr id="28" name="WareBot card">
            <a:extLst>
              <a:ext uri="{C183D7F6-B498-43B3-948B-1728B52AA6E4}">
                <adec:decorative xmlns:adec="http://schemas.microsoft.com/office/drawing/2017/decorative" val="1"/>
              </a:ext>
            </a:extLst>
          </p:cNvPr>
          <p:cNvSpPr/>
          <p:nvPr/>
        </p:nvSpPr>
        <p:spPr>
          <a:xfrm>
            <a:off x="9075191" y="1920240"/>
            <a:ext cx="2567864" cy="2834640"/>
          </a:xfrm>
          <a:prstGeom prst="roundRect">
            <a:avLst>
              <a:gd name="adj" fmla="val 5697"/>
            </a:avLst>
          </a:prstGeom>
          <a:solidFill>
            <a:schemeClr val="tx2"/>
          </a:solidFill>
          <a:ln w="9525">
            <a:solidFill>
              <a:schemeClr val="accent2"/>
            </a:solidFill>
            <a:prstDash val="solid"/>
          </a:ln>
        </p:spPr>
      </p:sp>
      <p:sp>
        <p:nvSpPr>
          <p:cNvPr id="29" name="Text 24"/>
          <p:cNvSpPr txBox="1"/>
          <p:nvPr/>
        </p:nvSpPr>
        <p:spPr>
          <a:xfrm>
            <a:off x="9349511" y="219456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04</a:t>
            </a:r>
            <a:endParaRPr lang="en-US" sz="2000" dirty="0"/>
          </a:p>
        </p:txBody>
      </p:sp>
      <p:sp>
        <p:nvSpPr>
          <p:cNvPr id="30" name="icon circle">
            <a:extLst>
              <a:ext uri="{C183D7F6-B498-43B3-948B-1728B52AA6E4}">
                <adec:decorative xmlns:adec="http://schemas.microsoft.com/office/drawing/2017/decorative" val="1"/>
              </a:ext>
            </a:extLst>
          </p:cNvPr>
          <p:cNvSpPr/>
          <p:nvPr/>
        </p:nvSpPr>
        <p:spPr>
          <a:xfrm>
            <a:off x="10801807" y="2148840"/>
            <a:ext cx="566928" cy="566928"/>
          </a:xfrm>
          <a:prstGeom prst="ellipse">
            <a:avLst/>
          </a:prstGeom>
          <a:solidFill>
            <a:srgbClr val="0F2A20"/>
          </a:solidFill>
          <a:ln w="12700">
            <a:solidFill>
              <a:srgbClr val="1D4D3A"/>
            </a:solidFill>
            <a:prstDash val="solid"/>
          </a:ln>
        </p:spPr>
      </p:sp>
      <p:pic>
        <p:nvPicPr>
          <p:cNvPr id="31"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943539" y="2290572"/>
            <a:ext cx="283464" cy="283464"/>
          </a:xfrm>
          <a:prstGeom prst="rect">
            <a:avLst/>
          </a:prstGeom>
        </p:spPr>
      </p:pic>
      <p:sp>
        <p:nvSpPr>
          <p:cNvPr id="32" name="Text 26"/>
          <p:cNvSpPr txBox="1"/>
          <p:nvPr/>
        </p:nvSpPr>
        <p:spPr>
          <a:xfrm>
            <a:off x="9349511" y="2971800"/>
            <a:ext cx="2202104" cy="384048"/>
          </a:xfrm>
          <a:prstGeom prst="rect">
            <a:avLst/>
          </a:prstGeom>
          <a:noFill/>
          <a:ln/>
        </p:spPr>
        <p:txBody>
          <a:bodyPr wrap="square" lIns="0" tIns="0" rIns="0" bIns="0" rtlCol="0" anchor="t"/>
          <a:lstStyle/>
          <a:p>
            <a:pPr indent="0" marL="0">
              <a:buNone/>
            </a:pPr>
            <a:r>
              <a:rPr lang="en-US" sz="2100" b="1" dirty="0">
                <a:solidFill>
                  <a:schemeClr val="bg1"/>
                </a:solidFill>
              </a:rPr>
              <a:t>WareBot</a:t>
            </a:r>
            <a:endParaRPr lang="en-US" sz="2100" dirty="0"/>
          </a:p>
        </p:txBody>
      </p:sp>
      <p:sp>
        <p:nvSpPr>
          <p:cNvPr id="33" name="Text 27"/>
          <p:cNvSpPr txBox="1"/>
          <p:nvPr/>
        </p:nvSpPr>
        <p:spPr>
          <a:xfrm>
            <a:off x="9349511" y="3401568"/>
            <a:ext cx="2019224" cy="329184"/>
          </a:xfrm>
          <a:prstGeom prst="rect">
            <a:avLst/>
          </a:prstGeom>
          <a:noFill/>
          <a:ln/>
        </p:spPr>
        <p:txBody>
          <a:bodyPr wrap="square" lIns="0" tIns="0" rIns="0" bIns="0" rtlCol="0" anchor="t"/>
          <a:lstStyle/>
          <a:p>
            <a:pPr indent="0" marL="0">
              <a:buNone/>
            </a:pPr>
            <a:r>
              <a:rPr lang="en-US" sz="1600" dirty="0">
                <a:solidFill>
                  <a:schemeClr val="bg2"/>
                </a:solidFill>
              </a:rPr>
              <a:t>Warehouse</a:t>
            </a:r>
            <a:endParaRPr lang="en-US" sz="1600" dirty="0"/>
          </a:p>
        </p:txBody>
      </p:sp>
      <p:sp>
        <p:nvSpPr>
          <p:cNvPr id="34" name="Shape 28">
            <a:extLst>
              <a:ext uri="{C183D7F6-B498-43B3-948B-1728B52AA6E4}">
                <adec:decorative xmlns:adec="http://schemas.microsoft.com/office/drawing/2017/decorative" val="1"/>
              </a:ext>
            </a:extLst>
          </p:cNvPr>
          <p:cNvSpPr/>
          <p:nvPr/>
        </p:nvSpPr>
        <p:spPr>
          <a:xfrm>
            <a:off x="9349511" y="4114800"/>
            <a:ext cx="2019224" cy="0"/>
          </a:xfrm>
          <a:prstGeom prst="line">
            <a:avLst/>
          </a:prstGeom>
          <a:noFill/>
          <a:ln w="9525">
            <a:solidFill>
              <a:srgbClr val="1C1C20"/>
            </a:solidFill>
            <a:prstDash val="solid"/>
          </a:ln>
        </p:spPr>
      </p:sp>
      <p:sp>
        <p:nvSpPr>
          <p:cNvPr id="35" name="Text 29"/>
          <p:cNvSpPr txBox="1"/>
          <p:nvPr/>
        </p:nvSpPr>
        <p:spPr>
          <a:xfrm>
            <a:off x="9349511" y="4251960"/>
            <a:ext cx="2019224"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MOBILE APP</a:t>
            </a:r>
            <a:endParaRPr lang="en-US" sz="1200" dirty="0"/>
          </a:p>
        </p:txBody>
      </p:sp>
      <p:sp>
        <p:nvSpPr>
          <p:cNvPr id="36" name="Text 30"/>
          <p:cNvSpPr txBox="1"/>
          <p:nvPr/>
        </p:nvSpPr>
        <p:spPr>
          <a:xfrm>
            <a:off x="548640" y="5257800"/>
            <a:ext cx="11094415" cy="457200"/>
          </a:xfrm>
          <a:prstGeom prst="rect">
            <a:avLst/>
          </a:prstGeom>
          <a:noFill/>
          <a:ln/>
        </p:spPr>
        <p:txBody>
          <a:bodyPr wrap="square" lIns="0" tIns="0" rIns="0" bIns="0" rtlCol="0" anchor="t"/>
          <a:lstStyle/>
          <a:p>
            <a:pPr indent="0" marL="0">
              <a:buNone/>
            </a:pPr>
            <a:r>
              <a:rPr lang="en-US" sz="2000" dirty="0">
                <a:solidFill>
                  <a:schemeClr val="bg2"/>
                </a:solidFill>
              </a:rPr>
              <a:t>Familiar channel in. AI does the typing. </a:t>
            </a:r>
            <a:pPr indent="0" marL="0">
              <a:buNone/>
            </a:pPr>
            <a:r>
              <a:rPr lang="en-US" sz="2000" b="1" dirty="0">
                <a:solidFill>
                  <a:schemeClr val="accent1"/>
                </a:solidFill>
              </a:rPr>
              <a:t>People decide.</a:t>
            </a:r>
            <a:endParaRPr lang="en-US" sz="2000" dirty="0"/>
          </a:p>
        </p:txBody>
      </p:sp>
      <p:sp>
        <p:nvSpPr>
          <p:cNvPr id="38"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title" hasCustomPrompt="1"/>
          </p:nvPr>
        </p:nvSpPr>
        <p:spPr>
          <a:xfrm>
            <a:off x="548640" y="1188720"/>
            <a:ext cx="6583680" cy="914400"/>
          </a:xfrm>
          <a:prstGeom prst="rect">
            <a:avLst/>
          </a:prstGeom>
          <a:noFill/>
          <a:ln/>
        </p:spPr>
        <p:txBody>
          <a:bodyPr wrap="square" lIns="0" tIns="0" rIns="0" bIns="0" rtlCol="0" anchor="ctr"/>
          <a:lstStyle/>
          <a:p>
            <a:pPr algn="l" indent="0" marL="0">
              <a:buNone/>
            </a:pPr>
            <a:r>
              <a:rPr lang="en-US" sz="5400" b="1" dirty="0">
                <a:solidFill>
                  <a:schemeClr val="bg1"/>
                </a:solidFill>
              </a:rPr>
              <a:t>Claim Pilot</a:t>
            </a:r>
            <a:endParaRPr lang="en-US" sz="5400" dirty="0"/>
          </a:p>
        </p:txBody>
      </p:sp>
      <p:sp>
        <p:nvSpPr>
          <p:cNvPr id="3" name="Text 1"/>
          <p:cNvSpPr/>
          <p:nvPr>
            <p:ph idx="104" type="body" hasCustomPrompt="1"/>
          </p:nvPr>
        </p:nvSpPr>
        <p:spPr>
          <a:xfrm>
            <a:off x="548640" y="2240280"/>
            <a:ext cx="6400800" cy="1188720"/>
          </a:xfrm>
          <a:prstGeom prst="rect">
            <a:avLst/>
          </a:prstGeom>
          <a:noFill/>
          <a:ln/>
        </p:spPr>
        <p:txBody>
          <a:bodyPr wrap="square" lIns="0" tIns="0" rIns="0" bIns="0" rtlCol="0" anchor="t"/>
          <a:lstStyle/>
          <a:p>
            <a:pPr indent="0" marL="0">
              <a:buNone/>
            </a:pPr>
            <a:r>
              <a:rPr lang="en-US" sz="2000" dirty="0">
                <a:solidFill>
                  <a:schemeClr val="bg2"/>
                </a:solidFill>
              </a:rPr>
              <a:t>Receipt photo in. Approved claim out.</a:t>
            </a:r>
            <a:endParaRPr lang="en-US" sz="2000" dirty="0"/>
          </a:p>
        </p:txBody>
      </p:sp>
      <p:sp>
        <p:nvSpPr>
          <p:cNvPr id="4"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CLAIM PILOT</a:t>
            </a:r>
            <a:endParaRPr lang="en-US" sz="1000" dirty="0"/>
          </a:p>
        </p:txBody>
      </p:sp>
      <p:sp>
        <p:nvSpPr>
          <p:cNvPr id="5" name="stat 1 photo">
            <a:extLst>
              <a:ext uri="{C183D7F6-B498-43B3-948B-1728B52AA6E4}">
                <adec:decorative xmlns:adec="http://schemas.microsoft.com/office/drawing/2017/decorative" val="1"/>
              </a:ext>
            </a:extLst>
          </p:cNvPr>
          <p:cNvSpPr/>
          <p:nvPr/>
        </p:nvSpPr>
        <p:spPr>
          <a:xfrm>
            <a:off x="7635240" y="822960"/>
            <a:ext cx="4007815" cy="1298448"/>
          </a:xfrm>
          <a:prstGeom prst="roundRect">
            <a:avLst>
              <a:gd name="adj" fmla="val 11268"/>
            </a:avLst>
          </a:prstGeom>
          <a:solidFill>
            <a:schemeClr val="tx2"/>
          </a:solidFill>
          <a:ln w="9525">
            <a:solidFill>
              <a:schemeClr val="accent2"/>
            </a:solidFill>
            <a:prstDash val="solid"/>
          </a:ln>
        </p:spPr>
      </p:sp>
      <p:sp>
        <p:nvSpPr>
          <p:cNvPr id="6" name="Text 4"/>
          <p:cNvSpPr txBox="1"/>
          <p:nvPr/>
        </p:nvSpPr>
        <p:spPr>
          <a:xfrm>
            <a:off x="7955280" y="1024128"/>
            <a:ext cx="3367735" cy="566928"/>
          </a:xfrm>
          <a:prstGeom prst="rect">
            <a:avLst/>
          </a:prstGeom>
          <a:noFill/>
          <a:ln/>
        </p:spPr>
        <p:txBody>
          <a:bodyPr wrap="square" lIns="0" tIns="0" rIns="0" bIns="0" rtlCol="0" anchor="t"/>
          <a:lstStyle/>
          <a:p>
            <a:pPr indent="0" marL="0">
              <a:buNone/>
            </a:pPr>
            <a:r>
              <a:rPr lang="en-US" sz="3600" b="1" dirty="0">
                <a:solidFill>
                  <a:schemeClr val="accent1"/>
                </a:solidFill>
              </a:rPr>
              <a:t>1 photo</a:t>
            </a:r>
            <a:endParaRPr lang="en-US" sz="3600" dirty="0"/>
          </a:p>
        </p:txBody>
      </p:sp>
      <p:sp>
        <p:nvSpPr>
          <p:cNvPr id="7" name="Text 5"/>
          <p:cNvSpPr txBox="1"/>
          <p:nvPr/>
        </p:nvSpPr>
        <p:spPr>
          <a:xfrm>
            <a:off x="7955280" y="1609344"/>
            <a:ext cx="3367735" cy="365760"/>
          </a:xfrm>
          <a:prstGeom prst="rect">
            <a:avLst/>
          </a:prstGeom>
          <a:noFill/>
          <a:ln/>
        </p:spPr>
        <p:txBody>
          <a:bodyPr wrap="square" lIns="0" tIns="0" rIns="0" bIns="0" rtlCol="0" anchor="t"/>
          <a:lstStyle/>
          <a:p>
            <a:pPr indent="0" marL="0">
              <a:buNone/>
            </a:pPr>
            <a:r>
              <a:rPr lang="en-US" sz="1500" dirty="0">
                <a:solidFill>
                  <a:schemeClr val="bg2"/>
                </a:solidFill>
              </a:rPr>
              <a:t>to start a claim</a:t>
            </a:r>
            <a:endParaRPr lang="en-US" sz="1500" dirty="0"/>
          </a:p>
        </p:txBody>
      </p:sp>
      <p:sp>
        <p:nvSpPr>
          <p:cNvPr id="8" name="stat 2 sign-offs">
            <a:extLst>
              <a:ext uri="{C183D7F6-B498-43B3-948B-1728B52AA6E4}">
                <adec:decorative xmlns:adec="http://schemas.microsoft.com/office/drawing/2017/decorative" val="1"/>
              </a:ext>
            </a:extLst>
          </p:cNvPr>
          <p:cNvSpPr/>
          <p:nvPr/>
        </p:nvSpPr>
        <p:spPr>
          <a:xfrm>
            <a:off x="7635240" y="2395728"/>
            <a:ext cx="4007815" cy="1298448"/>
          </a:xfrm>
          <a:prstGeom prst="roundRect">
            <a:avLst>
              <a:gd name="adj" fmla="val 11268"/>
            </a:avLst>
          </a:prstGeom>
          <a:solidFill>
            <a:schemeClr val="tx2"/>
          </a:solidFill>
          <a:ln w="9525">
            <a:solidFill>
              <a:schemeClr val="accent2"/>
            </a:solidFill>
            <a:prstDash val="solid"/>
          </a:ln>
        </p:spPr>
      </p:sp>
      <p:sp>
        <p:nvSpPr>
          <p:cNvPr id="9" name="Text 7"/>
          <p:cNvSpPr txBox="1"/>
          <p:nvPr/>
        </p:nvSpPr>
        <p:spPr>
          <a:xfrm>
            <a:off x="7955280" y="2596896"/>
            <a:ext cx="3367735" cy="566928"/>
          </a:xfrm>
          <a:prstGeom prst="rect">
            <a:avLst/>
          </a:prstGeom>
          <a:noFill/>
          <a:ln/>
        </p:spPr>
        <p:txBody>
          <a:bodyPr wrap="square" lIns="0" tIns="0" rIns="0" bIns="0" rtlCol="0" anchor="t"/>
          <a:lstStyle/>
          <a:p>
            <a:pPr indent="0" marL="0">
              <a:buNone/>
            </a:pPr>
            <a:r>
              <a:rPr lang="en-US" sz="3600" b="1" dirty="0">
                <a:solidFill>
                  <a:schemeClr val="accent1"/>
                </a:solidFill>
              </a:rPr>
              <a:t>2 sign-offs</a:t>
            </a:r>
            <a:endParaRPr lang="en-US" sz="3600" dirty="0"/>
          </a:p>
        </p:txBody>
      </p:sp>
      <p:sp>
        <p:nvSpPr>
          <p:cNvPr id="10" name="Text 8"/>
          <p:cNvSpPr txBox="1"/>
          <p:nvPr/>
        </p:nvSpPr>
        <p:spPr>
          <a:xfrm>
            <a:off x="7955280" y="3182112"/>
            <a:ext cx="3367735" cy="365760"/>
          </a:xfrm>
          <a:prstGeom prst="rect">
            <a:avLst/>
          </a:prstGeom>
          <a:noFill/>
          <a:ln/>
        </p:spPr>
        <p:txBody>
          <a:bodyPr wrap="square" lIns="0" tIns="0" rIns="0" bIns="0" rtlCol="0" anchor="t"/>
          <a:lstStyle/>
          <a:p>
            <a:pPr indent="0" marL="0">
              <a:buNone/>
            </a:pPr>
            <a:r>
              <a:rPr lang="en-US" sz="1500" dirty="0">
                <a:solidFill>
                  <a:schemeClr val="bg2"/>
                </a:solidFill>
              </a:rPr>
              <a:t>verifier, then approver</a:t>
            </a:r>
            <a:endParaRPr lang="en-US" sz="1500" dirty="0"/>
          </a:p>
        </p:txBody>
      </p:sp>
      <p:sp>
        <p:nvSpPr>
          <p:cNvPr id="11" name="stat Dynamics 365">
            <a:extLst>
              <a:ext uri="{C183D7F6-B498-43B3-948B-1728B52AA6E4}">
                <adec:decorative xmlns:adec="http://schemas.microsoft.com/office/drawing/2017/decorative" val="1"/>
              </a:ext>
            </a:extLst>
          </p:cNvPr>
          <p:cNvSpPr/>
          <p:nvPr/>
        </p:nvSpPr>
        <p:spPr>
          <a:xfrm>
            <a:off x="7635240" y="3968496"/>
            <a:ext cx="4007815" cy="1298448"/>
          </a:xfrm>
          <a:prstGeom prst="roundRect">
            <a:avLst>
              <a:gd name="adj" fmla="val 11268"/>
            </a:avLst>
          </a:prstGeom>
          <a:solidFill>
            <a:schemeClr val="tx2"/>
          </a:solidFill>
          <a:ln w="9525">
            <a:solidFill>
              <a:schemeClr val="accent2"/>
            </a:solidFill>
            <a:prstDash val="solid"/>
          </a:ln>
        </p:spPr>
      </p:sp>
      <p:sp>
        <p:nvSpPr>
          <p:cNvPr id="12" name="Text 10"/>
          <p:cNvSpPr txBox="1"/>
          <p:nvPr/>
        </p:nvSpPr>
        <p:spPr>
          <a:xfrm>
            <a:off x="7955280" y="4169664"/>
            <a:ext cx="3367735" cy="566928"/>
          </a:xfrm>
          <a:prstGeom prst="rect">
            <a:avLst/>
          </a:prstGeom>
          <a:noFill/>
          <a:ln/>
        </p:spPr>
        <p:txBody>
          <a:bodyPr wrap="square" lIns="0" tIns="0" rIns="0" bIns="0" rtlCol="0" anchor="t"/>
          <a:lstStyle/>
          <a:p>
            <a:pPr indent="0" marL="0">
              <a:buNone/>
            </a:pPr>
            <a:r>
              <a:rPr lang="en-US" sz="3600" b="1" dirty="0">
                <a:solidFill>
                  <a:schemeClr val="accent1"/>
                </a:solidFill>
              </a:rPr>
              <a:t>Dynamics 365</a:t>
            </a:r>
            <a:endParaRPr lang="en-US" sz="3600" dirty="0"/>
          </a:p>
        </p:txBody>
      </p:sp>
      <p:sp>
        <p:nvSpPr>
          <p:cNvPr id="13" name="Text 11"/>
          <p:cNvSpPr txBox="1"/>
          <p:nvPr/>
        </p:nvSpPr>
        <p:spPr>
          <a:xfrm>
            <a:off x="7955280" y="4754880"/>
            <a:ext cx="3367735" cy="365760"/>
          </a:xfrm>
          <a:prstGeom prst="rect">
            <a:avLst/>
          </a:prstGeom>
          <a:noFill/>
          <a:ln/>
        </p:spPr>
        <p:txBody>
          <a:bodyPr wrap="square" lIns="0" tIns="0" rIns="0" bIns="0" rtlCol="0" anchor="t"/>
          <a:lstStyle/>
          <a:p>
            <a:pPr indent="0" marL="0">
              <a:buNone/>
            </a:pPr>
            <a:r>
              <a:rPr lang="en-US" sz="1500" dirty="0">
                <a:solidFill>
                  <a:schemeClr val="bg2"/>
                </a:solidFill>
              </a:rPr>
              <a:t>approved claims post there</a:t>
            </a:r>
            <a:endParaRPr lang="en-US" sz="1500" dirty="0"/>
          </a:p>
        </p:txBody>
      </p:sp>
      <p:sp>
        <p:nvSpPr>
          <p:cNvPr id="14" name="Text 12"/>
          <p:cNvSpPr txBox="1"/>
          <p:nvPr/>
        </p:nvSpPr>
        <p:spPr>
          <a:xfrm>
            <a:off x="548640" y="3520440"/>
            <a:ext cx="640080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SEND ANY OF</a:t>
            </a:r>
            <a:endParaRPr lang="en-US" sz="1200" dirty="0"/>
          </a:p>
        </p:txBody>
      </p:sp>
      <p:sp>
        <p:nvSpPr>
          <p:cNvPr id="15" name="chip Receipts">
            <a:extLst>
              <a:ext uri="{C183D7F6-B498-43B3-948B-1728B52AA6E4}">
                <adec:decorative xmlns:adec="http://schemas.microsoft.com/office/drawing/2017/decorative" val="1"/>
              </a:ext>
            </a:extLst>
          </p:cNvPr>
          <p:cNvSpPr/>
          <p:nvPr/>
        </p:nvSpPr>
        <p:spPr>
          <a:xfrm>
            <a:off x="548640" y="3886200"/>
            <a:ext cx="1463040" cy="566928"/>
          </a:xfrm>
          <a:prstGeom prst="roundRect">
            <a:avLst>
              <a:gd name="adj" fmla="val 12903"/>
            </a:avLst>
          </a:prstGeom>
          <a:solidFill>
            <a:schemeClr val="tx2"/>
          </a:solidFill>
          <a:ln w="9525">
            <a:solidFill>
              <a:schemeClr val="accent2"/>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31520" y="4041648"/>
            <a:ext cx="256032" cy="256032"/>
          </a:xfrm>
          <a:prstGeom prst="rect">
            <a:avLst/>
          </a:prstGeom>
        </p:spPr>
      </p:pic>
      <p:sp>
        <p:nvSpPr>
          <p:cNvPr id="17" name="Text 14"/>
          <p:cNvSpPr txBox="1"/>
          <p:nvPr/>
        </p:nvSpPr>
        <p:spPr>
          <a:xfrm>
            <a:off x="1078992" y="3886200"/>
            <a:ext cx="841248" cy="566928"/>
          </a:xfrm>
          <a:prstGeom prst="rect">
            <a:avLst/>
          </a:prstGeom>
          <a:noFill/>
          <a:ln/>
        </p:spPr>
        <p:txBody>
          <a:bodyPr wrap="square" lIns="0" tIns="0" rIns="0" bIns="0" rtlCol="0" anchor="ctr"/>
          <a:lstStyle/>
          <a:p>
            <a:pPr indent="0" marL="0">
              <a:buNone/>
            </a:pPr>
            <a:r>
              <a:rPr lang="en-US" sz="1400" dirty="0">
                <a:solidFill>
                  <a:schemeClr val="bg2"/>
                </a:solidFill>
              </a:rPr>
              <a:t>Receipts</a:t>
            </a:r>
            <a:endParaRPr lang="en-US" sz="1400" dirty="0"/>
          </a:p>
        </p:txBody>
      </p:sp>
      <p:sp>
        <p:nvSpPr>
          <p:cNvPr id="18" name="chip Touch ’n Go">
            <a:extLst>
              <a:ext uri="{C183D7F6-B498-43B3-948B-1728B52AA6E4}">
                <adec:decorative xmlns:adec="http://schemas.microsoft.com/office/drawing/2017/decorative" val="1"/>
              </a:ext>
            </a:extLst>
          </p:cNvPr>
          <p:cNvSpPr/>
          <p:nvPr/>
        </p:nvSpPr>
        <p:spPr>
          <a:xfrm>
            <a:off x="2194560" y="3886200"/>
            <a:ext cx="1737360" cy="566928"/>
          </a:xfrm>
          <a:prstGeom prst="roundRect">
            <a:avLst>
              <a:gd name="adj" fmla="val 12903"/>
            </a:avLst>
          </a:prstGeom>
          <a:solidFill>
            <a:schemeClr val="tx2"/>
          </a:solidFill>
          <a:ln w="9525">
            <a:solidFill>
              <a:schemeClr val="accent2"/>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377440" y="4041648"/>
            <a:ext cx="256032" cy="256032"/>
          </a:xfrm>
          <a:prstGeom prst="rect">
            <a:avLst/>
          </a:prstGeom>
        </p:spPr>
      </p:pic>
      <p:sp>
        <p:nvSpPr>
          <p:cNvPr id="20" name="Text 16"/>
          <p:cNvSpPr txBox="1"/>
          <p:nvPr/>
        </p:nvSpPr>
        <p:spPr>
          <a:xfrm>
            <a:off x="2724912" y="3886200"/>
            <a:ext cx="1115568" cy="566928"/>
          </a:xfrm>
          <a:prstGeom prst="rect">
            <a:avLst/>
          </a:prstGeom>
          <a:noFill/>
          <a:ln/>
        </p:spPr>
        <p:txBody>
          <a:bodyPr wrap="square" lIns="0" tIns="0" rIns="0" bIns="0" rtlCol="0" anchor="ctr"/>
          <a:lstStyle/>
          <a:p>
            <a:pPr indent="0" marL="0">
              <a:buNone/>
            </a:pPr>
            <a:r>
              <a:rPr lang="en-US" sz="1400" dirty="0">
                <a:solidFill>
                  <a:schemeClr val="bg2"/>
                </a:solidFill>
              </a:rPr>
              <a:t>Touch ’n Go</a:t>
            </a:r>
            <a:endParaRPr lang="en-US" sz="1400" dirty="0"/>
          </a:p>
        </p:txBody>
      </p:sp>
      <p:sp>
        <p:nvSpPr>
          <p:cNvPr id="21" name="chip Route maps">
            <a:extLst>
              <a:ext uri="{C183D7F6-B498-43B3-948B-1728B52AA6E4}">
                <adec:decorative xmlns:adec="http://schemas.microsoft.com/office/drawing/2017/decorative" val="1"/>
              </a:ext>
            </a:extLst>
          </p:cNvPr>
          <p:cNvSpPr/>
          <p:nvPr/>
        </p:nvSpPr>
        <p:spPr>
          <a:xfrm>
            <a:off x="4114800" y="3886200"/>
            <a:ext cx="1645920" cy="566928"/>
          </a:xfrm>
          <a:prstGeom prst="roundRect">
            <a:avLst>
              <a:gd name="adj" fmla="val 12903"/>
            </a:avLst>
          </a:prstGeom>
          <a:solidFill>
            <a:schemeClr val="tx2"/>
          </a:solidFill>
          <a:ln w="9525">
            <a:solidFill>
              <a:schemeClr val="accent2"/>
            </a:solidFill>
            <a:prstDash val="solid"/>
          </a:ln>
        </p:spPr>
      </p:sp>
      <p:pic>
        <p:nvPicPr>
          <p:cNvPr id="22"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297680" y="4041648"/>
            <a:ext cx="256032" cy="256032"/>
          </a:xfrm>
          <a:prstGeom prst="rect">
            <a:avLst/>
          </a:prstGeom>
        </p:spPr>
      </p:pic>
      <p:sp>
        <p:nvSpPr>
          <p:cNvPr id="23" name="Text 18"/>
          <p:cNvSpPr txBox="1"/>
          <p:nvPr/>
        </p:nvSpPr>
        <p:spPr>
          <a:xfrm>
            <a:off x="4645152" y="3886200"/>
            <a:ext cx="1024128" cy="566928"/>
          </a:xfrm>
          <a:prstGeom prst="rect">
            <a:avLst/>
          </a:prstGeom>
          <a:noFill/>
          <a:ln/>
        </p:spPr>
        <p:txBody>
          <a:bodyPr wrap="square" lIns="0" tIns="0" rIns="0" bIns="0" rtlCol="0" anchor="ctr"/>
          <a:lstStyle/>
          <a:p>
            <a:pPr indent="0" marL="0">
              <a:buNone/>
            </a:pPr>
            <a:r>
              <a:rPr lang="en-US" sz="1400" dirty="0">
                <a:solidFill>
                  <a:schemeClr val="bg2"/>
                </a:solidFill>
              </a:rPr>
              <a:t>Route maps</a:t>
            </a:r>
            <a:endParaRPr lang="en-US" sz="14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The life of a claim</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CLAIM PILOT</a:t>
            </a:r>
            <a:endParaRPr lang="en-US" sz="1000" dirty="0"/>
          </a:p>
        </p:txBody>
      </p:sp>
      <p:sp>
        <p:nvSpPr>
          <p:cNvPr id="4" name="Shape 2">
            <a:extLst>
              <a:ext uri="{C183D7F6-B498-43B3-948B-1728B52AA6E4}">
                <adec:decorative xmlns:adec="http://schemas.microsoft.com/office/drawing/2017/decorative" val="1"/>
              </a:ext>
            </a:extLst>
          </p:cNvPr>
          <p:cNvSpPr/>
          <p:nvPr/>
        </p:nvSpPr>
        <p:spPr>
          <a:xfrm>
            <a:off x="1555669" y="2423160"/>
            <a:ext cx="9080358" cy="0"/>
          </a:xfrm>
          <a:prstGeom prst="line">
            <a:avLst/>
          </a:prstGeom>
          <a:noFill/>
          <a:ln w="15875">
            <a:solidFill>
              <a:schemeClr val="accent1"/>
            </a:solidFill>
            <a:prstDash val="solid"/>
          </a:ln>
        </p:spPr>
      </p:sp>
      <p:sp>
        <p:nvSpPr>
          <p:cNvPr id="5" name="step 1">
            <a:extLst>
              <a:ext uri="{C183D7F6-B498-43B3-948B-1728B52AA6E4}">
                <adec:decorative xmlns:adec="http://schemas.microsoft.com/office/drawing/2017/decorative" val="1"/>
              </a:ext>
            </a:extLst>
          </p:cNvPr>
          <p:cNvSpPr/>
          <p:nvPr/>
        </p:nvSpPr>
        <p:spPr>
          <a:xfrm>
            <a:off x="1235629" y="2103120"/>
            <a:ext cx="640080" cy="640080"/>
          </a:xfrm>
          <a:prstGeom prst="ellipse">
            <a:avLst/>
          </a:prstGeom>
          <a:solidFill>
            <a:srgbClr val="09090B"/>
          </a:solidFill>
          <a:ln w="19050">
            <a:solidFill>
              <a:schemeClr val="accent1"/>
            </a:solidFill>
            <a:prstDash val="solid"/>
          </a:ln>
        </p:spPr>
      </p:sp>
      <p:sp>
        <p:nvSpPr>
          <p:cNvPr id="6" name="Text 4"/>
          <p:cNvSpPr txBox="1"/>
          <p:nvPr/>
        </p:nvSpPr>
        <p:spPr>
          <a:xfrm>
            <a:off x="1235629" y="2103120"/>
            <a:ext cx="640080" cy="64008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01</a:t>
            </a:r>
            <a:endParaRPr lang="en-US" sz="1500" dirty="0"/>
          </a:p>
        </p:txBody>
      </p:sp>
      <p:sp>
        <p:nvSpPr>
          <p:cNvPr id="7" name="Text 5"/>
          <p:cNvSpPr txBox="1"/>
          <p:nvPr/>
        </p:nvSpPr>
        <p:spPr>
          <a:xfrm>
            <a:off x="548640" y="299923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Submit</a:t>
            </a:r>
            <a:endParaRPr lang="en-US" sz="1800" dirty="0"/>
          </a:p>
        </p:txBody>
      </p:sp>
      <p:sp>
        <p:nvSpPr>
          <p:cNvPr id="8" name="Text 6"/>
          <p:cNvSpPr txBox="1"/>
          <p:nvPr/>
        </p:nvSpPr>
        <p:spPr>
          <a:xfrm>
            <a:off x="548640" y="334670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CLAIMANT</a:t>
            </a:r>
            <a:endParaRPr lang="en-US" sz="1200" dirty="0"/>
          </a:p>
        </p:txBody>
      </p:sp>
      <p:sp>
        <p:nvSpPr>
          <p:cNvPr id="9" name="Text 7"/>
          <p:cNvSpPr txBox="1"/>
          <p:nvPr/>
        </p:nvSpPr>
        <p:spPr>
          <a:xfrm>
            <a:off x="594360" y="365760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Photo in Teams</a:t>
            </a:r>
            <a:endParaRPr lang="en-US" sz="1400" dirty="0"/>
          </a:p>
        </p:txBody>
      </p:sp>
      <p:sp>
        <p:nvSpPr>
          <p:cNvPr id="10" name="step 2">
            <a:extLst>
              <a:ext uri="{C183D7F6-B498-43B3-948B-1728B52AA6E4}">
                <adec:decorative xmlns:adec="http://schemas.microsoft.com/office/drawing/2017/decorative" val="1"/>
              </a:ext>
            </a:extLst>
          </p:cNvPr>
          <p:cNvSpPr/>
          <p:nvPr/>
        </p:nvSpPr>
        <p:spPr>
          <a:xfrm>
            <a:off x="3505718" y="2103120"/>
            <a:ext cx="640080" cy="640080"/>
          </a:xfrm>
          <a:prstGeom prst="ellipse">
            <a:avLst/>
          </a:prstGeom>
          <a:solidFill>
            <a:srgbClr val="09090B"/>
          </a:solidFill>
          <a:ln w="19050">
            <a:solidFill>
              <a:schemeClr val="accent1"/>
            </a:solidFill>
            <a:prstDash val="solid"/>
          </a:ln>
        </p:spPr>
      </p:sp>
      <p:sp>
        <p:nvSpPr>
          <p:cNvPr id="11" name="Text 9"/>
          <p:cNvSpPr txBox="1"/>
          <p:nvPr/>
        </p:nvSpPr>
        <p:spPr>
          <a:xfrm>
            <a:off x="3505718" y="2103120"/>
            <a:ext cx="640080" cy="64008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02</a:t>
            </a:r>
            <a:endParaRPr lang="en-US" sz="1500" dirty="0"/>
          </a:p>
        </p:txBody>
      </p:sp>
      <p:sp>
        <p:nvSpPr>
          <p:cNvPr id="12" name="Text 10"/>
          <p:cNvSpPr txBox="1"/>
          <p:nvPr/>
        </p:nvSpPr>
        <p:spPr>
          <a:xfrm>
            <a:off x="2818729" y="299923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Review</a:t>
            </a:r>
            <a:endParaRPr lang="en-US" sz="1800" dirty="0"/>
          </a:p>
        </p:txBody>
      </p:sp>
      <p:sp>
        <p:nvSpPr>
          <p:cNvPr id="13" name="Text 11"/>
          <p:cNvSpPr txBox="1"/>
          <p:nvPr/>
        </p:nvSpPr>
        <p:spPr>
          <a:xfrm>
            <a:off x="2818729" y="334670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CLAIMANT</a:t>
            </a:r>
            <a:endParaRPr lang="en-US" sz="1200" dirty="0"/>
          </a:p>
        </p:txBody>
      </p:sp>
      <p:sp>
        <p:nvSpPr>
          <p:cNvPr id="14" name="Text 12"/>
          <p:cNvSpPr txBox="1"/>
          <p:nvPr/>
        </p:nvSpPr>
        <p:spPr>
          <a:xfrm>
            <a:off x="2864449" y="365760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Check AI’s figures</a:t>
            </a:r>
            <a:endParaRPr lang="en-US" sz="1400" dirty="0"/>
          </a:p>
        </p:txBody>
      </p:sp>
      <p:sp>
        <p:nvSpPr>
          <p:cNvPr id="15" name="step 3">
            <a:extLst>
              <a:ext uri="{C183D7F6-B498-43B3-948B-1728B52AA6E4}">
                <adec:decorative xmlns:adec="http://schemas.microsoft.com/office/drawing/2017/decorative" val="1"/>
              </a:ext>
            </a:extLst>
          </p:cNvPr>
          <p:cNvSpPr/>
          <p:nvPr/>
        </p:nvSpPr>
        <p:spPr>
          <a:xfrm>
            <a:off x="5775808" y="2103120"/>
            <a:ext cx="640080" cy="640080"/>
          </a:xfrm>
          <a:prstGeom prst="ellipse">
            <a:avLst/>
          </a:prstGeom>
          <a:solidFill>
            <a:srgbClr val="09090B"/>
          </a:solidFill>
          <a:ln w="19050">
            <a:solidFill>
              <a:schemeClr val="accent1"/>
            </a:solidFill>
            <a:prstDash val="solid"/>
          </a:ln>
        </p:spPr>
      </p:sp>
      <p:sp>
        <p:nvSpPr>
          <p:cNvPr id="16" name="Text 14"/>
          <p:cNvSpPr txBox="1"/>
          <p:nvPr/>
        </p:nvSpPr>
        <p:spPr>
          <a:xfrm>
            <a:off x="5775808" y="2103120"/>
            <a:ext cx="640080" cy="64008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03</a:t>
            </a:r>
            <a:endParaRPr lang="en-US" sz="1500" dirty="0"/>
          </a:p>
        </p:txBody>
      </p:sp>
      <p:sp>
        <p:nvSpPr>
          <p:cNvPr id="17" name="Text 15"/>
          <p:cNvSpPr txBox="1"/>
          <p:nvPr/>
        </p:nvSpPr>
        <p:spPr>
          <a:xfrm>
            <a:off x="5088819" y="299923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Verify</a:t>
            </a:r>
            <a:endParaRPr lang="en-US" sz="1800" dirty="0"/>
          </a:p>
        </p:txBody>
      </p:sp>
      <p:sp>
        <p:nvSpPr>
          <p:cNvPr id="18" name="Text 16"/>
          <p:cNvSpPr txBox="1"/>
          <p:nvPr/>
        </p:nvSpPr>
        <p:spPr>
          <a:xfrm>
            <a:off x="5088819" y="334670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VERIFIER</a:t>
            </a:r>
            <a:endParaRPr lang="en-US" sz="1200" dirty="0"/>
          </a:p>
        </p:txBody>
      </p:sp>
      <p:sp>
        <p:nvSpPr>
          <p:cNvPr id="19" name="Text 17"/>
          <p:cNvSpPr txBox="1"/>
          <p:nvPr/>
        </p:nvSpPr>
        <p:spPr>
          <a:xfrm>
            <a:off x="5134539" y="365760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First sign-off</a:t>
            </a:r>
            <a:endParaRPr lang="en-US" sz="1400" dirty="0"/>
          </a:p>
        </p:txBody>
      </p:sp>
      <p:sp>
        <p:nvSpPr>
          <p:cNvPr id="20" name="step 4">
            <a:extLst>
              <a:ext uri="{C183D7F6-B498-43B3-948B-1728B52AA6E4}">
                <adec:decorative xmlns:adec="http://schemas.microsoft.com/office/drawing/2017/decorative" val="1"/>
              </a:ext>
            </a:extLst>
          </p:cNvPr>
          <p:cNvSpPr/>
          <p:nvPr/>
        </p:nvSpPr>
        <p:spPr>
          <a:xfrm>
            <a:off x="8045897" y="2103120"/>
            <a:ext cx="640080" cy="640080"/>
          </a:xfrm>
          <a:prstGeom prst="ellipse">
            <a:avLst/>
          </a:prstGeom>
          <a:solidFill>
            <a:srgbClr val="09090B"/>
          </a:solidFill>
          <a:ln w="19050">
            <a:solidFill>
              <a:schemeClr val="accent1"/>
            </a:solidFill>
            <a:prstDash val="solid"/>
          </a:ln>
        </p:spPr>
      </p:sp>
      <p:sp>
        <p:nvSpPr>
          <p:cNvPr id="21" name="Text 19"/>
          <p:cNvSpPr txBox="1"/>
          <p:nvPr/>
        </p:nvSpPr>
        <p:spPr>
          <a:xfrm>
            <a:off x="8045897" y="2103120"/>
            <a:ext cx="640080" cy="64008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04</a:t>
            </a:r>
            <a:endParaRPr lang="en-US" sz="1500" dirty="0"/>
          </a:p>
        </p:txBody>
      </p:sp>
      <p:sp>
        <p:nvSpPr>
          <p:cNvPr id="22" name="Text 20"/>
          <p:cNvSpPr txBox="1"/>
          <p:nvPr/>
        </p:nvSpPr>
        <p:spPr>
          <a:xfrm>
            <a:off x="7358908" y="299923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Approve</a:t>
            </a:r>
            <a:endParaRPr lang="en-US" sz="1800" dirty="0"/>
          </a:p>
        </p:txBody>
      </p:sp>
      <p:sp>
        <p:nvSpPr>
          <p:cNvPr id="23" name="Text 21"/>
          <p:cNvSpPr txBox="1"/>
          <p:nvPr/>
        </p:nvSpPr>
        <p:spPr>
          <a:xfrm>
            <a:off x="7358908" y="334670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APPROVER</a:t>
            </a:r>
            <a:endParaRPr lang="en-US" sz="1200" dirty="0"/>
          </a:p>
        </p:txBody>
      </p:sp>
      <p:sp>
        <p:nvSpPr>
          <p:cNvPr id="24" name="Text 22"/>
          <p:cNvSpPr txBox="1"/>
          <p:nvPr/>
        </p:nvSpPr>
        <p:spPr>
          <a:xfrm>
            <a:off x="7404628" y="365760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Second sign-off</a:t>
            </a:r>
            <a:endParaRPr lang="en-US" sz="1400" dirty="0"/>
          </a:p>
        </p:txBody>
      </p:sp>
      <p:sp>
        <p:nvSpPr>
          <p:cNvPr id="25" name="step 5">
            <a:extLst>
              <a:ext uri="{C183D7F6-B498-43B3-948B-1728B52AA6E4}">
                <adec:decorative xmlns:adec="http://schemas.microsoft.com/office/drawing/2017/decorative" val="1"/>
              </a:ext>
            </a:extLst>
          </p:cNvPr>
          <p:cNvSpPr/>
          <p:nvPr/>
        </p:nvSpPr>
        <p:spPr>
          <a:xfrm>
            <a:off x="10315986" y="2103120"/>
            <a:ext cx="640080" cy="640080"/>
          </a:xfrm>
          <a:prstGeom prst="ellipse">
            <a:avLst/>
          </a:prstGeom>
          <a:solidFill>
            <a:srgbClr val="09090B"/>
          </a:solidFill>
          <a:ln w="19050">
            <a:solidFill>
              <a:schemeClr val="accent1"/>
            </a:solidFill>
            <a:prstDash val="solid"/>
          </a:ln>
        </p:spPr>
      </p:sp>
      <p:sp>
        <p:nvSpPr>
          <p:cNvPr id="26" name="Text 24"/>
          <p:cNvSpPr txBox="1"/>
          <p:nvPr/>
        </p:nvSpPr>
        <p:spPr>
          <a:xfrm>
            <a:off x="10315986" y="2103120"/>
            <a:ext cx="640080" cy="640080"/>
          </a:xfrm>
          <a:prstGeom prst="rect">
            <a:avLst/>
          </a:prstGeom>
          <a:noFill/>
          <a:ln/>
        </p:spPr>
        <p:txBody>
          <a:bodyPr wrap="square" lIns="0" tIns="0" rIns="0" bIns="0" rtlCol="0" anchor="ctr"/>
          <a:lstStyle/>
          <a:p>
            <a:pPr algn="ctr" indent="0" marL="0">
              <a:buNone/>
            </a:pPr>
            <a:r>
              <a:rPr lang="en-US" sz="1500" b="1" dirty="0">
                <a:solidFill>
                  <a:schemeClr val="accent1"/>
                </a:solidFill>
                <a:latin typeface="Courier New" pitchFamily="34" charset="0"/>
                <a:ea typeface="Courier New" pitchFamily="34" charset="-122"/>
                <a:cs typeface="Courier New" pitchFamily="34" charset="-120"/>
              </a:rPr>
              <a:t>05</a:t>
            </a:r>
            <a:endParaRPr lang="en-US" sz="1500" dirty="0"/>
          </a:p>
        </p:txBody>
      </p:sp>
      <p:sp>
        <p:nvSpPr>
          <p:cNvPr id="27" name="Text 25"/>
          <p:cNvSpPr txBox="1"/>
          <p:nvPr/>
        </p:nvSpPr>
        <p:spPr>
          <a:xfrm>
            <a:off x="9628998" y="299923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Print</a:t>
            </a:r>
            <a:endParaRPr lang="en-US" sz="1800" dirty="0"/>
          </a:p>
        </p:txBody>
      </p:sp>
      <p:sp>
        <p:nvSpPr>
          <p:cNvPr id="28" name="Text 26"/>
          <p:cNvSpPr txBox="1"/>
          <p:nvPr/>
        </p:nvSpPr>
        <p:spPr>
          <a:xfrm>
            <a:off x="9628998" y="334670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APPROVER</a:t>
            </a:r>
            <a:endParaRPr lang="en-US" sz="1200" dirty="0"/>
          </a:p>
        </p:txBody>
      </p:sp>
      <p:sp>
        <p:nvSpPr>
          <p:cNvPr id="29" name="Text 27"/>
          <p:cNvSpPr txBox="1"/>
          <p:nvPr/>
        </p:nvSpPr>
        <p:spPr>
          <a:xfrm>
            <a:off x="9674718" y="365760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One-page record</a:t>
            </a:r>
            <a:endParaRPr lang="en-US" sz="1400" dirty="0"/>
          </a:p>
        </p:txBody>
      </p:sp>
      <p:sp>
        <p:nvSpPr>
          <p:cNvPr id="30" name="rejection note">
            <a:extLst>
              <a:ext uri="{C183D7F6-B498-43B3-948B-1728B52AA6E4}">
                <adec:decorative xmlns:adec="http://schemas.microsoft.com/office/drawing/2017/decorative" val="1"/>
              </a:ext>
            </a:extLst>
          </p:cNvPr>
          <p:cNvSpPr/>
          <p:nvPr/>
        </p:nvSpPr>
        <p:spPr>
          <a:xfrm>
            <a:off x="548640" y="4526280"/>
            <a:ext cx="11094415" cy="731520"/>
          </a:xfrm>
          <a:prstGeom prst="roundRect">
            <a:avLst>
              <a:gd name="adj" fmla="val 12500"/>
            </a:avLst>
          </a:prstGeom>
          <a:solidFill>
            <a:srgbClr val="0F2A20"/>
          </a:solidFill>
          <a:ln w="9525">
            <a:solidFill>
              <a:srgbClr val="1D4D3A"/>
            </a:solidFill>
            <a:prstDash val="solid"/>
          </a:ln>
        </p:spPr>
      </p:sp>
      <p:pic>
        <p:nvPicPr>
          <p:cNvPr id="31"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2960" y="4736592"/>
            <a:ext cx="310896" cy="310896"/>
          </a:xfrm>
          <a:prstGeom prst="rect">
            <a:avLst/>
          </a:prstGeom>
        </p:spPr>
      </p:pic>
      <p:sp>
        <p:nvSpPr>
          <p:cNvPr id="32" name="Text 29"/>
          <p:cNvSpPr txBox="1"/>
          <p:nvPr/>
        </p:nvSpPr>
        <p:spPr>
          <a:xfrm>
            <a:off x="1325880" y="4526280"/>
            <a:ext cx="10088575" cy="731520"/>
          </a:xfrm>
          <a:prstGeom prst="rect">
            <a:avLst/>
          </a:prstGeom>
          <a:noFill/>
          <a:ln/>
        </p:spPr>
        <p:txBody>
          <a:bodyPr wrap="square" lIns="0" tIns="0" rIns="0" bIns="0" rtlCol="0" anchor="ctr"/>
          <a:lstStyle/>
          <a:p>
            <a:pPr indent="0" marL="0">
              <a:buNone/>
            </a:pPr>
            <a:r>
              <a:rPr lang="en-US" sz="1800" b="1" dirty="0">
                <a:solidFill>
                  <a:srgbClr val="C9F5E4"/>
                </a:solidFill>
              </a:rPr>
              <a:t>Rejected? </a:t>
            </a:r>
            <a:pPr indent="0" marL="0">
              <a:buNone/>
            </a:pPr>
            <a:r>
              <a:rPr lang="en-US" sz="1800" dirty="0">
                <a:solidFill>
                  <a:srgbClr val="C9F5E4"/>
                </a:solidFill>
              </a:rPr>
              <a:t>Back to the claimant to fix.</a:t>
            </a:r>
            <a:endParaRPr lang="en-US" sz="1800" dirty="0"/>
          </a:p>
        </p:txBody>
      </p:sp>
      <p:sp>
        <p:nvSpPr>
          <p:cNvPr id="34"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Fits how finance already works</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CLAIM PILOT</a:t>
            </a:r>
            <a:endParaRPr lang="en-US" sz="1000" dirty="0"/>
          </a:p>
        </p:txBody>
      </p:sp>
      <p:sp>
        <p:nvSpPr>
          <p:cNvPr id="4" name="Text 2"/>
          <p:cNvSpPr txBox="1"/>
          <p:nvPr/>
        </p:nvSpPr>
        <p:spPr>
          <a:xfrm>
            <a:off x="548640" y="2011680"/>
            <a:ext cx="4206240" cy="1463040"/>
          </a:xfrm>
          <a:prstGeom prst="rect">
            <a:avLst/>
          </a:prstGeom>
          <a:noFill/>
          <a:ln/>
        </p:spPr>
        <p:txBody>
          <a:bodyPr wrap="square" lIns="0" tIns="0" rIns="0" bIns="0" rtlCol="0" anchor="t"/>
          <a:lstStyle/>
          <a:p>
            <a:pPr indent="0" marL="0">
              <a:buNone/>
            </a:pPr>
            <a:r>
              <a:rPr lang="en-US" sz="2800" b="1" dirty="0">
                <a:solidFill>
                  <a:schemeClr val="bg1"/>
                </a:solidFill>
              </a:rPr>
              <a:t>Approved in Claim Pilot.</a:t>
            </a:r>
            <a:endParaRPr lang="en-US" sz="2800" dirty="0"/>
          </a:p>
          <a:p>
            <a:pPr indent="0" marL="0">
              <a:buNone/>
            </a:pPr>
            <a:r>
              <a:rPr lang="en-US" sz="2800" b="1" dirty="0">
                <a:solidFill>
                  <a:schemeClr val="accent1"/>
                </a:solidFill>
              </a:rPr>
              <a:t>Posted in Dynamics 365.</a:t>
            </a:r>
            <a:endParaRPr lang="en-US" sz="2800" dirty="0"/>
          </a:p>
        </p:txBody>
      </p:sp>
      <p:sp>
        <p:nvSpPr>
          <p:cNvPr id="5" name="Posts to the ledger">
            <a:extLst>
              <a:ext uri="{C183D7F6-B498-43B3-948B-1728B52AA6E4}">
                <adec:decorative xmlns:adec="http://schemas.microsoft.com/office/drawing/2017/decorative" val="1"/>
              </a:ext>
            </a:extLst>
          </p:cNvPr>
          <p:cNvSpPr/>
          <p:nvPr/>
        </p:nvSpPr>
        <p:spPr>
          <a:xfrm>
            <a:off x="5257800" y="1828800"/>
            <a:ext cx="6385255" cy="1005840"/>
          </a:xfrm>
          <a:prstGeom prst="roundRect">
            <a:avLst>
              <a:gd name="adj" fmla="val 14545"/>
            </a:avLst>
          </a:prstGeom>
          <a:solidFill>
            <a:schemeClr val="tx2"/>
          </a:solidFill>
          <a:ln w="9525">
            <a:solidFill>
              <a:schemeClr val="accent2"/>
            </a:solidFill>
            <a:prstDash val="solid"/>
          </a:ln>
        </p:spPr>
      </p:sp>
      <p:sp>
        <p:nvSpPr>
          <p:cNvPr id="6" name="icon circle">
            <a:extLst>
              <a:ext uri="{C183D7F6-B498-43B3-948B-1728B52AA6E4}">
                <adec:decorative xmlns:adec="http://schemas.microsoft.com/office/drawing/2017/decorative" val="1"/>
              </a:ext>
            </a:extLst>
          </p:cNvPr>
          <p:cNvSpPr/>
          <p:nvPr/>
        </p:nvSpPr>
        <p:spPr>
          <a:xfrm>
            <a:off x="5532120" y="2048256"/>
            <a:ext cx="566928" cy="566928"/>
          </a:xfrm>
          <a:prstGeom prst="ellipse">
            <a:avLst/>
          </a:prstGeom>
          <a:solidFill>
            <a:srgbClr val="0F2A20"/>
          </a:solidFill>
          <a:ln w="12700">
            <a:solidFill>
              <a:srgbClr val="1D4D3A"/>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673852" y="2189988"/>
            <a:ext cx="283464" cy="283464"/>
          </a:xfrm>
          <a:prstGeom prst="rect">
            <a:avLst/>
          </a:prstGeom>
        </p:spPr>
      </p:pic>
      <p:sp>
        <p:nvSpPr>
          <p:cNvPr id="8" name="Text 5"/>
          <p:cNvSpPr txBox="1"/>
          <p:nvPr/>
        </p:nvSpPr>
        <p:spPr>
          <a:xfrm>
            <a:off x="6355080" y="1984248"/>
            <a:ext cx="5013655" cy="347472"/>
          </a:xfrm>
          <a:prstGeom prst="rect">
            <a:avLst/>
          </a:prstGeom>
          <a:noFill/>
          <a:ln/>
        </p:spPr>
        <p:txBody>
          <a:bodyPr wrap="square" lIns="0" tIns="0" rIns="0" bIns="0" rtlCol="0" anchor="t"/>
          <a:lstStyle/>
          <a:p>
            <a:pPr indent="0" marL="0">
              <a:buNone/>
            </a:pPr>
            <a:r>
              <a:rPr lang="en-US" sz="1800" b="1" dirty="0">
                <a:solidFill>
                  <a:schemeClr val="bg1"/>
                </a:solidFill>
              </a:rPr>
              <a:t>Posts to the ledger</a:t>
            </a:r>
            <a:endParaRPr lang="en-US" sz="1800" dirty="0"/>
          </a:p>
        </p:txBody>
      </p:sp>
      <p:sp>
        <p:nvSpPr>
          <p:cNvPr id="9" name="Text 6"/>
          <p:cNvSpPr txBox="1"/>
          <p:nvPr/>
        </p:nvSpPr>
        <p:spPr>
          <a:xfrm>
            <a:off x="6355080" y="2350008"/>
            <a:ext cx="5013655" cy="329184"/>
          </a:xfrm>
          <a:prstGeom prst="rect">
            <a:avLst/>
          </a:prstGeom>
          <a:noFill/>
          <a:ln/>
        </p:spPr>
        <p:txBody>
          <a:bodyPr wrap="square" lIns="0" tIns="0" rIns="0" bIns="0" rtlCol="0" anchor="t"/>
          <a:lstStyle/>
          <a:p>
            <a:pPr indent="0" marL="0">
              <a:buNone/>
            </a:pPr>
            <a:r>
              <a:rPr lang="en-US" sz="1500" dirty="0">
                <a:solidFill>
                  <a:schemeClr val="bg2"/>
                </a:solidFill>
              </a:rPr>
              <a:t>Invoice or GL journals</a:t>
            </a:r>
            <a:endParaRPr lang="en-US" sz="1500" dirty="0"/>
          </a:p>
        </p:txBody>
      </p:sp>
      <p:sp>
        <p:nvSpPr>
          <p:cNvPr id="10" name="Foreign currency">
            <a:extLst>
              <a:ext uri="{C183D7F6-B498-43B3-948B-1728B52AA6E4}">
                <adec:decorative xmlns:adec="http://schemas.microsoft.com/office/drawing/2017/decorative" val="1"/>
              </a:ext>
            </a:extLst>
          </p:cNvPr>
          <p:cNvSpPr/>
          <p:nvPr/>
        </p:nvSpPr>
        <p:spPr>
          <a:xfrm>
            <a:off x="5257800" y="3108960"/>
            <a:ext cx="6385255" cy="1005840"/>
          </a:xfrm>
          <a:prstGeom prst="roundRect">
            <a:avLst>
              <a:gd name="adj" fmla="val 14545"/>
            </a:avLst>
          </a:prstGeom>
          <a:solidFill>
            <a:schemeClr val="tx2"/>
          </a:solidFill>
          <a:ln w="9525">
            <a:solidFill>
              <a:schemeClr val="accent2"/>
            </a:solidFill>
            <a:prstDash val="solid"/>
          </a:ln>
        </p:spPr>
      </p:sp>
      <p:sp>
        <p:nvSpPr>
          <p:cNvPr id="11" name="icon circle">
            <a:extLst>
              <a:ext uri="{C183D7F6-B498-43B3-948B-1728B52AA6E4}">
                <adec:decorative xmlns:adec="http://schemas.microsoft.com/office/drawing/2017/decorative" val="1"/>
              </a:ext>
            </a:extLst>
          </p:cNvPr>
          <p:cNvSpPr/>
          <p:nvPr/>
        </p:nvSpPr>
        <p:spPr>
          <a:xfrm>
            <a:off x="5532120" y="3328416"/>
            <a:ext cx="566928" cy="566928"/>
          </a:xfrm>
          <a:prstGeom prst="ellipse">
            <a:avLst/>
          </a:prstGeom>
          <a:solidFill>
            <a:srgbClr val="0F2A20"/>
          </a:solidFill>
          <a:ln w="12700">
            <a:solidFill>
              <a:srgbClr val="1D4D3A"/>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673852" y="3470148"/>
            <a:ext cx="283464" cy="283464"/>
          </a:xfrm>
          <a:prstGeom prst="rect">
            <a:avLst/>
          </a:prstGeom>
        </p:spPr>
      </p:pic>
      <p:sp>
        <p:nvSpPr>
          <p:cNvPr id="13" name="Text 9"/>
          <p:cNvSpPr txBox="1"/>
          <p:nvPr/>
        </p:nvSpPr>
        <p:spPr>
          <a:xfrm>
            <a:off x="6355080" y="3264408"/>
            <a:ext cx="5013655" cy="347472"/>
          </a:xfrm>
          <a:prstGeom prst="rect">
            <a:avLst/>
          </a:prstGeom>
          <a:noFill/>
          <a:ln/>
        </p:spPr>
        <p:txBody>
          <a:bodyPr wrap="square" lIns="0" tIns="0" rIns="0" bIns="0" rtlCol="0" anchor="t"/>
          <a:lstStyle/>
          <a:p>
            <a:pPr indent="0" marL="0">
              <a:buNone/>
            </a:pPr>
            <a:r>
              <a:rPr lang="en-US" sz="1800" b="1" dirty="0">
                <a:solidFill>
                  <a:schemeClr val="bg1"/>
                </a:solidFill>
              </a:rPr>
              <a:t>Foreign currency</a:t>
            </a:r>
            <a:endParaRPr lang="en-US" sz="1800" dirty="0"/>
          </a:p>
        </p:txBody>
      </p:sp>
      <p:sp>
        <p:nvSpPr>
          <p:cNvPr id="14" name="Text 10"/>
          <p:cNvSpPr txBox="1"/>
          <p:nvPr/>
        </p:nvSpPr>
        <p:spPr>
          <a:xfrm>
            <a:off x="6355080" y="3630168"/>
            <a:ext cx="5013655" cy="329184"/>
          </a:xfrm>
          <a:prstGeom prst="rect">
            <a:avLst/>
          </a:prstGeom>
          <a:noFill/>
          <a:ln/>
        </p:spPr>
        <p:txBody>
          <a:bodyPr wrap="square" lIns="0" tIns="0" rIns="0" bIns="0" rtlCol="0" anchor="t"/>
          <a:lstStyle/>
          <a:p>
            <a:pPr indent="0" marL="0">
              <a:buNone/>
            </a:pPr>
            <a:r>
              <a:rPr lang="en-US" sz="1500" dirty="0">
                <a:solidFill>
                  <a:schemeClr val="bg2"/>
                </a:solidFill>
              </a:rPr>
              <a:t>Official Bank Negara rates</a:t>
            </a:r>
            <a:endParaRPr lang="en-US" sz="1500" dirty="0"/>
          </a:p>
        </p:txBody>
      </p:sp>
      <p:sp>
        <p:nvSpPr>
          <p:cNvPr id="15" name="Company sign-in">
            <a:extLst>
              <a:ext uri="{C183D7F6-B498-43B3-948B-1728B52AA6E4}">
                <adec:decorative xmlns:adec="http://schemas.microsoft.com/office/drawing/2017/decorative" val="1"/>
              </a:ext>
            </a:extLst>
          </p:cNvPr>
          <p:cNvSpPr/>
          <p:nvPr/>
        </p:nvSpPr>
        <p:spPr>
          <a:xfrm>
            <a:off x="5257800" y="4389120"/>
            <a:ext cx="6385255" cy="1005840"/>
          </a:xfrm>
          <a:prstGeom prst="roundRect">
            <a:avLst>
              <a:gd name="adj" fmla="val 14545"/>
            </a:avLst>
          </a:prstGeom>
          <a:solidFill>
            <a:schemeClr val="tx2"/>
          </a:solidFill>
          <a:ln w="9525">
            <a:solidFill>
              <a:schemeClr val="accent2"/>
            </a:solidFill>
            <a:prstDash val="solid"/>
          </a:ln>
        </p:spPr>
      </p:sp>
      <p:sp>
        <p:nvSpPr>
          <p:cNvPr id="16" name="icon circle">
            <a:extLst>
              <a:ext uri="{C183D7F6-B498-43B3-948B-1728B52AA6E4}">
                <adec:decorative xmlns:adec="http://schemas.microsoft.com/office/drawing/2017/decorative" val="1"/>
              </a:ext>
            </a:extLst>
          </p:cNvPr>
          <p:cNvSpPr/>
          <p:nvPr/>
        </p:nvSpPr>
        <p:spPr>
          <a:xfrm>
            <a:off x="5532120" y="4608576"/>
            <a:ext cx="566928" cy="566928"/>
          </a:xfrm>
          <a:prstGeom prst="ellipse">
            <a:avLst/>
          </a:prstGeom>
          <a:solidFill>
            <a:srgbClr val="0F2A20"/>
          </a:solidFill>
          <a:ln w="12700">
            <a:solidFill>
              <a:srgbClr val="1D4D3A"/>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673852" y="4750308"/>
            <a:ext cx="283464" cy="283464"/>
          </a:xfrm>
          <a:prstGeom prst="rect">
            <a:avLst/>
          </a:prstGeom>
        </p:spPr>
      </p:pic>
      <p:sp>
        <p:nvSpPr>
          <p:cNvPr id="18" name="Text 13"/>
          <p:cNvSpPr txBox="1"/>
          <p:nvPr/>
        </p:nvSpPr>
        <p:spPr>
          <a:xfrm>
            <a:off x="6355080" y="4544568"/>
            <a:ext cx="5013655" cy="347472"/>
          </a:xfrm>
          <a:prstGeom prst="rect">
            <a:avLst/>
          </a:prstGeom>
          <a:noFill/>
          <a:ln/>
        </p:spPr>
        <p:txBody>
          <a:bodyPr wrap="square" lIns="0" tIns="0" rIns="0" bIns="0" rtlCol="0" anchor="t"/>
          <a:lstStyle/>
          <a:p>
            <a:pPr indent="0" marL="0">
              <a:buNone/>
            </a:pPr>
            <a:r>
              <a:rPr lang="en-US" sz="1800" b="1" dirty="0">
                <a:solidFill>
                  <a:schemeClr val="bg1"/>
                </a:solidFill>
              </a:rPr>
              <a:t>Company sign-in</a:t>
            </a:r>
            <a:endParaRPr lang="en-US" sz="1800" dirty="0"/>
          </a:p>
        </p:txBody>
      </p:sp>
      <p:sp>
        <p:nvSpPr>
          <p:cNvPr id="19" name="Text 14"/>
          <p:cNvSpPr txBox="1"/>
          <p:nvPr/>
        </p:nvSpPr>
        <p:spPr>
          <a:xfrm>
            <a:off x="6355080" y="4910328"/>
            <a:ext cx="5013655" cy="329184"/>
          </a:xfrm>
          <a:prstGeom prst="rect">
            <a:avLst/>
          </a:prstGeom>
          <a:noFill/>
          <a:ln/>
        </p:spPr>
        <p:txBody>
          <a:bodyPr wrap="square" lIns="0" tIns="0" rIns="0" bIns="0" rtlCol="0" anchor="t"/>
          <a:lstStyle/>
          <a:p>
            <a:pPr indent="0" marL="0">
              <a:buNone/>
            </a:pPr>
            <a:r>
              <a:rPr lang="en-US" sz="1500" dirty="0">
                <a:solidFill>
                  <a:schemeClr val="bg2"/>
                </a:solidFill>
              </a:rPr>
              <a:t>Synced with Microsoft Entra ID</a:t>
            </a:r>
            <a:endParaRPr lang="en-US" sz="1500" dirty="0"/>
          </a:p>
        </p:txBody>
      </p:sp>
      <p:sp>
        <p:nvSpPr>
          <p:cNvPr id="21"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48640" y="1188720"/>
            <a:ext cx="6583680" cy="914400"/>
          </a:xfrm>
          <a:prstGeom prst="rect">
            <a:avLst/>
          </a:prstGeom>
          <a:noFill/>
          <a:ln/>
        </p:spPr>
        <p:txBody>
          <a:bodyPr wrap="square" lIns="0" tIns="0" rIns="0" bIns="0" rtlCol="0" anchor="ctr"/>
          <a:lstStyle/>
          <a:p>
            <a:pPr algn="l" indent="0" marL="0">
              <a:buNone/>
            </a:pPr>
            <a:r>
              <a:rPr lang="en-US" sz="5400" b="1" dirty="0">
                <a:solidFill>
                  <a:schemeClr val="bg1"/>
                </a:solidFill>
              </a:rPr>
              <a:t>Trade Pilot</a:t>
            </a:r>
            <a:endParaRPr lang="en-US" sz="5400" dirty="0"/>
          </a:p>
        </p:txBody>
      </p:sp>
      <p:sp>
        <p:nvSpPr>
          <p:cNvPr id="3" name="Text 1"/>
          <p:cNvSpPr/>
          <p:nvPr>
            <p:ph idx="104" type="body" hasCustomPrompt="1"/>
          </p:nvPr>
        </p:nvSpPr>
        <p:spPr>
          <a:xfrm>
            <a:off x="548640" y="2240280"/>
            <a:ext cx="6400800" cy="1188720"/>
          </a:xfrm>
          <a:prstGeom prst="rect">
            <a:avLst/>
          </a:prstGeom>
          <a:noFill/>
          <a:ln/>
        </p:spPr>
        <p:txBody>
          <a:bodyPr wrap="square" lIns="0" tIns="0" rIns="0" bIns="0" rtlCol="0" anchor="t"/>
          <a:lstStyle/>
          <a:p>
            <a:pPr indent="0" marL="0">
              <a:buNone/>
            </a:pPr>
            <a:r>
              <a:rPr lang="en-US" sz="2000" dirty="0">
                <a:solidFill>
                  <a:schemeClr val="bg2"/>
                </a:solidFill>
              </a:rPr>
              <a:t>WhatsApp orders in. AutoCount documents out.</a:t>
            </a:r>
            <a:endParaRPr lang="en-US" sz="2000" dirty="0"/>
          </a:p>
        </p:txBody>
      </p:sp>
      <p:sp>
        <p:nvSpPr>
          <p:cNvPr id="4"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TRADE PILOT</a:t>
            </a:r>
            <a:endParaRPr lang="en-US" sz="1000" dirty="0"/>
          </a:p>
        </p:txBody>
      </p:sp>
      <p:sp>
        <p:nvSpPr>
          <p:cNvPr id="5" name="WhatsApp">
            <a:extLst>
              <a:ext uri="{C183D7F6-B498-43B3-948B-1728B52AA6E4}">
                <adec:decorative xmlns:adec="http://schemas.microsoft.com/office/drawing/2017/decorative" val="1"/>
              </a:ext>
            </a:extLst>
          </p:cNvPr>
          <p:cNvSpPr/>
          <p:nvPr/>
        </p:nvSpPr>
        <p:spPr>
          <a:xfrm>
            <a:off x="548640" y="3200400"/>
            <a:ext cx="2396414" cy="1645920"/>
          </a:xfrm>
          <a:prstGeom prst="roundRect">
            <a:avLst>
              <a:gd name="adj" fmla="val 8889"/>
            </a:avLst>
          </a:prstGeom>
          <a:solidFill>
            <a:schemeClr val="tx2"/>
          </a:solidFill>
          <a:ln w="9525">
            <a:solidFill>
              <a:schemeClr val="accent2"/>
            </a:solidFill>
            <a:prstDash val="solid"/>
          </a:ln>
        </p:spPr>
      </p:sp>
      <p:sp>
        <p:nvSpPr>
          <p:cNvPr id="6" name="icon circle">
            <a:extLst>
              <a:ext uri="{C183D7F6-B498-43B3-948B-1728B52AA6E4}">
                <adec:decorative xmlns:adec="http://schemas.microsoft.com/office/drawing/2017/decorative" val="1"/>
              </a:ext>
            </a:extLst>
          </p:cNvPr>
          <p:cNvSpPr/>
          <p:nvPr/>
        </p:nvSpPr>
        <p:spPr>
          <a:xfrm>
            <a:off x="822960" y="3474720"/>
            <a:ext cx="566928" cy="566928"/>
          </a:xfrm>
          <a:prstGeom prst="ellipse">
            <a:avLst/>
          </a:prstGeom>
          <a:solidFill>
            <a:srgbClr val="0F2A20"/>
          </a:solidFill>
          <a:ln w="12700">
            <a:solidFill>
              <a:srgbClr val="1D4D3A"/>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64692" y="3616452"/>
            <a:ext cx="283464" cy="283464"/>
          </a:xfrm>
          <a:prstGeom prst="rect">
            <a:avLst/>
          </a:prstGeom>
        </p:spPr>
      </p:pic>
      <p:sp>
        <p:nvSpPr>
          <p:cNvPr id="8" name="Text 5"/>
          <p:cNvSpPr txBox="1"/>
          <p:nvPr/>
        </p:nvSpPr>
        <p:spPr>
          <a:xfrm>
            <a:off x="822960" y="4133088"/>
            <a:ext cx="1939214" cy="310896"/>
          </a:xfrm>
          <a:prstGeom prst="rect">
            <a:avLst/>
          </a:prstGeom>
          <a:noFill/>
          <a:ln/>
        </p:spPr>
        <p:txBody>
          <a:bodyPr wrap="square" lIns="0" tIns="0" rIns="0" bIns="0" rtlCol="0" anchor="t"/>
          <a:lstStyle/>
          <a:p>
            <a:pPr indent="0" marL="0">
              <a:buNone/>
            </a:pPr>
            <a:r>
              <a:rPr lang="en-US" sz="1800" b="1" dirty="0">
                <a:solidFill>
                  <a:schemeClr val="bg1"/>
                </a:solidFill>
              </a:rPr>
              <a:t>WhatsApp</a:t>
            </a:r>
            <a:endParaRPr lang="en-US" sz="1800" dirty="0"/>
          </a:p>
        </p:txBody>
      </p:sp>
      <p:sp>
        <p:nvSpPr>
          <p:cNvPr id="9" name="Text 6"/>
          <p:cNvSpPr txBox="1"/>
          <p:nvPr/>
        </p:nvSpPr>
        <p:spPr>
          <a:xfrm>
            <a:off x="822960" y="4462272"/>
            <a:ext cx="1939214" cy="274320"/>
          </a:xfrm>
          <a:prstGeom prst="rect">
            <a:avLst/>
          </a:prstGeom>
          <a:noFill/>
          <a:ln/>
        </p:spPr>
        <p:txBody>
          <a:bodyPr wrap="square" lIns="0" tIns="0" rIns="0" bIns="0" rtlCol="0" anchor="t"/>
          <a:lstStyle/>
          <a:p>
            <a:pPr indent="0" marL="0">
              <a:buNone/>
            </a:pPr>
            <a:r>
              <a:rPr lang="en-US" sz="1500" dirty="0">
                <a:solidFill>
                  <a:schemeClr val="bg2"/>
                </a:solidFill>
              </a:rPr>
              <a:t>Message or photo</a:t>
            </a:r>
            <a:endParaRPr lang="en-US" sz="1500" dirty="0"/>
          </a:p>
        </p:txBody>
      </p:sp>
      <p:pic>
        <p:nvPicPr>
          <p:cNvPr id="10"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050210" y="3877056"/>
            <a:ext cx="292608" cy="292608"/>
          </a:xfrm>
          <a:prstGeom prst="rect">
            <a:avLst/>
          </a:prstGeom>
        </p:spPr>
      </p:pic>
      <p:sp>
        <p:nvSpPr>
          <p:cNvPr id="11" name="AI agent">
            <a:extLst>
              <a:ext uri="{C183D7F6-B498-43B3-948B-1728B52AA6E4}">
                <adec:decorative xmlns:adec="http://schemas.microsoft.com/office/drawing/2017/decorative" val="1"/>
              </a:ext>
            </a:extLst>
          </p:cNvPr>
          <p:cNvSpPr/>
          <p:nvPr/>
        </p:nvSpPr>
        <p:spPr>
          <a:xfrm>
            <a:off x="3447974" y="3200400"/>
            <a:ext cx="2396414" cy="1645920"/>
          </a:xfrm>
          <a:prstGeom prst="roundRect">
            <a:avLst>
              <a:gd name="adj" fmla="val 8889"/>
            </a:avLst>
          </a:prstGeom>
          <a:solidFill>
            <a:schemeClr val="tx2"/>
          </a:solidFill>
          <a:ln w="9525">
            <a:solidFill>
              <a:schemeClr val="accent2"/>
            </a:solidFill>
            <a:prstDash val="solid"/>
          </a:ln>
          <a:effectLst>
            <a:outerShdw sx="100000" sy="100000" kx="0" ky="0" algn="bl" rotWithShape="0" blurRad="228600" dist="50800" dir="5400000">
              <a:srgbClr val="00D992">
                <a:alpha val="35000"/>
              </a:srgbClr>
            </a:outerShdw>
          </a:effectLst>
        </p:spPr>
      </p:sp>
      <p:sp>
        <p:nvSpPr>
          <p:cNvPr id="12" name="icon circle">
            <a:extLst>
              <a:ext uri="{C183D7F6-B498-43B3-948B-1728B52AA6E4}">
                <adec:decorative xmlns:adec="http://schemas.microsoft.com/office/drawing/2017/decorative" val="1"/>
              </a:ext>
            </a:extLst>
          </p:cNvPr>
          <p:cNvSpPr/>
          <p:nvPr/>
        </p:nvSpPr>
        <p:spPr>
          <a:xfrm>
            <a:off x="3722294" y="3474720"/>
            <a:ext cx="566928" cy="566928"/>
          </a:xfrm>
          <a:prstGeom prst="ellipse">
            <a:avLst/>
          </a:prstGeom>
          <a:solidFill>
            <a:srgbClr val="0F2A20"/>
          </a:solidFill>
          <a:ln w="12700">
            <a:solidFill>
              <a:srgbClr val="1D4D3A"/>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64026" y="3616452"/>
            <a:ext cx="283464" cy="283464"/>
          </a:xfrm>
          <a:prstGeom prst="rect">
            <a:avLst/>
          </a:prstGeom>
        </p:spPr>
      </p:pic>
      <p:sp>
        <p:nvSpPr>
          <p:cNvPr id="14" name="Text 9"/>
          <p:cNvSpPr txBox="1"/>
          <p:nvPr/>
        </p:nvSpPr>
        <p:spPr>
          <a:xfrm>
            <a:off x="3722294" y="4133088"/>
            <a:ext cx="1939214" cy="310896"/>
          </a:xfrm>
          <a:prstGeom prst="rect">
            <a:avLst/>
          </a:prstGeom>
          <a:noFill/>
          <a:ln/>
        </p:spPr>
        <p:txBody>
          <a:bodyPr wrap="square" lIns="0" tIns="0" rIns="0" bIns="0" rtlCol="0" anchor="t"/>
          <a:lstStyle/>
          <a:p>
            <a:pPr indent="0" marL="0">
              <a:buNone/>
            </a:pPr>
            <a:r>
              <a:rPr lang="en-US" sz="1800" b="1" dirty="0">
                <a:solidFill>
                  <a:schemeClr val="bg1"/>
                </a:solidFill>
              </a:rPr>
              <a:t>AI agent</a:t>
            </a:r>
            <a:endParaRPr lang="en-US" sz="1800" dirty="0"/>
          </a:p>
        </p:txBody>
      </p:sp>
      <p:sp>
        <p:nvSpPr>
          <p:cNvPr id="15" name="Text 10"/>
          <p:cNvSpPr txBox="1"/>
          <p:nvPr/>
        </p:nvSpPr>
        <p:spPr>
          <a:xfrm>
            <a:off x="3722294" y="4462272"/>
            <a:ext cx="1939214" cy="274320"/>
          </a:xfrm>
          <a:prstGeom prst="rect">
            <a:avLst/>
          </a:prstGeom>
          <a:noFill/>
          <a:ln/>
        </p:spPr>
        <p:txBody>
          <a:bodyPr wrap="square" lIns="0" tIns="0" rIns="0" bIns="0" rtlCol="0" anchor="t"/>
          <a:lstStyle/>
          <a:p>
            <a:pPr indent="0" marL="0">
              <a:buNone/>
            </a:pPr>
            <a:r>
              <a:rPr lang="en-US" sz="1500" dirty="0">
                <a:solidFill>
                  <a:schemeClr val="bg2"/>
                </a:solidFill>
              </a:rPr>
              <a:t>Reads the request</a:t>
            </a:r>
            <a:endParaRPr lang="en-US" sz="1500" dirty="0"/>
          </a:p>
        </p:txBody>
      </p:sp>
      <p:pic>
        <p:nvPicPr>
          <p:cNvPr id="16"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949544" y="3877056"/>
            <a:ext cx="292608" cy="292608"/>
          </a:xfrm>
          <a:prstGeom prst="rect">
            <a:avLst/>
          </a:prstGeom>
        </p:spPr>
      </p:pic>
      <p:sp>
        <p:nvSpPr>
          <p:cNvPr id="17" name="Gateway">
            <a:extLst>
              <a:ext uri="{C183D7F6-B498-43B3-948B-1728B52AA6E4}">
                <adec:decorative xmlns:adec="http://schemas.microsoft.com/office/drawing/2017/decorative" val="1"/>
              </a:ext>
            </a:extLst>
          </p:cNvPr>
          <p:cNvSpPr/>
          <p:nvPr/>
        </p:nvSpPr>
        <p:spPr>
          <a:xfrm>
            <a:off x="6347308" y="3200400"/>
            <a:ext cx="2396414" cy="1645920"/>
          </a:xfrm>
          <a:prstGeom prst="roundRect">
            <a:avLst>
              <a:gd name="adj" fmla="val 8889"/>
            </a:avLst>
          </a:prstGeom>
          <a:solidFill>
            <a:schemeClr val="tx2"/>
          </a:solidFill>
          <a:ln w="9525">
            <a:solidFill>
              <a:schemeClr val="accent2"/>
            </a:solidFill>
            <a:prstDash val="solid"/>
          </a:ln>
        </p:spPr>
      </p:sp>
      <p:sp>
        <p:nvSpPr>
          <p:cNvPr id="18" name="icon circle">
            <a:extLst>
              <a:ext uri="{C183D7F6-B498-43B3-948B-1728B52AA6E4}">
                <adec:decorative xmlns:adec="http://schemas.microsoft.com/office/drawing/2017/decorative" val="1"/>
              </a:ext>
            </a:extLst>
          </p:cNvPr>
          <p:cNvSpPr/>
          <p:nvPr/>
        </p:nvSpPr>
        <p:spPr>
          <a:xfrm>
            <a:off x="6621628" y="3474720"/>
            <a:ext cx="566928" cy="566928"/>
          </a:xfrm>
          <a:prstGeom prst="ellipse">
            <a:avLst/>
          </a:prstGeom>
          <a:solidFill>
            <a:srgbClr val="0F2A20"/>
          </a:solidFill>
          <a:ln w="12700">
            <a:solidFill>
              <a:srgbClr val="1D4D3A"/>
            </a:solidFill>
            <a:prstDash val="solid"/>
          </a:ln>
        </p:spPr>
      </p:sp>
      <p:pic>
        <p:nvPicPr>
          <p:cNvPr id="19" name="Image 4">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763360" y="3616452"/>
            <a:ext cx="283464" cy="283464"/>
          </a:xfrm>
          <a:prstGeom prst="rect">
            <a:avLst/>
          </a:prstGeom>
        </p:spPr>
      </p:pic>
      <p:sp>
        <p:nvSpPr>
          <p:cNvPr id="20" name="Text 13"/>
          <p:cNvSpPr txBox="1"/>
          <p:nvPr/>
        </p:nvSpPr>
        <p:spPr>
          <a:xfrm>
            <a:off x="6621628" y="4133088"/>
            <a:ext cx="1939214" cy="310896"/>
          </a:xfrm>
          <a:prstGeom prst="rect">
            <a:avLst/>
          </a:prstGeom>
          <a:noFill/>
          <a:ln/>
        </p:spPr>
        <p:txBody>
          <a:bodyPr wrap="square" lIns="0" tIns="0" rIns="0" bIns="0" rtlCol="0" anchor="t"/>
          <a:lstStyle/>
          <a:p>
            <a:pPr indent="0" marL="0">
              <a:buNone/>
            </a:pPr>
            <a:r>
              <a:rPr lang="en-US" sz="1800" b="1" dirty="0">
                <a:solidFill>
                  <a:schemeClr val="bg1"/>
                </a:solidFill>
              </a:rPr>
              <a:t>Gateway</a:t>
            </a:r>
            <a:endParaRPr lang="en-US" sz="1800" dirty="0"/>
          </a:p>
        </p:txBody>
      </p:sp>
      <p:sp>
        <p:nvSpPr>
          <p:cNvPr id="21" name="Text 14"/>
          <p:cNvSpPr txBox="1"/>
          <p:nvPr/>
        </p:nvSpPr>
        <p:spPr>
          <a:xfrm>
            <a:off x="6621628" y="4462272"/>
            <a:ext cx="1939214" cy="274320"/>
          </a:xfrm>
          <a:prstGeom prst="rect">
            <a:avLst/>
          </a:prstGeom>
          <a:noFill/>
          <a:ln/>
        </p:spPr>
        <p:txBody>
          <a:bodyPr wrap="square" lIns="0" tIns="0" rIns="0" bIns="0" rtlCol="0" anchor="t"/>
          <a:lstStyle/>
          <a:p>
            <a:pPr indent="0" marL="0">
              <a:buNone/>
            </a:pPr>
            <a:r>
              <a:rPr lang="en-US" sz="1500" dirty="0">
                <a:solidFill>
                  <a:schemeClr val="bg2"/>
                </a:solidFill>
              </a:rPr>
              <a:t>Checks permissions</a:t>
            </a:r>
            <a:endParaRPr lang="en-US" sz="1500" dirty="0"/>
          </a:p>
        </p:txBody>
      </p:sp>
      <p:pic>
        <p:nvPicPr>
          <p:cNvPr id="22" name="Image 5">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848877" y="3877056"/>
            <a:ext cx="292608" cy="292608"/>
          </a:xfrm>
          <a:prstGeom prst="rect">
            <a:avLst/>
          </a:prstGeom>
        </p:spPr>
      </p:pic>
      <p:sp>
        <p:nvSpPr>
          <p:cNvPr id="23" name="AutoCount">
            <a:extLst>
              <a:ext uri="{C183D7F6-B498-43B3-948B-1728B52AA6E4}">
                <adec:decorative xmlns:adec="http://schemas.microsoft.com/office/drawing/2017/decorative" val="1"/>
              </a:ext>
            </a:extLst>
          </p:cNvPr>
          <p:cNvSpPr/>
          <p:nvPr/>
        </p:nvSpPr>
        <p:spPr>
          <a:xfrm>
            <a:off x="9246641" y="3200400"/>
            <a:ext cx="2396414" cy="1645920"/>
          </a:xfrm>
          <a:prstGeom prst="roundRect">
            <a:avLst>
              <a:gd name="adj" fmla="val 8889"/>
            </a:avLst>
          </a:prstGeom>
          <a:solidFill>
            <a:schemeClr val="tx2"/>
          </a:solidFill>
          <a:ln w="9525">
            <a:solidFill>
              <a:schemeClr val="accent2"/>
            </a:solidFill>
            <a:prstDash val="solid"/>
          </a:ln>
        </p:spPr>
      </p:sp>
      <p:sp>
        <p:nvSpPr>
          <p:cNvPr id="24" name="icon circle">
            <a:extLst>
              <a:ext uri="{C183D7F6-B498-43B3-948B-1728B52AA6E4}">
                <adec:decorative xmlns:adec="http://schemas.microsoft.com/office/drawing/2017/decorative" val="1"/>
              </a:ext>
            </a:extLst>
          </p:cNvPr>
          <p:cNvSpPr/>
          <p:nvPr/>
        </p:nvSpPr>
        <p:spPr>
          <a:xfrm>
            <a:off x="9520961" y="3474720"/>
            <a:ext cx="566928" cy="566928"/>
          </a:xfrm>
          <a:prstGeom prst="ellipse">
            <a:avLst/>
          </a:prstGeom>
          <a:solidFill>
            <a:srgbClr val="0F2A20"/>
          </a:solidFill>
          <a:ln w="12700">
            <a:solidFill>
              <a:srgbClr val="1D4D3A"/>
            </a:solidFill>
            <a:prstDash val="solid"/>
          </a:ln>
        </p:spPr>
      </p:sp>
      <p:pic>
        <p:nvPicPr>
          <p:cNvPr id="25" name="Image 6">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662693" y="3616452"/>
            <a:ext cx="283464" cy="283464"/>
          </a:xfrm>
          <a:prstGeom prst="rect">
            <a:avLst/>
          </a:prstGeom>
        </p:spPr>
      </p:pic>
      <p:sp>
        <p:nvSpPr>
          <p:cNvPr id="26" name="Text 17"/>
          <p:cNvSpPr txBox="1"/>
          <p:nvPr/>
        </p:nvSpPr>
        <p:spPr>
          <a:xfrm>
            <a:off x="9520961" y="4133088"/>
            <a:ext cx="1939214" cy="310896"/>
          </a:xfrm>
          <a:prstGeom prst="rect">
            <a:avLst/>
          </a:prstGeom>
          <a:noFill/>
          <a:ln/>
        </p:spPr>
        <p:txBody>
          <a:bodyPr wrap="square" lIns="0" tIns="0" rIns="0" bIns="0" rtlCol="0" anchor="t"/>
          <a:lstStyle/>
          <a:p>
            <a:pPr indent="0" marL="0">
              <a:buNone/>
            </a:pPr>
            <a:r>
              <a:rPr lang="en-US" sz="1800" b="1" dirty="0">
                <a:solidFill>
                  <a:schemeClr val="bg1"/>
                </a:solidFill>
              </a:rPr>
              <a:t>AutoCount</a:t>
            </a:r>
            <a:endParaRPr lang="en-US" sz="1800" dirty="0"/>
          </a:p>
        </p:txBody>
      </p:sp>
      <p:sp>
        <p:nvSpPr>
          <p:cNvPr id="27" name="Text 18"/>
          <p:cNvSpPr txBox="1"/>
          <p:nvPr/>
        </p:nvSpPr>
        <p:spPr>
          <a:xfrm>
            <a:off x="9520961" y="4462272"/>
            <a:ext cx="1939214" cy="274320"/>
          </a:xfrm>
          <a:prstGeom prst="rect">
            <a:avLst/>
          </a:prstGeom>
          <a:noFill/>
          <a:ln/>
        </p:spPr>
        <p:txBody>
          <a:bodyPr wrap="square" lIns="0" tIns="0" rIns="0" bIns="0" rtlCol="0" anchor="t"/>
          <a:lstStyle/>
          <a:p>
            <a:pPr indent="0" marL="0">
              <a:buNone/>
            </a:pPr>
            <a:r>
              <a:rPr lang="en-US" sz="1500" dirty="0">
                <a:solidFill>
                  <a:schemeClr val="bg2"/>
                </a:solidFill>
              </a:rPr>
              <a:t>Records it</a:t>
            </a:r>
            <a:endParaRPr lang="en-US" sz="1500" dirty="0"/>
          </a:p>
        </p:txBody>
      </p:sp>
      <p:sp>
        <p:nvSpPr>
          <p:cNvPr id="28" name="Text 19"/>
          <p:cNvSpPr txBox="1"/>
          <p:nvPr/>
        </p:nvSpPr>
        <p:spPr>
          <a:xfrm>
            <a:off x="548640" y="5303520"/>
            <a:ext cx="11094415" cy="457200"/>
          </a:xfrm>
          <a:prstGeom prst="rect">
            <a:avLst/>
          </a:prstGeom>
          <a:noFill/>
          <a:ln/>
        </p:spPr>
        <p:txBody>
          <a:bodyPr wrap="square" lIns="0" tIns="0" rIns="0" bIns="0" rtlCol="0" anchor="t"/>
          <a:lstStyle/>
          <a:p>
            <a:pPr indent="0" marL="0">
              <a:buNone/>
            </a:pPr>
            <a:r>
              <a:rPr lang="en-US" sz="2200" dirty="0">
                <a:solidFill>
                  <a:schemeClr val="bg2"/>
                </a:solidFill>
              </a:rPr>
              <a:t>Not a chat. </a:t>
            </a:r>
            <a:pPr indent="0" marL="0">
              <a:buNone/>
            </a:pPr>
            <a:r>
              <a:rPr lang="en-US" sz="2200" b="1" dirty="0">
                <a:solidFill>
                  <a:schemeClr val="accent1"/>
                </a:solidFill>
              </a:rPr>
              <a:t>A completed action.</a:t>
            </a:r>
            <a:endParaRPr lang="en-US" sz="22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One photo to receive goods</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TRADE PILOT</a:t>
            </a:r>
            <a:endParaRPr lang="en-US" sz="1000" dirty="0"/>
          </a:p>
        </p:txBody>
      </p:sp>
      <p:sp>
        <p:nvSpPr>
          <p:cNvPr id="4" name="receiving Send">
            <a:extLst>
              <a:ext uri="{C183D7F6-B498-43B3-948B-1728B52AA6E4}">
                <adec:decorative xmlns:adec="http://schemas.microsoft.com/office/drawing/2017/decorative" val="1"/>
              </a:ext>
            </a:extLst>
          </p:cNvPr>
          <p:cNvSpPr/>
          <p:nvPr/>
        </p:nvSpPr>
        <p:spPr>
          <a:xfrm>
            <a:off x="548640" y="2011680"/>
            <a:ext cx="1984797" cy="2194560"/>
          </a:xfrm>
          <a:prstGeom prst="roundRect">
            <a:avLst>
              <a:gd name="adj" fmla="val 7371"/>
            </a:avLst>
          </a:prstGeom>
          <a:solidFill>
            <a:schemeClr val="tx2"/>
          </a:solidFill>
          <a:ln w="9525">
            <a:solidFill>
              <a:schemeClr val="accent2"/>
            </a:solidFill>
            <a:prstDash val="solid"/>
          </a:ln>
        </p:spPr>
      </p:sp>
      <p:sp>
        <p:nvSpPr>
          <p:cNvPr id="5" name="Text 3"/>
          <p:cNvSpPr txBox="1"/>
          <p:nvPr/>
        </p:nvSpPr>
        <p:spPr>
          <a:xfrm>
            <a:off x="777240" y="2240280"/>
            <a:ext cx="5486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01</a:t>
            </a:r>
            <a:endParaRPr lang="en-US" sz="1200" dirty="0"/>
          </a:p>
        </p:txBody>
      </p:sp>
      <p:sp>
        <p:nvSpPr>
          <p:cNvPr id="6" name="icon circle">
            <a:extLst>
              <a:ext uri="{C183D7F6-B498-43B3-948B-1728B52AA6E4}">
                <adec:decorative xmlns:adec="http://schemas.microsoft.com/office/drawing/2017/decorative" val="1"/>
              </a:ext>
            </a:extLst>
          </p:cNvPr>
          <p:cNvSpPr/>
          <p:nvPr/>
        </p:nvSpPr>
        <p:spPr>
          <a:xfrm>
            <a:off x="1756197" y="2212848"/>
            <a:ext cx="548640" cy="548640"/>
          </a:xfrm>
          <a:prstGeom prst="ellipse">
            <a:avLst/>
          </a:prstGeom>
          <a:solidFill>
            <a:srgbClr val="0F2A20"/>
          </a:solidFill>
          <a:ln w="12700">
            <a:solidFill>
              <a:srgbClr val="1D4D3A"/>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893357" y="2350008"/>
            <a:ext cx="274320" cy="274320"/>
          </a:xfrm>
          <a:prstGeom prst="rect">
            <a:avLst/>
          </a:prstGeom>
        </p:spPr>
      </p:pic>
      <p:sp>
        <p:nvSpPr>
          <p:cNvPr id="8" name="Text 5"/>
          <p:cNvSpPr txBox="1"/>
          <p:nvPr/>
        </p:nvSpPr>
        <p:spPr>
          <a:xfrm>
            <a:off x="777240" y="3017520"/>
            <a:ext cx="1527597" cy="365760"/>
          </a:xfrm>
          <a:prstGeom prst="rect">
            <a:avLst/>
          </a:prstGeom>
          <a:noFill/>
          <a:ln/>
        </p:spPr>
        <p:txBody>
          <a:bodyPr wrap="square" lIns="0" tIns="0" rIns="0" bIns="0" rtlCol="0" anchor="t"/>
          <a:lstStyle/>
          <a:p>
            <a:pPr indent="0" marL="0">
              <a:buNone/>
            </a:pPr>
            <a:r>
              <a:rPr lang="en-US" sz="2000" b="1" dirty="0">
                <a:solidFill>
                  <a:schemeClr val="bg1"/>
                </a:solidFill>
              </a:rPr>
              <a:t>Send</a:t>
            </a:r>
            <a:endParaRPr lang="en-US" sz="2000" dirty="0"/>
          </a:p>
        </p:txBody>
      </p:sp>
      <p:sp>
        <p:nvSpPr>
          <p:cNvPr id="9" name="Text 6"/>
          <p:cNvSpPr txBox="1"/>
          <p:nvPr/>
        </p:nvSpPr>
        <p:spPr>
          <a:xfrm>
            <a:off x="777240" y="3429000"/>
            <a:ext cx="1527597" cy="548640"/>
          </a:xfrm>
          <a:prstGeom prst="rect">
            <a:avLst/>
          </a:prstGeom>
          <a:noFill/>
          <a:ln/>
        </p:spPr>
        <p:txBody>
          <a:bodyPr wrap="square" lIns="0" tIns="0" rIns="0" bIns="0" rtlCol="0" anchor="t"/>
          <a:lstStyle/>
          <a:p>
            <a:pPr indent="0" marL="0">
              <a:buNone/>
            </a:pPr>
            <a:r>
              <a:rPr lang="en-US" sz="1500" dirty="0">
                <a:solidFill>
                  <a:schemeClr val="bg2"/>
                </a:solidFill>
              </a:rPr>
              <a:t>Photo of PO or DO</a:t>
            </a:r>
            <a:endParaRPr lang="en-US" sz="1500" dirty="0"/>
          </a:p>
        </p:txBody>
      </p:sp>
      <p:pic>
        <p:nvPicPr>
          <p:cNvPr id="10"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0013" y="2999232"/>
            <a:ext cx="219456" cy="219456"/>
          </a:xfrm>
          <a:prstGeom prst="rect">
            <a:avLst/>
          </a:prstGeom>
        </p:spPr>
      </p:pic>
      <p:sp>
        <p:nvSpPr>
          <p:cNvPr id="11" name="receiving Read">
            <a:extLst>
              <a:ext uri="{C183D7F6-B498-43B3-948B-1728B52AA6E4}">
                <adec:decorative xmlns:adec="http://schemas.microsoft.com/office/drawing/2017/decorative" val="1"/>
              </a:ext>
            </a:extLst>
          </p:cNvPr>
          <p:cNvSpPr/>
          <p:nvPr/>
        </p:nvSpPr>
        <p:spPr>
          <a:xfrm>
            <a:off x="2826045" y="2011680"/>
            <a:ext cx="1984797" cy="2194560"/>
          </a:xfrm>
          <a:prstGeom prst="roundRect">
            <a:avLst>
              <a:gd name="adj" fmla="val 7371"/>
            </a:avLst>
          </a:prstGeom>
          <a:solidFill>
            <a:schemeClr val="tx2"/>
          </a:solidFill>
          <a:ln w="9525">
            <a:solidFill>
              <a:schemeClr val="accent2"/>
            </a:solidFill>
            <a:prstDash val="solid"/>
          </a:ln>
        </p:spPr>
      </p:sp>
      <p:sp>
        <p:nvSpPr>
          <p:cNvPr id="12" name="Text 8"/>
          <p:cNvSpPr txBox="1"/>
          <p:nvPr/>
        </p:nvSpPr>
        <p:spPr>
          <a:xfrm>
            <a:off x="3054645" y="2240280"/>
            <a:ext cx="5486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02</a:t>
            </a:r>
            <a:endParaRPr lang="en-US" sz="1200" dirty="0"/>
          </a:p>
        </p:txBody>
      </p:sp>
      <p:sp>
        <p:nvSpPr>
          <p:cNvPr id="13" name="icon circle">
            <a:extLst>
              <a:ext uri="{C183D7F6-B498-43B3-948B-1728B52AA6E4}">
                <adec:decorative xmlns:adec="http://schemas.microsoft.com/office/drawing/2017/decorative" val="1"/>
              </a:ext>
            </a:extLst>
          </p:cNvPr>
          <p:cNvSpPr/>
          <p:nvPr/>
        </p:nvSpPr>
        <p:spPr>
          <a:xfrm>
            <a:off x="4033601" y="2212848"/>
            <a:ext cx="548640" cy="548640"/>
          </a:xfrm>
          <a:prstGeom prst="ellipse">
            <a:avLst/>
          </a:prstGeom>
          <a:solidFill>
            <a:srgbClr val="0F2A20"/>
          </a:solidFill>
          <a:ln w="12700">
            <a:solidFill>
              <a:srgbClr val="1D4D3A"/>
            </a:solidFill>
            <a:prstDash val="solid"/>
          </a:ln>
        </p:spPr>
      </p:sp>
      <p:pic>
        <p:nvPicPr>
          <p:cNvPr id="14"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170761" y="2350008"/>
            <a:ext cx="274320" cy="274320"/>
          </a:xfrm>
          <a:prstGeom prst="rect">
            <a:avLst/>
          </a:prstGeom>
        </p:spPr>
      </p:pic>
      <p:sp>
        <p:nvSpPr>
          <p:cNvPr id="15" name="Text 10"/>
          <p:cNvSpPr txBox="1"/>
          <p:nvPr/>
        </p:nvSpPr>
        <p:spPr>
          <a:xfrm>
            <a:off x="3054645" y="3017520"/>
            <a:ext cx="1527597" cy="365760"/>
          </a:xfrm>
          <a:prstGeom prst="rect">
            <a:avLst/>
          </a:prstGeom>
          <a:noFill/>
          <a:ln/>
        </p:spPr>
        <p:txBody>
          <a:bodyPr wrap="square" lIns="0" tIns="0" rIns="0" bIns="0" rtlCol="0" anchor="t"/>
          <a:lstStyle/>
          <a:p>
            <a:pPr indent="0" marL="0">
              <a:buNone/>
            </a:pPr>
            <a:r>
              <a:rPr lang="en-US" sz="2000" b="1" dirty="0">
                <a:solidFill>
                  <a:schemeClr val="bg1"/>
                </a:solidFill>
              </a:rPr>
              <a:t>Read</a:t>
            </a:r>
            <a:endParaRPr lang="en-US" sz="2000" dirty="0"/>
          </a:p>
        </p:txBody>
      </p:sp>
      <p:sp>
        <p:nvSpPr>
          <p:cNvPr id="16" name="Text 11"/>
          <p:cNvSpPr txBox="1"/>
          <p:nvPr/>
        </p:nvSpPr>
        <p:spPr>
          <a:xfrm>
            <a:off x="3054645" y="3429000"/>
            <a:ext cx="1527597" cy="548640"/>
          </a:xfrm>
          <a:prstGeom prst="rect">
            <a:avLst/>
          </a:prstGeom>
          <a:noFill/>
          <a:ln/>
        </p:spPr>
        <p:txBody>
          <a:bodyPr wrap="square" lIns="0" tIns="0" rIns="0" bIns="0" rtlCol="0" anchor="t"/>
          <a:lstStyle/>
          <a:p>
            <a:pPr indent="0" marL="0">
              <a:buNone/>
            </a:pPr>
            <a:r>
              <a:rPr lang="en-US" sz="1500" dirty="0">
                <a:solidFill>
                  <a:schemeClr val="bg2"/>
                </a:solidFill>
              </a:rPr>
              <a:t>AI extracts items</a:t>
            </a:r>
            <a:endParaRPr lang="en-US" sz="1500" dirty="0"/>
          </a:p>
        </p:txBody>
      </p:sp>
      <p:pic>
        <p:nvPicPr>
          <p:cNvPr id="17"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47417" y="2999232"/>
            <a:ext cx="219456" cy="219456"/>
          </a:xfrm>
          <a:prstGeom prst="rect">
            <a:avLst/>
          </a:prstGeom>
        </p:spPr>
      </p:pic>
      <p:sp>
        <p:nvSpPr>
          <p:cNvPr id="18" name="receiving Check">
            <a:extLst>
              <a:ext uri="{C183D7F6-B498-43B3-948B-1728B52AA6E4}">
                <adec:decorative xmlns:adec="http://schemas.microsoft.com/office/drawing/2017/decorative" val="1"/>
              </a:ext>
            </a:extLst>
          </p:cNvPr>
          <p:cNvSpPr/>
          <p:nvPr/>
        </p:nvSpPr>
        <p:spPr>
          <a:xfrm>
            <a:off x="5103449" y="2011680"/>
            <a:ext cx="1984797" cy="2194560"/>
          </a:xfrm>
          <a:prstGeom prst="roundRect">
            <a:avLst>
              <a:gd name="adj" fmla="val 7371"/>
            </a:avLst>
          </a:prstGeom>
          <a:solidFill>
            <a:srgbClr val="0F2A20"/>
          </a:solidFill>
          <a:ln w="9525">
            <a:solidFill>
              <a:schemeClr val="accent1"/>
            </a:solidFill>
            <a:prstDash val="solid"/>
          </a:ln>
          <a:effectLst>
            <a:outerShdw sx="100000" sy="100000" kx="0" ky="0" algn="bl" rotWithShape="0" blurRad="228600" dist="50800" dir="5400000">
              <a:srgbClr val="00D992">
                <a:alpha val="35000"/>
              </a:srgbClr>
            </a:outerShdw>
          </a:effectLst>
        </p:spPr>
      </p:sp>
      <p:sp>
        <p:nvSpPr>
          <p:cNvPr id="19" name="Text 13"/>
          <p:cNvSpPr txBox="1"/>
          <p:nvPr/>
        </p:nvSpPr>
        <p:spPr>
          <a:xfrm>
            <a:off x="5332049" y="2240280"/>
            <a:ext cx="548640"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03</a:t>
            </a:r>
            <a:endParaRPr lang="en-US" sz="1200" dirty="0"/>
          </a:p>
        </p:txBody>
      </p:sp>
      <p:sp>
        <p:nvSpPr>
          <p:cNvPr id="20" name="icon circle">
            <a:extLst>
              <a:ext uri="{C183D7F6-B498-43B3-948B-1728B52AA6E4}">
                <adec:decorative xmlns:adec="http://schemas.microsoft.com/office/drawing/2017/decorative" val="1"/>
              </a:ext>
            </a:extLst>
          </p:cNvPr>
          <p:cNvSpPr/>
          <p:nvPr/>
        </p:nvSpPr>
        <p:spPr>
          <a:xfrm>
            <a:off x="6311006" y="2212848"/>
            <a:ext cx="548640" cy="548640"/>
          </a:xfrm>
          <a:prstGeom prst="ellipse">
            <a:avLst/>
          </a:prstGeom>
          <a:solidFill>
            <a:srgbClr val="0F2A20"/>
          </a:solidFill>
          <a:ln w="12700">
            <a:solidFill>
              <a:srgbClr val="1D4D3A"/>
            </a:solidFill>
            <a:prstDash val="solid"/>
          </a:ln>
        </p:spPr>
      </p:sp>
      <p:pic>
        <p:nvPicPr>
          <p:cNvPr id="21" name="Image 4">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448166" y="2350008"/>
            <a:ext cx="274320" cy="274320"/>
          </a:xfrm>
          <a:prstGeom prst="rect">
            <a:avLst/>
          </a:prstGeom>
        </p:spPr>
      </p:pic>
      <p:sp>
        <p:nvSpPr>
          <p:cNvPr id="22" name="Text 15"/>
          <p:cNvSpPr txBox="1"/>
          <p:nvPr/>
        </p:nvSpPr>
        <p:spPr>
          <a:xfrm>
            <a:off x="5332049" y="3017520"/>
            <a:ext cx="1527597" cy="365760"/>
          </a:xfrm>
          <a:prstGeom prst="rect">
            <a:avLst/>
          </a:prstGeom>
          <a:noFill/>
          <a:ln/>
        </p:spPr>
        <p:txBody>
          <a:bodyPr wrap="square" lIns="0" tIns="0" rIns="0" bIns="0" rtlCol="0" anchor="t"/>
          <a:lstStyle/>
          <a:p>
            <a:pPr indent="0" marL="0">
              <a:buNone/>
            </a:pPr>
            <a:r>
              <a:rPr lang="en-US" sz="2000" b="1" dirty="0">
                <a:solidFill>
                  <a:srgbClr val="C9F5E4"/>
                </a:solidFill>
              </a:rPr>
              <a:t>Check</a:t>
            </a:r>
            <a:endParaRPr lang="en-US" sz="2000" dirty="0"/>
          </a:p>
        </p:txBody>
      </p:sp>
      <p:sp>
        <p:nvSpPr>
          <p:cNvPr id="23" name="Text 16"/>
          <p:cNvSpPr txBox="1"/>
          <p:nvPr/>
        </p:nvSpPr>
        <p:spPr>
          <a:xfrm>
            <a:off x="5332049" y="3429000"/>
            <a:ext cx="1527597" cy="548640"/>
          </a:xfrm>
          <a:prstGeom prst="rect">
            <a:avLst/>
          </a:prstGeom>
          <a:noFill/>
          <a:ln/>
        </p:spPr>
        <p:txBody>
          <a:bodyPr wrap="square" lIns="0" tIns="0" rIns="0" bIns="0" rtlCol="0" anchor="t"/>
          <a:lstStyle/>
          <a:p>
            <a:pPr indent="0" marL="0">
              <a:buNone/>
            </a:pPr>
            <a:r>
              <a:rPr lang="en-US" sz="1500" dirty="0">
                <a:solidFill>
                  <a:schemeClr val="bg2"/>
                </a:solidFill>
              </a:rPr>
              <a:t>Staff confirm</a:t>
            </a:r>
            <a:endParaRPr lang="en-US" sz="1500" dirty="0"/>
          </a:p>
        </p:txBody>
      </p:sp>
      <p:pic>
        <p:nvPicPr>
          <p:cNvPr id="24" name="Image 5">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124822" y="2999232"/>
            <a:ext cx="219456" cy="219456"/>
          </a:xfrm>
          <a:prstGeom prst="rect">
            <a:avLst/>
          </a:prstGeom>
        </p:spPr>
      </p:pic>
      <p:sp>
        <p:nvSpPr>
          <p:cNvPr id="25" name="receiving Control">
            <a:extLst>
              <a:ext uri="{C183D7F6-B498-43B3-948B-1728B52AA6E4}">
                <adec:decorative xmlns:adec="http://schemas.microsoft.com/office/drawing/2017/decorative" val="1"/>
              </a:ext>
            </a:extLst>
          </p:cNvPr>
          <p:cNvSpPr/>
          <p:nvPr/>
        </p:nvSpPr>
        <p:spPr>
          <a:xfrm>
            <a:off x="7380854" y="2011680"/>
            <a:ext cx="1984797" cy="2194560"/>
          </a:xfrm>
          <a:prstGeom prst="roundRect">
            <a:avLst>
              <a:gd name="adj" fmla="val 7371"/>
            </a:avLst>
          </a:prstGeom>
          <a:solidFill>
            <a:schemeClr val="tx2"/>
          </a:solidFill>
          <a:ln w="9525">
            <a:solidFill>
              <a:schemeClr val="accent2"/>
            </a:solidFill>
            <a:prstDash val="solid"/>
          </a:ln>
        </p:spPr>
      </p:sp>
      <p:sp>
        <p:nvSpPr>
          <p:cNvPr id="26" name="Text 18"/>
          <p:cNvSpPr txBox="1"/>
          <p:nvPr/>
        </p:nvSpPr>
        <p:spPr>
          <a:xfrm>
            <a:off x="7609454" y="2240280"/>
            <a:ext cx="5486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04</a:t>
            </a:r>
            <a:endParaRPr lang="en-US" sz="1200" dirty="0"/>
          </a:p>
        </p:txBody>
      </p:sp>
      <p:sp>
        <p:nvSpPr>
          <p:cNvPr id="27" name="icon circle">
            <a:extLst>
              <a:ext uri="{C183D7F6-B498-43B3-948B-1728B52AA6E4}">
                <adec:decorative xmlns:adec="http://schemas.microsoft.com/office/drawing/2017/decorative" val="1"/>
              </a:ext>
            </a:extLst>
          </p:cNvPr>
          <p:cNvSpPr/>
          <p:nvPr/>
        </p:nvSpPr>
        <p:spPr>
          <a:xfrm>
            <a:off x="8588411" y="2212848"/>
            <a:ext cx="548640" cy="548640"/>
          </a:xfrm>
          <a:prstGeom prst="ellipse">
            <a:avLst/>
          </a:prstGeom>
          <a:solidFill>
            <a:srgbClr val="0F2A20"/>
          </a:solidFill>
          <a:ln w="12700">
            <a:solidFill>
              <a:srgbClr val="1D4D3A"/>
            </a:solidFill>
            <a:prstDash val="solid"/>
          </a:ln>
        </p:spPr>
      </p:sp>
      <p:pic>
        <p:nvPicPr>
          <p:cNvPr id="28" name="Image 6">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725571" y="2350008"/>
            <a:ext cx="274320" cy="274320"/>
          </a:xfrm>
          <a:prstGeom prst="rect">
            <a:avLst/>
          </a:prstGeom>
        </p:spPr>
      </p:pic>
      <p:sp>
        <p:nvSpPr>
          <p:cNvPr id="29" name="Text 20"/>
          <p:cNvSpPr txBox="1"/>
          <p:nvPr/>
        </p:nvSpPr>
        <p:spPr>
          <a:xfrm>
            <a:off x="7609454" y="3017520"/>
            <a:ext cx="1527597" cy="365760"/>
          </a:xfrm>
          <a:prstGeom prst="rect">
            <a:avLst/>
          </a:prstGeom>
          <a:noFill/>
          <a:ln/>
        </p:spPr>
        <p:txBody>
          <a:bodyPr wrap="square" lIns="0" tIns="0" rIns="0" bIns="0" rtlCol="0" anchor="t"/>
          <a:lstStyle/>
          <a:p>
            <a:pPr indent="0" marL="0">
              <a:buNone/>
            </a:pPr>
            <a:r>
              <a:rPr lang="en-US" sz="2000" b="1" dirty="0">
                <a:solidFill>
                  <a:schemeClr val="bg1"/>
                </a:solidFill>
              </a:rPr>
              <a:t>Control</a:t>
            </a:r>
            <a:endParaRPr lang="en-US" sz="2000" dirty="0"/>
          </a:p>
        </p:txBody>
      </p:sp>
      <p:sp>
        <p:nvSpPr>
          <p:cNvPr id="30" name="Text 21"/>
          <p:cNvSpPr txBox="1"/>
          <p:nvPr/>
        </p:nvSpPr>
        <p:spPr>
          <a:xfrm>
            <a:off x="7609454" y="3429000"/>
            <a:ext cx="1527597" cy="548640"/>
          </a:xfrm>
          <a:prstGeom prst="rect">
            <a:avLst/>
          </a:prstGeom>
          <a:noFill/>
          <a:ln/>
        </p:spPr>
        <p:txBody>
          <a:bodyPr wrap="square" lIns="0" tIns="0" rIns="0" bIns="0" rtlCol="0" anchor="t"/>
          <a:lstStyle/>
          <a:p>
            <a:pPr indent="0" marL="0">
              <a:buNone/>
            </a:pPr>
            <a:r>
              <a:rPr lang="en-US" sz="1500" dirty="0">
                <a:solidFill>
                  <a:schemeClr val="bg2"/>
                </a:solidFill>
              </a:rPr>
              <a:t>Access checked</a:t>
            </a:r>
            <a:endParaRPr lang="en-US" sz="1500" dirty="0"/>
          </a:p>
        </p:txBody>
      </p:sp>
      <p:pic>
        <p:nvPicPr>
          <p:cNvPr id="31" name="Image 7">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402227" y="2999232"/>
            <a:ext cx="219456" cy="219456"/>
          </a:xfrm>
          <a:prstGeom prst="rect">
            <a:avLst/>
          </a:prstGeom>
        </p:spPr>
      </p:pic>
      <p:sp>
        <p:nvSpPr>
          <p:cNvPr id="32" name="receiving Record">
            <a:extLst>
              <a:ext uri="{C183D7F6-B498-43B3-948B-1728B52AA6E4}">
                <adec:decorative xmlns:adec="http://schemas.microsoft.com/office/drawing/2017/decorative" val="1"/>
              </a:ext>
            </a:extLst>
          </p:cNvPr>
          <p:cNvSpPr/>
          <p:nvPr/>
        </p:nvSpPr>
        <p:spPr>
          <a:xfrm>
            <a:off x="9658259" y="2011680"/>
            <a:ext cx="1984797" cy="2194560"/>
          </a:xfrm>
          <a:prstGeom prst="roundRect">
            <a:avLst>
              <a:gd name="adj" fmla="val 7371"/>
            </a:avLst>
          </a:prstGeom>
          <a:solidFill>
            <a:schemeClr val="tx2"/>
          </a:solidFill>
          <a:ln w="9525">
            <a:solidFill>
              <a:schemeClr val="accent2"/>
            </a:solidFill>
            <a:prstDash val="solid"/>
          </a:ln>
        </p:spPr>
      </p:sp>
      <p:sp>
        <p:nvSpPr>
          <p:cNvPr id="33" name="Text 23"/>
          <p:cNvSpPr txBox="1"/>
          <p:nvPr/>
        </p:nvSpPr>
        <p:spPr>
          <a:xfrm>
            <a:off x="9886859" y="2240280"/>
            <a:ext cx="5486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05</a:t>
            </a:r>
            <a:endParaRPr lang="en-US" sz="1200" dirty="0"/>
          </a:p>
        </p:txBody>
      </p:sp>
      <p:sp>
        <p:nvSpPr>
          <p:cNvPr id="34" name="icon circle">
            <a:extLst>
              <a:ext uri="{C183D7F6-B498-43B3-948B-1728B52AA6E4}">
                <adec:decorative xmlns:adec="http://schemas.microsoft.com/office/drawing/2017/decorative" val="1"/>
              </a:ext>
            </a:extLst>
          </p:cNvPr>
          <p:cNvSpPr/>
          <p:nvPr/>
        </p:nvSpPr>
        <p:spPr>
          <a:xfrm>
            <a:off x="10865815" y="2212848"/>
            <a:ext cx="548640" cy="548640"/>
          </a:xfrm>
          <a:prstGeom prst="ellipse">
            <a:avLst/>
          </a:prstGeom>
          <a:solidFill>
            <a:srgbClr val="0F2A20"/>
          </a:solidFill>
          <a:ln w="12700">
            <a:solidFill>
              <a:srgbClr val="1D4D3A"/>
            </a:solidFill>
            <a:prstDash val="solid"/>
          </a:ln>
        </p:spPr>
      </p:sp>
      <p:pic>
        <p:nvPicPr>
          <p:cNvPr id="35" name="Image 8">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1002975" y="2350008"/>
            <a:ext cx="274320" cy="274320"/>
          </a:xfrm>
          <a:prstGeom prst="rect">
            <a:avLst/>
          </a:prstGeom>
        </p:spPr>
      </p:pic>
      <p:sp>
        <p:nvSpPr>
          <p:cNvPr id="36" name="Text 25"/>
          <p:cNvSpPr txBox="1"/>
          <p:nvPr/>
        </p:nvSpPr>
        <p:spPr>
          <a:xfrm>
            <a:off x="9886859" y="3017520"/>
            <a:ext cx="1527597" cy="365760"/>
          </a:xfrm>
          <a:prstGeom prst="rect">
            <a:avLst/>
          </a:prstGeom>
          <a:noFill/>
          <a:ln/>
        </p:spPr>
        <p:txBody>
          <a:bodyPr wrap="square" lIns="0" tIns="0" rIns="0" bIns="0" rtlCol="0" anchor="t"/>
          <a:lstStyle/>
          <a:p>
            <a:pPr indent="0" marL="0">
              <a:buNone/>
            </a:pPr>
            <a:r>
              <a:rPr lang="en-US" sz="2000" b="1" dirty="0">
                <a:solidFill>
                  <a:schemeClr val="bg1"/>
                </a:solidFill>
              </a:rPr>
              <a:t>Record</a:t>
            </a:r>
            <a:endParaRPr lang="en-US" sz="2000" dirty="0"/>
          </a:p>
        </p:txBody>
      </p:sp>
      <p:sp>
        <p:nvSpPr>
          <p:cNvPr id="37" name="Text 26"/>
          <p:cNvSpPr txBox="1"/>
          <p:nvPr/>
        </p:nvSpPr>
        <p:spPr>
          <a:xfrm>
            <a:off x="9886859" y="3429000"/>
            <a:ext cx="1527597" cy="548640"/>
          </a:xfrm>
          <a:prstGeom prst="rect">
            <a:avLst/>
          </a:prstGeom>
          <a:noFill/>
          <a:ln/>
        </p:spPr>
        <p:txBody>
          <a:bodyPr wrap="square" lIns="0" tIns="0" rIns="0" bIns="0" rtlCol="0" anchor="t"/>
          <a:lstStyle/>
          <a:p>
            <a:pPr indent="0" marL="0">
              <a:buNone/>
            </a:pPr>
            <a:r>
              <a:rPr lang="en-US" sz="1500" dirty="0">
                <a:solidFill>
                  <a:schemeClr val="bg2"/>
                </a:solidFill>
              </a:rPr>
              <a:t>AutoCount updated</a:t>
            </a:r>
            <a:endParaRPr lang="en-US" sz="1500" dirty="0"/>
          </a:p>
        </p:txBody>
      </p:sp>
      <p:sp>
        <p:nvSpPr>
          <p:cNvPr id="38" name="Text 27"/>
          <p:cNvSpPr txBox="1"/>
          <p:nvPr/>
        </p:nvSpPr>
        <p:spPr>
          <a:xfrm>
            <a:off x="5103449" y="4343400"/>
            <a:ext cx="198479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HUMAN CHECKPOINT</a:t>
            </a:r>
            <a:endParaRPr lang="en-US" sz="1200" dirty="0"/>
          </a:p>
        </p:txBody>
      </p:sp>
      <p:sp>
        <p:nvSpPr>
          <p:cNvPr id="39" name="Text 28"/>
          <p:cNvSpPr txBox="1"/>
          <p:nvPr/>
        </p:nvSpPr>
        <p:spPr>
          <a:xfrm>
            <a:off x="548640" y="5120640"/>
            <a:ext cx="11094415" cy="457200"/>
          </a:xfrm>
          <a:prstGeom prst="rect">
            <a:avLst/>
          </a:prstGeom>
          <a:noFill/>
          <a:ln/>
        </p:spPr>
        <p:txBody>
          <a:bodyPr wrap="square" lIns="0" tIns="0" rIns="0" bIns="0" rtlCol="0" anchor="t"/>
          <a:lstStyle/>
          <a:p>
            <a:pPr indent="0" marL="0">
              <a:buNone/>
            </a:pPr>
            <a:r>
              <a:rPr lang="en-US" sz="2000" b="1" dirty="0">
                <a:solidFill>
                  <a:schemeClr val="bg1"/>
                </a:solidFill>
              </a:rPr>
              <a:t>Nothing posts </a:t>
            </a:r>
            <a:pPr indent="0" marL="0">
              <a:buNone/>
            </a:pPr>
            <a:r>
              <a:rPr lang="en-US" sz="2000" dirty="0">
                <a:solidFill>
                  <a:schemeClr val="bg2"/>
                </a:solidFill>
              </a:rPr>
              <a:t>without a person’s OK.</a:t>
            </a:r>
            <a:endParaRPr lang="en-US" sz="2000" dirty="0"/>
          </a:p>
        </p:txBody>
      </p:sp>
      <p:sp>
        <p:nvSpPr>
          <p:cNvPr id="41"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Payments that close the loop</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TRADE PILOT</a:t>
            </a:r>
            <a:endParaRPr lang="en-US" sz="1000" dirty="0"/>
          </a:p>
        </p:txBody>
      </p:sp>
      <p:sp>
        <p:nvSpPr>
          <p:cNvPr id="4" name="Shape 2">
            <a:extLst>
              <a:ext uri="{C183D7F6-B498-43B3-948B-1728B52AA6E4}">
                <adec:decorative xmlns:adec="http://schemas.microsoft.com/office/drawing/2017/decorative" val="1"/>
              </a:ext>
            </a:extLst>
          </p:cNvPr>
          <p:cNvSpPr/>
          <p:nvPr/>
        </p:nvSpPr>
        <p:spPr>
          <a:xfrm>
            <a:off x="822960" y="2194560"/>
            <a:ext cx="914" cy="2999232"/>
          </a:xfrm>
          <a:prstGeom prst="line">
            <a:avLst/>
          </a:prstGeom>
          <a:noFill/>
          <a:ln w="15875">
            <a:solidFill>
              <a:schemeClr val="accent1"/>
            </a:solidFill>
            <a:prstDash val="solid"/>
          </a:ln>
        </p:spPr>
      </p:sp>
      <p:sp>
        <p:nvSpPr>
          <p:cNvPr id="5" name="Shape 3">
            <a:extLst>
              <a:ext uri="{C183D7F6-B498-43B3-948B-1728B52AA6E4}">
                <adec:decorative xmlns:adec="http://schemas.microsoft.com/office/drawing/2017/decorative" val="1"/>
              </a:ext>
            </a:extLst>
          </p:cNvPr>
          <p:cNvSpPr/>
          <p:nvPr/>
        </p:nvSpPr>
        <p:spPr>
          <a:xfrm>
            <a:off x="548640" y="1920240"/>
            <a:ext cx="548640" cy="548640"/>
          </a:xfrm>
          <a:prstGeom prst="ellipse">
            <a:avLst/>
          </a:prstGeom>
          <a:solidFill>
            <a:srgbClr val="09090B"/>
          </a:solidFill>
          <a:ln w="19050">
            <a:solidFill>
              <a:schemeClr val="accent1"/>
            </a:solidFill>
            <a:prstDash val="solid"/>
          </a:ln>
        </p:spPr>
      </p:sp>
      <p:sp>
        <p:nvSpPr>
          <p:cNvPr id="6" name="Text 4"/>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371600" y="1938528"/>
            <a:ext cx="1554480" cy="512064"/>
          </a:xfrm>
          <a:prstGeom prst="rect">
            <a:avLst/>
          </a:prstGeom>
          <a:noFill/>
          <a:ln/>
        </p:spPr>
        <p:txBody>
          <a:bodyPr wrap="square" lIns="0" tIns="0" rIns="0" bIns="0" rtlCol="0" anchor="ctr"/>
          <a:lstStyle/>
          <a:p>
            <a:pPr indent="0" marL="0">
              <a:buNone/>
            </a:pPr>
            <a:r>
              <a:rPr lang="en-US" sz="1800" b="1" dirty="0">
                <a:solidFill>
                  <a:schemeClr val="bg1"/>
                </a:solidFill>
              </a:rPr>
              <a:t>Invoice</a:t>
            </a:r>
            <a:endParaRPr lang="en-US" sz="1800" dirty="0"/>
          </a:p>
        </p:txBody>
      </p:sp>
      <p:sp>
        <p:nvSpPr>
          <p:cNvPr id="8" name="Text 6"/>
          <p:cNvSpPr txBox="1"/>
          <p:nvPr/>
        </p:nvSpPr>
        <p:spPr>
          <a:xfrm>
            <a:off x="2971800" y="1938528"/>
            <a:ext cx="3977640" cy="512064"/>
          </a:xfrm>
          <a:prstGeom prst="rect">
            <a:avLst/>
          </a:prstGeom>
          <a:noFill/>
          <a:ln/>
        </p:spPr>
        <p:txBody>
          <a:bodyPr wrap="square" lIns="0" tIns="0" rIns="0" bIns="0" rtlCol="0" anchor="ctr"/>
          <a:lstStyle/>
          <a:p>
            <a:pPr indent="0" marL="0">
              <a:buNone/>
            </a:pPr>
            <a:r>
              <a:rPr lang="en-US" sz="1600" dirty="0">
                <a:solidFill>
                  <a:schemeClr val="bg2"/>
                </a:solidFill>
              </a:rPr>
              <a:t>Amount and customer</a:t>
            </a:r>
            <a:endParaRPr lang="en-US" sz="1600" dirty="0"/>
          </a:p>
        </p:txBody>
      </p:sp>
      <p:sp>
        <p:nvSpPr>
          <p:cNvPr id="9" name="Shape 7">
            <a:extLst>
              <a:ext uri="{C183D7F6-B498-43B3-948B-1728B52AA6E4}">
                <adec:decorative xmlns:adec="http://schemas.microsoft.com/office/drawing/2017/decorative" val="1"/>
              </a:ext>
            </a:extLst>
          </p:cNvPr>
          <p:cNvSpPr/>
          <p:nvPr/>
        </p:nvSpPr>
        <p:spPr>
          <a:xfrm>
            <a:off x="548640" y="2670048"/>
            <a:ext cx="548640" cy="548640"/>
          </a:xfrm>
          <a:prstGeom prst="ellipse">
            <a:avLst/>
          </a:prstGeom>
          <a:solidFill>
            <a:srgbClr val="09090B"/>
          </a:solidFill>
          <a:ln w="19050">
            <a:solidFill>
              <a:schemeClr val="accent1"/>
            </a:solidFill>
            <a:prstDash val="solid"/>
          </a:ln>
        </p:spPr>
      </p:sp>
      <p:sp>
        <p:nvSpPr>
          <p:cNvPr id="10" name="Text 8"/>
          <p:cNvSpPr txBox="1"/>
          <p:nvPr/>
        </p:nvSpPr>
        <p:spPr>
          <a:xfrm>
            <a:off x="548640" y="2670048"/>
            <a:ext cx="548640" cy="54864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02</a:t>
            </a:r>
            <a:endParaRPr lang="en-US" sz="1300" dirty="0"/>
          </a:p>
        </p:txBody>
      </p:sp>
      <p:sp>
        <p:nvSpPr>
          <p:cNvPr id="11" name="Text 9"/>
          <p:cNvSpPr txBox="1"/>
          <p:nvPr/>
        </p:nvSpPr>
        <p:spPr>
          <a:xfrm>
            <a:off x="1371600" y="2688336"/>
            <a:ext cx="1554480" cy="512064"/>
          </a:xfrm>
          <a:prstGeom prst="rect">
            <a:avLst/>
          </a:prstGeom>
          <a:noFill/>
          <a:ln/>
        </p:spPr>
        <p:txBody>
          <a:bodyPr wrap="square" lIns="0" tIns="0" rIns="0" bIns="0" rtlCol="0" anchor="ctr"/>
          <a:lstStyle/>
          <a:p>
            <a:pPr indent="0" marL="0">
              <a:buNone/>
            </a:pPr>
            <a:r>
              <a:rPr lang="en-US" sz="1800" b="1" dirty="0">
                <a:solidFill>
                  <a:schemeClr val="bg1"/>
                </a:solidFill>
              </a:rPr>
              <a:t>Validate</a:t>
            </a:r>
            <a:endParaRPr lang="en-US" sz="1800" dirty="0"/>
          </a:p>
        </p:txBody>
      </p:sp>
      <p:sp>
        <p:nvSpPr>
          <p:cNvPr id="12" name="Text 10"/>
          <p:cNvSpPr txBox="1"/>
          <p:nvPr/>
        </p:nvSpPr>
        <p:spPr>
          <a:xfrm>
            <a:off x="2971800" y="2688336"/>
            <a:ext cx="3977640" cy="512064"/>
          </a:xfrm>
          <a:prstGeom prst="rect">
            <a:avLst/>
          </a:prstGeom>
          <a:noFill/>
          <a:ln/>
        </p:spPr>
        <p:txBody>
          <a:bodyPr wrap="square" lIns="0" tIns="0" rIns="0" bIns="0" rtlCol="0" anchor="ctr"/>
          <a:lstStyle/>
          <a:p>
            <a:pPr indent="0" marL="0">
              <a:buNone/>
            </a:pPr>
            <a:r>
              <a:rPr lang="en-US" sz="1600" dirty="0">
                <a:solidFill>
                  <a:schemeClr val="bg2"/>
                </a:solidFill>
              </a:rPr>
              <a:t>Details checked</a:t>
            </a:r>
            <a:endParaRPr lang="en-US" sz="1600" dirty="0"/>
          </a:p>
        </p:txBody>
      </p:sp>
      <p:sp>
        <p:nvSpPr>
          <p:cNvPr id="13" name="Shape 11">
            <a:extLst>
              <a:ext uri="{C183D7F6-B498-43B3-948B-1728B52AA6E4}">
                <adec:decorative xmlns:adec="http://schemas.microsoft.com/office/drawing/2017/decorative" val="1"/>
              </a:ext>
            </a:extLst>
          </p:cNvPr>
          <p:cNvSpPr/>
          <p:nvPr/>
        </p:nvSpPr>
        <p:spPr>
          <a:xfrm>
            <a:off x="548640" y="3419856"/>
            <a:ext cx="548640" cy="548640"/>
          </a:xfrm>
          <a:prstGeom prst="ellipse">
            <a:avLst/>
          </a:prstGeom>
          <a:solidFill>
            <a:srgbClr val="09090B"/>
          </a:solidFill>
          <a:ln w="19050">
            <a:solidFill>
              <a:schemeClr val="accent1"/>
            </a:solidFill>
            <a:prstDash val="solid"/>
          </a:ln>
        </p:spPr>
      </p:sp>
      <p:sp>
        <p:nvSpPr>
          <p:cNvPr id="14" name="Text 12"/>
          <p:cNvSpPr txBox="1"/>
          <p:nvPr/>
        </p:nvSpPr>
        <p:spPr>
          <a:xfrm>
            <a:off x="548640" y="3419856"/>
            <a:ext cx="548640" cy="54864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03</a:t>
            </a:r>
            <a:endParaRPr lang="en-US" sz="1300" dirty="0"/>
          </a:p>
        </p:txBody>
      </p:sp>
      <p:sp>
        <p:nvSpPr>
          <p:cNvPr id="15" name="Text 13"/>
          <p:cNvSpPr txBox="1"/>
          <p:nvPr/>
        </p:nvSpPr>
        <p:spPr>
          <a:xfrm>
            <a:off x="1371600" y="3438144"/>
            <a:ext cx="1554480" cy="512064"/>
          </a:xfrm>
          <a:prstGeom prst="rect">
            <a:avLst/>
          </a:prstGeom>
          <a:noFill/>
          <a:ln/>
        </p:spPr>
        <p:txBody>
          <a:bodyPr wrap="square" lIns="0" tIns="0" rIns="0" bIns="0" rtlCol="0" anchor="ctr"/>
          <a:lstStyle/>
          <a:p>
            <a:pPr indent="0" marL="0">
              <a:buNone/>
            </a:pPr>
            <a:r>
              <a:rPr lang="en-US" sz="1800" b="1" dirty="0">
                <a:solidFill>
                  <a:schemeClr val="bg1"/>
                </a:solidFill>
              </a:rPr>
              <a:t>Request</a:t>
            </a:r>
            <a:endParaRPr lang="en-US" sz="1800" dirty="0"/>
          </a:p>
        </p:txBody>
      </p:sp>
      <p:sp>
        <p:nvSpPr>
          <p:cNvPr id="16" name="Text 14"/>
          <p:cNvSpPr txBox="1"/>
          <p:nvPr/>
        </p:nvSpPr>
        <p:spPr>
          <a:xfrm>
            <a:off x="2971800" y="3438144"/>
            <a:ext cx="3977640" cy="512064"/>
          </a:xfrm>
          <a:prstGeom prst="rect">
            <a:avLst/>
          </a:prstGeom>
          <a:noFill/>
          <a:ln/>
        </p:spPr>
        <p:txBody>
          <a:bodyPr wrap="square" lIns="0" tIns="0" rIns="0" bIns="0" rtlCol="0" anchor="ctr"/>
          <a:lstStyle/>
          <a:p>
            <a:pPr indent="0" marL="0">
              <a:buNone/>
            </a:pPr>
            <a:r>
              <a:rPr lang="en-US" sz="1600" dirty="0">
                <a:solidFill>
                  <a:schemeClr val="bg2"/>
                </a:solidFill>
              </a:rPr>
              <a:t>Secure pay link sent</a:t>
            </a:r>
            <a:endParaRPr lang="en-US" sz="1600" dirty="0"/>
          </a:p>
        </p:txBody>
      </p:sp>
      <p:sp>
        <p:nvSpPr>
          <p:cNvPr id="17" name="Shape 15">
            <a:extLst>
              <a:ext uri="{C183D7F6-B498-43B3-948B-1728B52AA6E4}">
                <adec:decorative xmlns:adec="http://schemas.microsoft.com/office/drawing/2017/decorative" val="1"/>
              </a:ext>
            </a:extLst>
          </p:cNvPr>
          <p:cNvSpPr/>
          <p:nvPr/>
        </p:nvSpPr>
        <p:spPr>
          <a:xfrm>
            <a:off x="548640" y="4169664"/>
            <a:ext cx="548640" cy="548640"/>
          </a:xfrm>
          <a:prstGeom prst="ellipse">
            <a:avLst/>
          </a:prstGeom>
          <a:solidFill>
            <a:srgbClr val="09090B"/>
          </a:solidFill>
          <a:ln w="19050">
            <a:solidFill>
              <a:schemeClr val="accent1"/>
            </a:solidFill>
            <a:prstDash val="solid"/>
          </a:ln>
        </p:spPr>
      </p:sp>
      <p:sp>
        <p:nvSpPr>
          <p:cNvPr id="18" name="Text 16"/>
          <p:cNvSpPr txBox="1"/>
          <p:nvPr/>
        </p:nvSpPr>
        <p:spPr>
          <a:xfrm>
            <a:off x="548640" y="4169664"/>
            <a:ext cx="548640" cy="548640"/>
          </a:xfrm>
          <a:prstGeom prst="rect">
            <a:avLst/>
          </a:prstGeom>
          <a:noFill/>
          <a:ln/>
        </p:spPr>
        <p:txBody>
          <a:bodyPr wrap="square" lIns="0" tIns="0" rIns="0" bIns="0" rtlCol="0" anchor="ctr"/>
          <a:lstStyle/>
          <a:p>
            <a:pPr algn="ctr" indent="0" marL="0">
              <a:buNone/>
            </a:pPr>
            <a:r>
              <a:rPr lang="en-US" sz="1300" b="1" dirty="0">
                <a:solidFill>
                  <a:schemeClr val="accent1"/>
                </a:solidFill>
                <a:latin typeface="Courier New" pitchFamily="34" charset="0"/>
                <a:ea typeface="Courier New" pitchFamily="34" charset="-122"/>
                <a:cs typeface="Courier New" pitchFamily="34" charset="-120"/>
              </a:rPr>
              <a:t>04</a:t>
            </a:r>
            <a:endParaRPr lang="en-US" sz="1300" dirty="0"/>
          </a:p>
        </p:txBody>
      </p:sp>
      <p:sp>
        <p:nvSpPr>
          <p:cNvPr id="19" name="Text 17"/>
          <p:cNvSpPr txBox="1"/>
          <p:nvPr/>
        </p:nvSpPr>
        <p:spPr>
          <a:xfrm>
            <a:off x="1371600" y="4187952"/>
            <a:ext cx="1554480" cy="512064"/>
          </a:xfrm>
          <a:prstGeom prst="rect">
            <a:avLst/>
          </a:prstGeom>
          <a:noFill/>
          <a:ln/>
        </p:spPr>
        <p:txBody>
          <a:bodyPr wrap="square" lIns="0" tIns="0" rIns="0" bIns="0" rtlCol="0" anchor="ctr"/>
          <a:lstStyle/>
          <a:p>
            <a:pPr indent="0" marL="0">
              <a:buNone/>
            </a:pPr>
            <a:r>
              <a:rPr lang="en-US" sz="1800" b="1" dirty="0">
                <a:solidFill>
                  <a:schemeClr val="bg1"/>
                </a:solidFill>
              </a:rPr>
              <a:t>Confirm</a:t>
            </a:r>
            <a:endParaRPr lang="en-US" sz="1800" dirty="0"/>
          </a:p>
        </p:txBody>
      </p:sp>
      <p:sp>
        <p:nvSpPr>
          <p:cNvPr id="20" name="Text 18"/>
          <p:cNvSpPr txBox="1"/>
          <p:nvPr/>
        </p:nvSpPr>
        <p:spPr>
          <a:xfrm>
            <a:off x="2971800" y="4187952"/>
            <a:ext cx="3977640" cy="512064"/>
          </a:xfrm>
          <a:prstGeom prst="rect">
            <a:avLst/>
          </a:prstGeom>
          <a:noFill/>
          <a:ln/>
        </p:spPr>
        <p:txBody>
          <a:bodyPr wrap="square" lIns="0" tIns="0" rIns="0" bIns="0" rtlCol="0" anchor="ctr"/>
          <a:lstStyle/>
          <a:p>
            <a:pPr indent="0" marL="0">
              <a:buNone/>
            </a:pPr>
            <a:r>
              <a:rPr lang="en-US" sz="1600" dirty="0">
                <a:solidFill>
                  <a:schemeClr val="bg2"/>
                </a:solidFill>
              </a:rPr>
              <a:t>Status comes back</a:t>
            </a:r>
            <a:endParaRPr lang="en-US" sz="1600" dirty="0"/>
          </a:p>
        </p:txBody>
      </p:sp>
      <p:sp>
        <p:nvSpPr>
          <p:cNvPr id="21" name="Shape 19">
            <a:extLst>
              <a:ext uri="{C183D7F6-B498-43B3-948B-1728B52AA6E4}">
                <adec:decorative xmlns:adec="http://schemas.microsoft.com/office/drawing/2017/decorative" val="1"/>
              </a:ext>
            </a:extLst>
          </p:cNvPr>
          <p:cNvSpPr/>
          <p:nvPr/>
        </p:nvSpPr>
        <p:spPr>
          <a:xfrm>
            <a:off x="548640" y="4919472"/>
            <a:ext cx="548640" cy="548640"/>
          </a:xfrm>
          <a:prstGeom prst="ellipse">
            <a:avLst/>
          </a:prstGeom>
          <a:solidFill>
            <a:schemeClr val="accent1"/>
          </a:solidFill>
          <a:ln w="19050">
            <a:solidFill>
              <a:schemeClr val="accent1"/>
            </a:solidFill>
            <a:prstDash val="solid"/>
          </a:ln>
        </p:spPr>
      </p:sp>
      <p:sp>
        <p:nvSpPr>
          <p:cNvPr id="22" name="Text 20"/>
          <p:cNvSpPr txBox="1"/>
          <p:nvPr/>
        </p:nvSpPr>
        <p:spPr>
          <a:xfrm>
            <a:off x="548640" y="4919472"/>
            <a:ext cx="548640" cy="54864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05</a:t>
            </a:r>
            <a:endParaRPr lang="en-US" sz="1300" dirty="0"/>
          </a:p>
        </p:txBody>
      </p:sp>
      <p:sp>
        <p:nvSpPr>
          <p:cNvPr id="23" name="Text 21"/>
          <p:cNvSpPr txBox="1"/>
          <p:nvPr/>
        </p:nvSpPr>
        <p:spPr>
          <a:xfrm>
            <a:off x="1371600" y="4937760"/>
            <a:ext cx="1554480" cy="512064"/>
          </a:xfrm>
          <a:prstGeom prst="rect">
            <a:avLst/>
          </a:prstGeom>
          <a:noFill/>
          <a:ln/>
        </p:spPr>
        <p:txBody>
          <a:bodyPr wrap="square" lIns="0" tIns="0" rIns="0" bIns="0" rtlCol="0" anchor="ctr"/>
          <a:lstStyle/>
          <a:p>
            <a:pPr indent="0" marL="0">
              <a:buNone/>
            </a:pPr>
            <a:r>
              <a:rPr lang="en-US" sz="1800" b="1" dirty="0">
                <a:solidFill>
                  <a:schemeClr val="bg1"/>
                </a:solidFill>
              </a:rPr>
              <a:t>Settle</a:t>
            </a:r>
            <a:endParaRPr lang="en-US" sz="1800" dirty="0"/>
          </a:p>
        </p:txBody>
      </p:sp>
      <p:sp>
        <p:nvSpPr>
          <p:cNvPr id="24" name="Text 22"/>
          <p:cNvSpPr txBox="1"/>
          <p:nvPr/>
        </p:nvSpPr>
        <p:spPr>
          <a:xfrm>
            <a:off x="2971800" y="4937760"/>
            <a:ext cx="3977640" cy="512064"/>
          </a:xfrm>
          <a:prstGeom prst="rect">
            <a:avLst/>
          </a:prstGeom>
          <a:noFill/>
          <a:ln/>
        </p:spPr>
        <p:txBody>
          <a:bodyPr wrap="square" lIns="0" tIns="0" rIns="0" bIns="0" rtlCol="0" anchor="ctr"/>
          <a:lstStyle/>
          <a:p>
            <a:pPr indent="0" marL="0">
              <a:buNone/>
            </a:pPr>
            <a:r>
              <a:rPr lang="en-US" sz="1600" dirty="0">
                <a:solidFill>
                  <a:schemeClr val="bg2"/>
                </a:solidFill>
              </a:rPr>
              <a:t>Invoice updated</a:t>
            </a:r>
            <a:endParaRPr lang="en-US" sz="1600" dirty="0"/>
          </a:p>
        </p:txBody>
      </p:sp>
      <p:sp>
        <p:nvSpPr>
          <p:cNvPr id="25" name="exceptions">
            <a:extLst>
              <a:ext uri="{C183D7F6-B498-43B3-948B-1728B52AA6E4}">
                <adec:decorative xmlns:adec="http://schemas.microsoft.com/office/drawing/2017/decorative" val="1"/>
              </a:ext>
            </a:extLst>
          </p:cNvPr>
          <p:cNvSpPr/>
          <p:nvPr/>
        </p:nvSpPr>
        <p:spPr>
          <a:xfrm>
            <a:off x="7635240" y="1920240"/>
            <a:ext cx="4007815" cy="3520440"/>
          </a:xfrm>
          <a:prstGeom prst="roundRect">
            <a:avLst>
              <a:gd name="adj" fmla="val 4156"/>
            </a:avLst>
          </a:prstGeom>
          <a:solidFill>
            <a:schemeClr val="tx2"/>
          </a:solidFill>
          <a:ln w="9525">
            <a:solidFill>
              <a:schemeClr val="accent2"/>
            </a:solidFill>
            <a:prstDash val="solid"/>
          </a:ln>
        </p:spPr>
      </p:sp>
      <p:sp>
        <p:nvSpPr>
          <p:cNvPr id="26" name="icon circle">
            <a:extLst>
              <a:ext uri="{C183D7F6-B498-43B3-948B-1728B52AA6E4}">
                <adec:decorative xmlns:adec="http://schemas.microsoft.com/office/drawing/2017/decorative" val="1"/>
              </a:ext>
            </a:extLst>
          </p:cNvPr>
          <p:cNvSpPr/>
          <p:nvPr/>
        </p:nvSpPr>
        <p:spPr>
          <a:xfrm>
            <a:off x="7955280" y="2240280"/>
            <a:ext cx="603504" cy="603504"/>
          </a:xfrm>
          <a:prstGeom prst="ellipse">
            <a:avLst/>
          </a:prstGeom>
          <a:solidFill>
            <a:srgbClr val="0F2A20"/>
          </a:solidFill>
          <a:ln w="12700">
            <a:solidFill>
              <a:srgbClr val="1D4D3A"/>
            </a:solidFill>
            <a:prstDash val="solid"/>
          </a:ln>
        </p:spPr>
      </p:sp>
      <p:pic>
        <p:nvPicPr>
          <p:cNvPr id="27"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106156" y="2391156"/>
            <a:ext cx="301752" cy="301752"/>
          </a:xfrm>
          <a:prstGeom prst="rect">
            <a:avLst/>
          </a:prstGeom>
        </p:spPr>
      </p:pic>
      <p:sp>
        <p:nvSpPr>
          <p:cNvPr id="28" name="Text 25"/>
          <p:cNvSpPr txBox="1"/>
          <p:nvPr/>
        </p:nvSpPr>
        <p:spPr>
          <a:xfrm>
            <a:off x="7955280" y="3063240"/>
            <a:ext cx="3367735" cy="365760"/>
          </a:xfrm>
          <a:prstGeom prst="rect">
            <a:avLst/>
          </a:prstGeom>
          <a:noFill/>
          <a:ln/>
        </p:spPr>
        <p:txBody>
          <a:bodyPr wrap="square" lIns="0" tIns="0" rIns="0" bIns="0" rtlCol="0" anchor="t"/>
          <a:lstStyle/>
          <a:p>
            <a:pPr indent="0" marL="0">
              <a:buNone/>
            </a:pPr>
            <a:r>
              <a:rPr lang="en-US" sz="1800" b="1" dirty="0">
                <a:solidFill>
                  <a:schemeClr val="bg1"/>
                </a:solidFill>
              </a:rPr>
              <a:t>Handles the messy cases</a:t>
            </a:r>
            <a:endParaRPr lang="en-US" sz="1800" dirty="0"/>
          </a:p>
        </p:txBody>
      </p:sp>
      <p:sp>
        <p:nvSpPr>
          <p:cNvPr id="29" name="Text 26"/>
          <p:cNvSpPr txBox="1"/>
          <p:nvPr/>
        </p:nvSpPr>
        <p:spPr>
          <a:xfrm>
            <a:off x="7955280" y="3566160"/>
            <a:ext cx="3367735"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Duplicates</a:t>
            </a:r>
            <a:endParaRPr lang="en-US" sz="1600" dirty="0"/>
          </a:p>
          <a:p>
            <a:pPr marL="342900" indent="-342900">
              <a:spcAft>
                <a:spcPts val="800"/>
              </a:spcAft>
              <a:buSzPct val="100000"/>
              <a:buChar char="•"/>
            </a:pPr>
            <a:r>
              <a:rPr lang="en-US" sz="1600" dirty="0">
                <a:solidFill>
                  <a:schemeClr val="bg2"/>
                </a:solidFill>
              </a:rPr>
              <a:t>Failed payments</a:t>
            </a:r>
            <a:endParaRPr lang="en-US" sz="1600" dirty="0"/>
          </a:p>
          <a:p>
            <a:pPr marL="342900" indent="-342900">
              <a:spcAft>
                <a:spcPts val="800"/>
              </a:spcAft>
              <a:buSzPct val="100000"/>
              <a:buChar char="•"/>
            </a:pPr>
            <a:r>
              <a:rPr lang="en-US" sz="1600" dirty="0">
                <a:solidFill>
                  <a:schemeClr val="bg2"/>
                </a:solidFill>
              </a:rPr>
              <a:t>Retries</a:t>
            </a:r>
            <a:endParaRPr lang="en-US" sz="1600" dirty="0"/>
          </a:p>
        </p:txBody>
      </p:sp>
      <p:sp>
        <p:nvSpPr>
          <p:cNvPr id="31"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title" hasCustomPrompt="1"/>
          </p:nvPr>
        </p:nvSpPr>
        <p:spPr>
          <a:xfrm>
            <a:off x="548640" y="1188720"/>
            <a:ext cx="6583680" cy="914400"/>
          </a:xfrm>
          <a:prstGeom prst="rect">
            <a:avLst/>
          </a:prstGeom>
          <a:noFill/>
          <a:ln/>
        </p:spPr>
        <p:txBody>
          <a:bodyPr wrap="square" lIns="0" tIns="0" rIns="0" bIns="0" rtlCol="0" anchor="ctr"/>
          <a:lstStyle/>
          <a:p>
            <a:pPr algn="l" indent="0" marL="0">
              <a:buNone/>
            </a:pPr>
            <a:r>
              <a:rPr lang="en-US" sz="5400" b="1" dirty="0">
                <a:solidFill>
                  <a:schemeClr val="bg1"/>
                </a:solidFill>
              </a:rPr>
              <a:t>Agentic AI Layer</a:t>
            </a:r>
            <a:endParaRPr lang="en-US" sz="5400" dirty="0"/>
          </a:p>
        </p:txBody>
      </p:sp>
      <p:sp>
        <p:nvSpPr>
          <p:cNvPr id="3" name="Text 1"/>
          <p:cNvSpPr/>
          <p:nvPr>
            <p:ph idx="104" type="body" hasCustomPrompt="1"/>
          </p:nvPr>
        </p:nvSpPr>
        <p:spPr>
          <a:xfrm>
            <a:off x="548640" y="2240280"/>
            <a:ext cx="6400800" cy="1188720"/>
          </a:xfrm>
          <a:prstGeom prst="rect">
            <a:avLst/>
          </a:prstGeom>
          <a:noFill/>
          <a:ln/>
        </p:spPr>
        <p:txBody>
          <a:bodyPr wrap="square" lIns="0" tIns="0" rIns="0" bIns="0" rtlCol="0" anchor="t"/>
          <a:lstStyle/>
          <a:p>
            <a:pPr indent="0" marL="0">
              <a:buNone/>
            </a:pPr>
            <a:r>
              <a:rPr lang="en-US" sz="2000" dirty="0">
                <a:solidFill>
                  <a:schemeClr val="bg2"/>
                </a:solidFill>
              </a:rPr>
              <a:t>A team of AI agents that sells on WhatsApp.</a:t>
            </a:r>
            <a:endParaRPr lang="en-US" sz="2000" dirty="0"/>
          </a:p>
        </p:txBody>
      </p:sp>
      <p:sp>
        <p:nvSpPr>
          <p:cNvPr id="4"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AGENTIC AI LAYER</a:t>
            </a:r>
            <a:endParaRPr lang="en-US" sz="1000" dirty="0"/>
          </a:p>
        </p:txBody>
      </p:sp>
      <p:sp>
        <p:nvSpPr>
          <p:cNvPr id="5" name="Text 3"/>
          <p:cNvSpPr txBox="1"/>
          <p:nvPr/>
        </p:nvSpPr>
        <p:spPr>
          <a:xfrm>
            <a:off x="548640" y="3200400"/>
            <a:ext cx="548640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THE TEAM</a:t>
            </a:r>
            <a:endParaRPr lang="en-US" sz="1200" dirty="0"/>
          </a:p>
        </p:txBody>
      </p:sp>
      <p:sp>
        <p:nvSpPr>
          <p:cNvPr id="6" name="Sales agent">
            <a:extLst>
              <a:ext uri="{C183D7F6-B498-43B3-948B-1728B52AA6E4}">
                <adec:decorative xmlns:adec="http://schemas.microsoft.com/office/drawing/2017/decorative" val="1"/>
              </a:ext>
            </a:extLst>
          </p:cNvPr>
          <p:cNvSpPr/>
          <p:nvPr/>
        </p:nvSpPr>
        <p:spPr>
          <a:xfrm>
            <a:off x="548640" y="3566160"/>
            <a:ext cx="3223260" cy="822960"/>
          </a:xfrm>
          <a:prstGeom prst="roundRect">
            <a:avLst>
              <a:gd name="adj" fmla="val 11111"/>
            </a:avLst>
          </a:prstGeom>
          <a:solidFill>
            <a:schemeClr val="tx2"/>
          </a:solidFill>
          <a:ln w="9525">
            <a:solidFill>
              <a:schemeClr val="accent2"/>
            </a:solidFill>
            <a:prstDash val="solid"/>
          </a:ln>
        </p:spPr>
      </p:sp>
      <p:sp>
        <p:nvSpPr>
          <p:cNvPr id="7" name="icon circle">
            <a:extLst>
              <a:ext uri="{C183D7F6-B498-43B3-948B-1728B52AA6E4}">
                <adec:decorative xmlns:adec="http://schemas.microsoft.com/office/drawing/2017/decorative" val="1"/>
              </a:ext>
            </a:extLst>
          </p:cNvPr>
          <p:cNvSpPr/>
          <p:nvPr/>
        </p:nvSpPr>
        <p:spPr>
          <a:xfrm>
            <a:off x="749808" y="3730752"/>
            <a:ext cx="493776" cy="493776"/>
          </a:xfrm>
          <a:prstGeom prst="ellipse">
            <a:avLst/>
          </a:prstGeom>
          <a:solidFill>
            <a:srgbClr val="0F2A20"/>
          </a:solidFill>
          <a:ln w="12700">
            <a:solidFill>
              <a:srgbClr val="1D4D3A"/>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73252" y="3854196"/>
            <a:ext cx="246888" cy="246888"/>
          </a:xfrm>
          <a:prstGeom prst="rect">
            <a:avLst/>
          </a:prstGeom>
        </p:spPr>
      </p:pic>
      <p:sp>
        <p:nvSpPr>
          <p:cNvPr id="9" name="Text 6"/>
          <p:cNvSpPr txBox="1"/>
          <p:nvPr/>
        </p:nvSpPr>
        <p:spPr>
          <a:xfrm>
            <a:off x="1417320" y="3675888"/>
            <a:ext cx="2217420" cy="310896"/>
          </a:xfrm>
          <a:prstGeom prst="rect">
            <a:avLst/>
          </a:prstGeom>
          <a:noFill/>
          <a:ln/>
        </p:spPr>
        <p:txBody>
          <a:bodyPr wrap="square" lIns="0" tIns="0" rIns="0" bIns="0" rtlCol="0" anchor="t"/>
          <a:lstStyle/>
          <a:p>
            <a:pPr indent="0" marL="0">
              <a:buNone/>
            </a:pPr>
            <a:r>
              <a:rPr lang="en-US" sz="1600" b="1" dirty="0">
                <a:solidFill>
                  <a:schemeClr val="bg1"/>
                </a:solidFill>
              </a:rPr>
              <a:t>Sales</a:t>
            </a:r>
            <a:endParaRPr lang="en-US" sz="1600" dirty="0"/>
          </a:p>
        </p:txBody>
      </p:sp>
      <p:sp>
        <p:nvSpPr>
          <p:cNvPr id="10" name="Text 7"/>
          <p:cNvSpPr txBox="1"/>
          <p:nvPr/>
        </p:nvSpPr>
        <p:spPr>
          <a:xfrm>
            <a:off x="1417320" y="3986784"/>
            <a:ext cx="2217420" cy="292608"/>
          </a:xfrm>
          <a:prstGeom prst="rect">
            <a:avLst/>
          </a:prstGeom>
          <a:noFill/>
          <a:ln/>
        </p:spPr>
        <p:txBody>
          <a:bodyPr wrap="square" lIns="0" tIns="0" rIns="0" bIns="0" rtlCol="0" anchor="t"/>
          <a:lstStyle/>
          <a:p>
            <a:pPr indent="0" marL="0">
              <a:buNone/>
            </a:pPr>
            <a:r>
              <a:rPr lang="en-US" sz="1400" dirty="0">
                <a:solidFill>
                  <a:schemeClr val="bg2"/>
                </a:solidFill>
              </a:rPr>
              <a:t>Closes the sale</a:t>
            </a:r>
            <a:endParaRPr lang="en-US" sz="1400" dirty="0"/>
          </a:p>
        </p:txBody>
      </p:sp>
      <p:sp>
        <p:nvSpPr>
          <p:cNvPr id="11" name="Product agent">
            <a:extLst>
              <a:ext uri="{C183D7F6-B498-43B3-948B-1728B52AA6E4}">
                <adec:decorative xmlns:adec="http://schemas.microsoft.com/office/drawing/2017/decorative" val="1"/>
              </a:ext>
            </a:extLst>
          </p:cNvPr>
          <p:cNvSpPr/>
          <p:nvPr/>
        </p:nvSpPr>
        <p:spPr>
          <a:xfrm>
            <a:off x="4000500" y="3566160"/>
            <a:ext cx="3223260" cy="822960"/>
          </a:xfrm>
          <a:prstGeom prst="roundRect">
            <a:avLst>
              <a:gd name="adj" fmla="val 11111"/>
            </a:avLst>
          </a:prstGeom>
          <a:solidFill>
            <a:schemeClr val="tx2"/>
          </a:solidFill>
          <a:ln w="9525">
            <a:solidFill>
              <a:schemeClr val="accent2"/>
            </a:solidFill>
            <a:prstDash val="solid"/>
          </a:ln>
        </p:spPr>
      </p:sp>
      <p:sp>
        <p:nvSpPr>
          <p:cNvPr id="12" name="icon circle">
            <a:extLst>
              <a:ext uri="{C183D7F6-B498-43B3-948B-1728B52AA6E4}">
                <adec:decorative xmlns:adec="http://schemas.microsoft.com/office/drawing/2017/decorative" val="1"/>
              </a:ext>
            </a:extLst>
          </p:cNvPr>
          <p:cNvSpPr/>
          <p:nvPr/>
        </p:nvSpPr>
        <p:spPr>
          <a:xfrm>
            <a:off x="4201668" y="3730752"/>
            <a:ext cx="493776" cy="493776"/>
          </a:xfrm>
          <a:prstGeom prst="ellipse">
            <a:avLst/>
          </a:prstGeom>
          <a:solidFill>
            <a:srgbClr val="0F2A20"/>
          </a:solidFill>
          <a:ln w="12700">
            <a:solidFill>
              <a:srgbClr val="1D4D3A"/>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25112" y="3854196"/>
            <a:ext cx="246888" cy="246888"/>
          </a:xfrm>
          <a:prstGeom prst="rect">
            <a:avLst/>
          </a:prstGeom>
        </p:spPr>
      </p:pic>
      <p:sp>
        <p:nvSpPr>
          <p:cNvPr id="14" name="Text 10"/>
          <p:cNvSpPr txBox="1"/>
          <p:nvPr/>
        </p:nvSpPr>
        <p:spPr>
          <a:xfrm>
            <a:off x="4869180" y="3675888"/>
            <a:ext cx="2217420" cy="310896"/>
          </a:xfrm>
          <a:prstGeom prst="rect">
            <a:avLst/>
          </a:prstGeom>
          <a:noFill/>
          <a:ln/>
        </p:spPr>
        <p:txBody>
          <a:bodyPr wrap="square" lIns="0" tIns="0" rIns="0" bIns="0" rtlCol="0" anchor="t"/>
          <a:lstStyle/>
          <a:p>
            <a:pPr indent="0" marL="0">
              <a:buNone/>
            </a:pPr>
            <a:r>
              <a:rPr lang="en-US" sz="1600" b="1" dirty="0">
                <a:solidFill>
                  <a:schemeClr val="bg1"/>
                </a:solidFill>
              </a:rPr>
              <a:t>Product</a:t>
            </a:r>
            <a:endParaRPr lang="en-US" sz="1600" dirty="0"/>
          </a:p>
        </p:txBody>
      </p:sp>
      <p:sp>
        <p:nvSpPr>
          <p:cNvPr id="15" name="Text 11"/>
          <p:cNvSpPr txBox="1"/>
          <p:nvPr/>
        </p:nvSpPr>
        <p:spPr>
          <a:xfrm>
            <a:off x="4869180" y="3986784"/>
            <a:ext cx="2217420" cy="292608"/>
          </a:xfrm>
          <a:prstGeom prst="rect">
            <a:avLst/>
          </a:prstGeom>
          <a:noFill/>
          <a:ln/>
        </p:spPr>
        <p:txBody>
          <a:bodyPr wrap="square" lIns="0" tIns="0" rIns="0" bIns="0" rtlCol="0" anchor="t"/>
          <a:lstStyle/>
          <a:p>
            <a:pPr indent="0" marL="0">
              <a:buNone/>
            </a:pPr>
            <a:r>
              <a:rPr lang="en-US" sz="1400" dirty="0">
                <a:solidFill>
                  <a:schemeClr val="bg2"/>
                </a:solidFill>
              </a:rPr>
              <a:t>Knows the catalogue</a:t>
            </a:r>
            <a:endParaRPr lang="en-US" sz="1400" dirty="0"/>
          </a:p>
        </p:txBody>
      </p:sp>
      <p:sp>
        <p:nvSpPr>
          <p:cNvPr id="16" name="Stock agent">
            <a:extLst>
              <a:ext uri="{C183D7F6-B498-43B3-948B-1728B52AA6E4}">
                <adec:decorative xmlns:adec="http://schemas.microsoft.com/office/drawing/2017/decorative" val="1"/>
              </a:ext>
            </a:extLst>
          </p:cNvPr>
          <p:cNvSpPr/>
          <p:nvPr/>
        </p:nvSpPr>
        <p:spPr>
          <a:xfrm>
            <a:off x="548640" y="4617720"/>
            <a:ext cx="3223260" cy="822960"/>
          </a:xfrm>
          <a:prstGeom prst="roundRect">
            <a:avLst>
              <a:gd name="adj" fmla="val 11111"/>
            </a:avLst>
          </a:prstGeom>
          <a:solidFill>
            <a:schemeClr val="tx2"/>
          </a:solidFill>
          <a:ln w="9525">
            <a:solidFill>
              <a:schemeClr val="accent2"/>
            </a:solidFill>
            <a:prstDash val="solid"/>
          </a:ln>
        </p:spPr>
      </p:sp>
      <p:sp>
        <p:nvSpPr>
          <p:cNvPr id="17" name="icon circle">
            <a:extLst>
              <a:ext uri="{C183D7F6-B498-43B3-948B-1728B52AA6E4}">
                <adec:decorative xmlns:adec="http://schemas.microsoft.com/office/drawing/2017/decorative" val="1"/>
              </a:ext>
            </a:extLst>
          </p:cNvPr>
          <p:cNvSpPr/>
          <p:nvPr/>
        </p:nvSpPr>
        <p:spPr>
          <a:xfrm>
            <a:off x="749808" y="4782312"/>
            <a:ext cx="493776" cy="493776"/>
          </a:xfrm>
          <a:prstGeom prst="ellipse">
            <a:avLst/>
          </a:prstGeom>
          <a:solidFill>
            <a:srgbClr val="0F2A20"/>
          </a:solidFill>
          <a:ln w="12700">
            <a:solidFill>
              <a:srgbClr val="1D4D3A"/>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73252" y="4905756"/>
            <a:ext cx="246888" cy="246888"/>
          </a:xfrm>
          <a:prstGeom prst="rect">
            <a:avLst/>
          </a:prstGeom>
        </p:spPr>
      </p:pic>
      <p:sp>
        <p:nvSpPr>
          <p:cNvPr id="19" name="Text 14"/>
          <p:cNvSpPr txBox="1"/>
          <p:nvPr/>
        </p:nvSpPr>
        <p:spPr>
          <a:xfrm>
            <a:off x="1417320" y="4727448"/>
            <a:ext cx="2217420" cy="310896"/>
          </a:xfrm>
          <a:prstGeom prst="rect">
            <a:avLst/>
          </a:prstGeom>
          <a:noFill/>
          <a:ln/>
        </p:spPr>
        <p:txBody>
          <a:bodyPr wrap="square" lIns="0" tIns="0" rIns="0" bIns="0" rtlCol="0" anchor="t"/>
          <a:lstStyle/>
          <a:p>
            <a:pPr indent="0" marL="0">
              <a:buNone/>
            </a:pPr>
            <a:r>
              <a:rPr lang="en-US" sz="1600" b="1" dirty="0">
                <a:solidFill>
                  <a:schemeClr val="bg1"/>
                </a:solidFill>
              </a:rPr>
              <a:t>Stock</a:t>
            </a:r>
            <a:endParaRPr lang="en-US" sz="1600" dirty="0"/>
          </a:p>
        </p:txBody>
      </p:sp>
      <p:sp>
        <p:nvSpPr>
          <p:cNvPr id="20" name="Text 15"/>
          <p:cNvSpPr txBox="1"/>
          <p:nvPr/>
        </p:nvSpPr>
        <p:spPr>
          <a:xfrm>
            <a:off x="1417320" y="5038344"/>
            <a:ext cx="2217420" cy="292608"/>
          </a:xfrm>
          <a:prstGeom prst="rect">
            <a:avLst/>
          </a:prstGeom>
          <a:noFill/>
          <a:ln/>
        </p:spPr>
        <p:txBody>
          <a:bodyPr wrap="square" lIns="0" tIns="0" rIns="0" bIns="0" rtlCol="0" anchor="t"/>
          <a:lstStyle/>
          <a:p>
            <a:pPr indent="0" marL="0">
              <a:buNone/>
            </a:pPr>
            <a:r>
              <a:rPr lang="en-US" sz="1400" dirty="0">
                <a:solidFill>
                  <a:schemeClr val="bg2"/>
                </a:solidFill>
              </a:rPr>
              <a:t>Checks availability</a:t>
            </a:r>
            <a:endParaRPr lang="en-US" sz="1400" dirty="0"/>
          </a:p>
        </p:txBody>
      </p:sp>
      <p:sp>
        <p:nvSpPr>
          <p:cNvPr id="21" name="Service agent">
            <a:extLst>
              <a:ext uri="{C183D7F6-B498-43B3-948B-1728B52AA6E4}">
                <adec:decorative xmlns:adec="http://schemas.microsoft.com/office/drawing/2017/decorative" val="1"/>
              </a:ext>
            </a:extLst>
          </p:cNvPr>
          <p:cNvSpPr/>
          <p:nvPr/>
        </p:nvSpPr>
        <p:spPr>
          <a:xfrm>
            <a:off x="4000500" y="4617720"/>
            <a:ext cx="3223260" cy="822960"/>
          </a:xfrm>
          <a:prstGeom prst="roundRect">
            <a:avLst>
              <a:gd name="adj" fmla="val 11111"/>
            </a:avLst>
          </a:prstGeom>
          <a:solidFill>
            <a:schemeClr val="tx2"/>
          </a:solidFill>
          <a:ln w="9525">
            <a:solidFill>
              <a:schemeClr val="accent2"/>
            </a:solidFill>
            <a:prstDash val="solid"/>
          </a:ln>
        </p:spPr>
      </p:sp>
      <p:sp>
        <p:nvSpPr>
          <p:cNvPr id="22" name="icon circle">
            <a:extLst>
              <a:ext uri="{C183D7F6-B498-43B3-948B-1728B52AA6E4}">
                <adec:decorative xmlns:adec="http://schemas.microsoft.com/office/drawing/2017/decorative" val="1"/>
              </a:ext>
            </a:extLst>
          </p:cNvPr>
          <p:cNvSpPr/>
          <p:nvPr/>
        </p:nvSpPr>
        <p:spPr>
          <a:xfrm>
            <a:off x="4201668" y="4782312"/>
            <a:ext cx="493776" cy="493776"/>
          </a:xfrm>
          <a:prstGeom prst="ellipse">
            <a:avLst/>
          </a:prstGeom>
          <a:solidFill>
            <a:srgbClr val="0F2A20"/>
          </a:solidFill>
          <a:ln w="12700">
            <a:solidFill>
              <a:srgbClr val="1D4D3A"/>
            </a:solidFill>
            <a:prstDash val="solid"/>
          </a:ln>
        </p:spPr>
      </p:sp>
      <p:pic>
        <p:nvPicPr>
          <p:cNvPr id="23"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325112" y="4905756"/>
            <a:ext cx="246888" cy="246888"/>
          </a:xfrm>
          <a:prstGeom prst="rect">
            <a:avLst/>
          </a:prstGeom>
        </p:spPr>
      </p:pic>
      <p:sp>
        <p:nvSpPr>
          <p:cNvPr id="24" name="Text 18"/>
          <p:cNvSpPr txBox="1"/>
          <p:nvPr/>
        </p:nvSpPr>
        <p:spPr>
          <a:xfrm>
            <a:off x="4869180" y="4727448"/>
            <a:ext cx="2217420" cy="310896"/>
          </a:xfrm>
          <a:prstGeom prst="rect">
            <a:avLst/>
          </a:prstGeom>
          <a:noFill/>
          <a:ln/>
        </p:spPr>
        <p:txBody>
          <a:bodyPr wrap="square" lIns="0" tIns="0" rIns="0" bIns="0" rtlCol="0" anchor="t"/>
          <a:lstStyle/>
          <a:p>
            <a:pPr indent="0" marL="0">
              <a:buNone/>
            </a:pPr>
            <a:r>
              <a:rPr lang="en-US" sz="1600" b="1" dirty="0">
                <a:solidFill>
                  <a:schemeClr val="bg1"/>
                </a:solidFill>
              </a:rPr>
              <a:t>Service</a:t>
            </a:r>
            <a:endParaRPr lang="en-US" sz="1600" dirty="0"/>
          </a:p>
        </p:txBody>
      </p:sp>
      <p:sp>
        <p:nvSpPr>
          <p:cNvPr id="25" name="Text 19"/>
          <p:cNvSpPr txBox="1"/>
          <p:nvPr/>
        </p:nvSpPr>
        <p:spPr>
          <a:xfrm>
            <a:off x="4869180" y="5038344"/>
            <a:ext cx="2217420" cy="292608"/>
          </a:xfrm>
          <a:prstGeom prst="rect">
            <a:avLst/>
          </a:prstGeom>
          <a:noFill/>
          <a:ln/>
        </p:spPr>
        <p:txBody>
          <a:bodyPr wrap="square" lIns="0" tIns="0" rIns="0" bIns="0" rtlCol="0" anchor="t"/>
          <a:lstStyle/>
          <a:p>
            <a:pPr indent="0" marL="0">
              <a:buNone/>
            </a:pPr>
            <a:r>
              <a:rPr lang="en-US" sz="1400" dirty="0">
                <a:solidFill>
                  <a:schemeClr val="bg2"/>
                </a:solidFill>
              </a:rPr>
              <a:t>Books installs</a:t>
            </a:r>
            <a:endParaRPr lang="en-US" sz="1400" dirty="0"/>
          </a:p>
        </p:txBody>
      </p:sp>
      <p:sp>
        <p:nvSpPr>
          <p:cNvPr id="26" name="phone">
            <a:extLst>
              <a:ext uri="{C183D7F6-B498-43B3-948B-1728B52AA6E4}">
                <adec:decorative xmlns:adec="http://schemas.microsoft.com/office/drawing/2017/decorative" val="1"/>
              </a:ext>
            </a:extLst>
          </p:cNvPr>
          <p:cNvSpPr/>
          <p:nvPr/>
        </p:nvSpPr>
        <p:spPr>
          <a:xfrm>
            <a:off x="8001000" y="411480"/>
            <a:ext cx="3611880" cy="5760720"/>
          </a:xfrm>
          <a:prstGeom prst="roundRect">
            <a:avLst>
              <a:gd name="adj" fmla="val 9114"/>
            </a:avLst>
          </a:prstGeom>
          <a:solidFill>
            <a:srgbClr val="141417"/>
          </a:solidFill>
          <a:ln w="15875">
            <a:solidFill>
              <a:schemeClr val="accent5"/>
            </a:solidFill>
            <a:prstDash val="solid"/>
          </a:ln>
        </p:spPr>
      </p:sp>
      <p:sp>
        <p:nvSpPr>
          <p:cNvPr id="27" name="Shape 21">
            <a:extLst>
              <a:ext uri="{C183D7F6-B498-43B3-948B-1728B52AA6E4}">
                <adec:decorative xmlns:adec="http://schemas.microsoft.com/office/drawing/2017/decorative" val="1"/>
              </a:ext>
            </a:extLst>
          </p:cNvPr>
          <p:cNvSpPr/>
          <p:nvPr/>
        </p:nvSpPr>
        <p:spPr>
          <a:xfrm>
            <a:off x="8110728" y="521208"/>
            <a:ext cx="3392424" cy="5541264"/>
          </a:xfrm>
          <a:prstGeom prst="roundRect">
            <a:avLst>
              <a:gd name="adj" fmla="val 7008"/>
            </a:avLst>
          </a:prstGeom>
          <a:solidFill>
            <a:srgbClr val="09090B"/>
          </a:solidFill>
          <a:ln w="9525">
            <a:solidFill>
              <a:srgbClr val="26262A"/>
            </a:solidFill>
            <a:prstDash val="solid"/>
          </a:ln>
        </p:spPr>
      </p:sp>
      <p:sp>
        <p:nvSpPr>
          <p:cNvPr id="28" name="Shape 22">
            <a:extLst>
              <a:ext uri="{C183D7F6-B498-43B3-948B-1728B52AA6E4}">
                <adec:decorative xmlns:adec="http://schemas.microsoft.com/office/drawing/2017/decorative" val="1"/>
              </a:ext>
            </a:extLst>
          </p:cNvPr>
          <p:cNvSpPr/>
          <p:nvPr/>
        </p:nvSpPr>
        <p:spPr>
          <a:xfrm>
            <a:off x="8275320" y="685800"/>
            <a:ext cx="384048" cy="384048"/>
          </a:xfrm>
          <a:prstGeom prst="ellipse">
            <a:avLst/>
          </a:prstGeom>
          <a:solidFill>
            <a:srgbClr val="0F2A20"/>
          </a:solidFill>
          <a:ln w="12700">
            <a:solidFill>
              <a:schemeClr val="accent1"/>
            </a:solidFill>
            <a:prstDash val="solid"/>
          </a:ln>
        </p:spPr>
      </p:sp>
      <p:sp>
        <p:nvSpPr>
          <p:cNvPr id="29" name="Text 23"/>
          <p:cNvSpPr txBox="1"/>
          <p:nvPr/>
        </p:nvSpPr>
        <p:spPr>
          <a:xfrm>
            <a:off x="8275320" y="68580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30" name="Text 24"/>
          <p:cNvSpPr txBox="1"/>
          <p:nvPr/>
        </p:nvSpPr>
        <p:spPr>
          <a:xfrm>
            <a:off x="8769096" y="630936"/>
            <a:ext cx="2606040" cy="237744"/>
          </a:xfrm>
          <a:prstGeom prst="rect">
            <a:avLst/>
          </a:prstGeom>
          <a:noFill/>
          <a:ln/>
        </p:spPr>
        <p:txBody>
          <a:bodyPr wrap="square" lIns="0" tIns="0" rIns="0" bIns="0" rtlCol="0" anchor="t"/>
          <a:lstStyle/>
          <a:p>
            <a:pPr indent="0" marL="0">
              <a:buNone/>
            </a:pPr>
            <a:r>
              <a:rPr lang="en-US" sz="1300" b="1" dirty="0">
                <a:solidFill>
                  <a:schemeClr val="bg1"/>
                </a:solidFill>
              </a:rPr>
              <a:t>Agentic AI Layer</a:t>
            </a:r>
            <a:endParaRPr lang="en-US" sz="1300" dirty="0"/>
          </a:p>
        </p:txBody>
      </p:sp>
      <p:sp>
        <p:nvSpPr>
          <p:cNvPr id="31" name="Text 25"/>
          <p:cNvSpPr txBox="1"/>
          <p:nvPr/>
        </p:nvSpPr>
        <p:spPr>
          <a:xfrm>
            <a:off x="8769096" y="868680"/>
            <a:ext cx="2606040" cy="219456"/>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online · whatsapp</a:t>
            </a:r>
            <a:endParaRPr lang="en-US" sz="1200" dirty="0"/>
          </a:p>
        </p:txBody>
      </p:sp>
      <p:sp>
        <p:nvSpPr>
          <p:cNvPr id="32" name="Shape 26">
            <a:extLst>
              <a:ext uri="{C183D7F6-B498-43B3-948B-1728B52AA6E4}">
                <adec:decorative xmlns:adec="http://schemas.microsoft.com/office/drawing/2017/decorative" val="1"/>
              </a:ext>
            </a:extLst>
          </p:cNvPr>
          <p:cNvSpPr/>
          <p:nvPr/>
        </p:nvSpPr>
        <p:spPr>
          <a:xfrm>
            <a:off x="8110728" y="1234440"/>
            <a:ext cx="3392424" cy="0"/>
          </a:xfrm>
          <a:prstGeom prst="line">
            <a:avLst/>
          </a:prstGeom>
          <a:noFill/>
          <a:ln w="9525">
            <a:solidFill>
              <a:srgbClr val="26262A"/>
            </a:solidFill>
            <a:prstDash val="solid"/>
          </a:ln>
        </p:spPr>
      </p:sp>
      <p:sp>
        <p:nvSpPr>
          <p:cNvPr id="33" name="Shape 27">
            <a:extLst>
              <a:ext uri="{C183D7F6-B498-43B3-948B-1728B52AA6E4}">
                <adec:decorative xmlns:adec="http://schemas.microsoft.com/office/drawing/2017/decorative" val="1"/>
              </a:ext>
            </a:extLst>
          </p:cNvPr>
          <p:cNvSpPr/>
          <p:nvPr/>
        </p:nvSpPr>
        <p:spPr>
          <a:xfrm>
            <a:off x="8826703" y="1399032"/>
            <a:ext cx="2511857" cy="356616"/>
          </a:xfrm>
          <a:prstGeom prst="roundRect">
            <a:avLst>
              <a:gd name="adj" fmla="val 25641"/>
            </a:avLst>
          </a:prstGeom>
          <a:solidFill>
            <a:srgbClr val="1C1C20"/>
          </a:solidFill>
          <a:ln w="9525">
            <a:solidFill>
              <a:srgbClr val="26262A"/>
            </a:solidFill>
            <a:prstDash val="solid"/>
          </a:ln>
        </p:spPr>
      </p:sp>
      <p:sp>
        <p:nvSpPr>
          <p:cNvPr id="34" name="Text 28"/>
          <p:cNvSpPr txBox="1"/>
          <p:nvPr/>
        </p:nvSpPr>
        <p:spPr>
          <a:xfrm>
            <a:off x="8936431" y="1472184"/>
            <a:ext cx="2292401"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AC for a 250 sqft office?</a:t>
            </a:r>
            <a:endParaRPr lang="en-US" sz="1200" dirty="0"/>
          </a:p>
        </p:txBody>
      </p:sp>
      <p:sp>
        <p:nvSpPr>
          <p:cNvPr id="35" name="Shape 29">
            <a:extLst>
              <a:ext uri="{C183D7F6-B498-43B3-948B-1728B52AA6E4}">
                <adec:decorative xmlns:adec="http://schemas.microsoft.com/office/drawing/2017/decorative" val="1"/>
              </a:ext>
            </a:extLst>
          </p:cNvPr>
          <p:cNvSpPr/>
          <p:nvPr/>
        </p:nvSpPr>
        <p:spPr>
          <a:xfrm>
            <a:off x="8275320" y="1865376"/>
            <a:ext cx="2511857" cy="548640"/>
          </a:xfrm>
          <a:prstGeom prst="roundRect">
            <a:avLst>
              <a:gd name="adj" fmla="val 16667"/>
            </a:avLst>
          </a:prstGeom>
          <a:solidFill>
            <a:srgbClr val="0F2A20"/>
          </a:solidFill>
          <a:ln w="9525">
            <a:solidFill>
              <a:srgbClr val="1D4D3A"/>
            </a:solidFill>
            <a:prstDash val="solid"/>
          </a:ln>
        </p:spPr>
      </p:sp>
      <p:sp>
        <p:nvSpPr>
          <p:cNvPr id="36" name="Text 30"/>
          <p:cNvSpPr txBox="1"/>
          <p:nvPr/>
        </p:nvSpPr>
        <p:spPr>
          <a:xfrm>
            <a:off x="8385048" y="1938528"/>
            <a:ext cx="2292401" cy="402336"/>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2.5 HP inverter recommended. Proceed?</a:t>
            </a:r>
            <a:endParaRPr lang="en-US" sz="1200" dirty="0"/>
          </a:p>
        </p:txBody>
      </p:sp>
      <p:sp>
        <p:nvSpPr>
          <p:cNvPr id="37" name="Shape 31">
            <a:extLst>
              <a:ext uri="{C183D7F6-B498-43B3-948B-1728B52AA6E4}">
                <adec:decorative xmlns:adec="http://schemas.microsoft.com/office/drawing/2017/decorative" val="1"/>
              </a:ext>
            </a:extLst>
          </p:cNvPr>
          <p:cNvSpPr/>
          <p:nvPr/>
        </p:nvSpPr>
        <p:spPr>
          <a:xfrm>
            <a:off x="10607040" y="2523744"/>
            <a:ext cx="731520" cy="356616"/>
          </a:xfrm>
          <a:prstGeom prst="roundRect">
            <a:avLst>
              <a:gd name="adj" fmla="val 25641"/>
            </a:avLst>
          </a:prstGeom>
          <a:solidFill>
            <a:srgbClr val="1C1C20"/>
          </a:solidFill>
          <a:ln w="9525">
            <a:solidFill>
              <a:srgbClr val="26262A"/>
            </a:solidFill>
            <a:prstDash val="solid"/>
          </a:ln>
        </p:spPr>
      </p:sp>
      <p:sp>
        <p:nvSpPr>
          <p:cNvPr id="38" name="Text 32"/>
          <p:cNvSpPr txBox="1"/>
          <p:nvPr/>
        </p:nvSpPr>
        <p:spPr>
          <a:xfrm>
            <a:off x="10716768" y="2596896"/>
            <a:ext cx="512064"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Yes.</a:t>
            </a:r>
            <a:endParaRPr lang="en-US" sz="1200" dirty="0"/>
          </a:p>
        </p:txBody>
      </p:sp>
      <p:sp>
        <p:nvSpPr>
          <p:cNvPr id="39" name="Shape 33">
            <a:extLst>
              <a:ext uri="{C183D7F6-B498-43B3-948B-1728B52AA6E4}">
                <adec:decorative xmlns:adec="http://schemas.microsoft.com/office/drawing/2017/decorative" val="1"/>
              </a:ext>
            </a:extLst>
          </p:cNvPr>
          <p:cNvSpPr/>
          <p:nvPr/>
        </p:nvSpPr>
        <p:spPr>
          <a:xfrm>
            <a:off x="8275320" y="2990088"/>
            <a:ext cx="2511857" cy="548640"/>
          </a:xfrm>
          <a:prstGeom prst="roundRect">
            <a:avLst>
              <a:gd name="adj" fmla="val 16667"/>
            </a:avLst>
          </a:prstGeom>
          <a:solidFill>
            <a:srgbClr val="0F2A20"/>
          </a:solidFill>
          <a:ln w="9525">
            <a:solidFill>
              <a:srgbClr val="1D4D3A"/>
            </a:solidFill>
            <a:prstDash val="solid"/>
          </a:ln>
        </p:spPr>
      </p:sp>
      <p:sp>
        <p:nvSpPr>
          <p:cNvPr id="40" name="Text 34"/>
          <p:cNvSpPr txBox="1"/>
          <p:nvPr/>
        </p:nvSpPr>
        <p:spPr>
          <a:xfrm>
            <a:off x="8385048" y="3063240"/>
            <a:ext cx="2292401" cy="402336"/>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Out of stock. A similar 2.5 HP model is in stock. Proceed?</a:t>
            </a:r>
            <a:endParaRPr lang="en-US" sz="1200" dirty="0"/>
          </a:p>
        </p:txBody>
      </p:sp>
      <p:sp>
        <p:nvSpPr>
          <p:cNvPr id="41" name="Shape 35">
            <a:extLst>
              <a:ext uri="{C183D7F6-B498-43B3-948B-1728B52AA6E4}">
                <adec:decorative xmlns:adec="http://schemas.microsoft.com/office/drawing/2017/decorative" val="1"/>
              </a:ext>
            </a:extLst>
          </p:cNvPr>
          <p:cNvSpPr/>
          <p:nvPr/>
        </p:nvSpPr>
        <p:spPr>
          <a:xfrm>
            <a:off x="8826703" y="3648456"/>
            <a:ext cx="2511857" cy="356616"/>
          </a:xfrm>
          <a:prstGeom prst="roundRect">
            <a:avLst>
              <a:gd name="adj" fmla="val 25641"/>
            </a:avLst>
          </a:prstGeom>
          <a:solidFill>
            <a:srgbClr val="1C1C20"/>
          </a:solidFill>
          <a:ln w="9525">
            <a:solidFill>
              <a:srgbClr val="26262A"/>
            </a:solidFill>
            <a:prstDash val="solid"/>
          </a:ln>
        </p:spPr>
      </p:sp>
      <p:sp>
        <p:nvSpPr>
          <p:cNvPr id="42" name="Text 36"/>
          <p:cNvSpPr txBox="1"/>
          <p:nvPr/>
        </p:nvSpPr>
        <p:spPr>
          <a:xfrm>
            <a:off x="8936431" y="3721608"/>
            <a:ext cx="2292401"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Yes. Install on 15 June?</a:t>
            </a:r>
            <a:endParaRPr lang="en-US" sz="1200" dirty="0"/>
          </a:p>
        </p:txBody>
      </p:sp>
      <p:sp>
        <p:nvSpPr>
          <p:cNvPr id="43" name="Shape 37">
            <a:extLst>
              <a:ext uri="{C183D7F6-B498-43B3-948B-1728B52AA6E4}">
                <adec:decorative xmlns:adec="http://schemas.microsoft.com/office/drawing/2017/decorative" val="1"/>
              </a:ext>
            </a:extLst>
          </p:cNvPr>
          <p:cNvSpPr/>
          <p:nvPr/>
        </p:nvSpPr>
        <p:spPr>
          <a:xfrm>
            <a:off x="8275320" y="4114800"/>
            <a:ext cx="2511857" cy="548640"/>
          </a:xfrm>
          <a:prstGeom prst="roundRect">
            <a:avLst>
              <a:gd name="adj" fmla="val 16667"/>
            </a:avLst>
          </a:prstGeom>
          <a:solidFill>
            <a:srgbClr val="0F2A20"/>
          </a:solidFill>
          <a:ln w="9525">
            <a:solidFill>
              <a:srgbClr val="1D4D3A"/>
            </a:solidFill>
            <a:prstDash val="solid"/>
          </a:ln>
        </p:spPr>
      </p:sp>
      <p:sp>
        <p:nvSpPr>
          <p:cNvPr id="44" name="Text 38"/>
          <p:cNvSpPr txBox="1"/>
          <p:nvPr/>
        </p:nvSpPr>
        <p:spPr>
          <a:xfrm>
            <a:off x="8385048" y="4187952"/>
            <a:ext cx="2292401" cy="402336"/>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15 June is full. 16 June, 9 AM?</a:t>
            </a:r>
            <a:endParaRPr lang="en-US" sz="1200" dirty="0"/>
          </a:p>
        </p:txBody>
      </p:sp>
      <p:sp>
        <p:nvSpPr>
          <p:cNvPr id="45" name="Shape 39">
            <a:extLst>
              <a:ext uri="{C183D7F6-B498-43B3-948B-1728B52AA6E4}">
                <adec:decorative xmlns:adec="http://schemas.microsoft.com/office/drawing/2017/decorative" val="1"/>
              </a:ext>
            </a:extLst>
          </p:cNvPr>
          <p:cNvSpPr/>
          <p:nvPr/>
        </p:nvSpPr>
        <p:spPr>
          <a:xfrm>
            <a:off x="10607040" y="4773168"/>
            <a:ext cx="731520" cy="356616"/>
          </a:xfrm>
          <a:prstGeom prst="roundRect">
            <a:avLst>
              <a:gd name="adj" fmla="val 25641"/>
            </a:avLst>
          </a:prstGeom>
          <a:solidFill>
            <a:srgbClr val="1C1C20"/>
          </a:solidFill>
          <a:ln w="9525">
            <a:solidFill>
              <a:srgbClr val="26262A"/>
            </a:solidFill>
            <a:prstDash val="solid"/>
          </a:ln>
        </p:spPr>
      </p:sp>
      <p:sp>
        <p:nvSpPr>
          <p:cNvPr id="46" name="Text 40"/>
          <p:cNvSpPr txBox="1"/>
          <p:nvPr/>
        </p:nvSpPr>
        <p:spPr>
          <a:xfrm>
            <a:off x="10716768" y="4846320"/>
            <a:ext cx="512064"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OK.</a:t>
            </a:r>
            <a:endParaRPr lang="en-US" sz="1200" dirty="0"/>
          </a:p>
        </p:txBody>
      </p:sp>
      <p:sp>
        <p:nvSpPr>
          <p:cNvPr id="47" name="Shape 41">
            <a:extLst>
              <a:ext uri="{C183D7F6-B498-43B3-948B-1728B52AA6E4}">
                <adec:decorative xmlns:adec="http://schemas.microsoft.com/office/drawing/2017/decorative" val="1"/>
              </a:ext>
            </a:extLst>
          </p:cNvPr>
          <p:cNvSpPr/>
          <p:nvPr/>
        </p:nvSpPr>
        <p:spPr>
          <a:xfrm>
            <a:off x="8275320" y="5239512"/>
            <a:ext cx="2511857" cy="356616"/>
          </a:xfrm>
          <a:prstGeom prst="roundRect">
            <a:avLst>
              <a:gd name="adj" fmla="val 25641"/>
            </a:avLst>
          </a:prstGeom>
          <a:solidFill>
            <a:srgbClr val="0F2A20"/>
          </a:solidFill>
          <a:ln w="9525">
            <a:solidFill>
              <a:srgbClr val="1D4D3A"/>
            </a:solidFill>
            <a:prstDash val="solid"/>
          </a:ln>
        </p:spPr>
      </p:sp>
      <p:sp>
        <p:nvSpPr>
          <p:cNvPr id="48" name="Text 42"/>
          <p:cNvSpPr txBox="1"/>
          <p:nvPr/>
        </p:nvSpPr>
        <p:spPr>
          <a:xfrm>
            <a:off x="8385048" y="5312664"/>
            <a:ext cx="2292401" cy="210312"/>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Quote emailed. Unit reserved.</a:t>
            </a:r>
            <a:endParaRPr lang="en-US" sz="12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Between your people and your systems</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AGENTIC AI LAYER</a:t>
            </a:r>
            <a:endParaRPr lang="en-US" sz="1000" dirty="0"/>
          </a:p>
        </p:txBody>
      </p:sp>
      <p:sp>
        <p:nvSpPr>
          <p:cNvPr id="4" name="people and channels">
            <a:extLst>
              <a:ext uri="{C183D7F6-B498-43B3-948B-1728B52AA6E4}">
                <adec:decorative xmlns:adec="http://schemas.microsoft.com/office/drawing/2017/decorative" val="1"/>
              </a:ext>
            </a:extLst>
          </p:cNvPr>
          <p:cNvSpPr/>
          <p:nvPr/>
        </p:nvSpPr>
        <p:spPr>
          <a:xfrm>
            <a:off x="548640" y="1920240"/>
            <a:ext cx="3154680" cy="3611880"/>
          </a:xfrm>
          <a:prstGeom prst="roundRect">
            <a:avLst>
              <a:gd name="adj" fmla="val 4638"/>
            </a:avLst>
          </a:prstGeom>
          <a:solidFill>
            <a:schemeClr val="tx2"/>
          </a:solidFill>
          <a:ln w="9525">
            <a:solidFill>
              <a:schemeClr val="accent2"/>
            </a:solidFill>
            <a:prstDash val="solid"/>
          </a:ln>
        </p:spPr>
      </p:sp>
      <p:sp>
        <p:nvSpPr>
          <p:cNvPr id="5" name="Text 3"/>
          <p:cNvSpPr txBox="1"/>
          <p:nvPr/>
        </p:nvSpPr>
        <p:spPr>
          <a:xfrm>
            <a:off x="822960" y="2148840"/>
            <a:ext cx="26060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YOUR PEOPLE</a:t>
            </a:r>
            <a:endParaRPr lang="en-US" sz="1200" dirty="0"/>
          </a:p>
        </p:txBody>
      </p:sp>
      <p:pic>
        <p:nvPicPr>
          <p:cNvPr id="6"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2960" y="2660904"/>
            <a:ext cx="274320" cy="274320"/>
          </a:xfrm>
          <a:prstGeom prst="rect">
            <a:avLst/>
          </a:prstGeom>
        </p:spPr>
      </p:pic>
      <p:sp>
        <p:nvSpPr>
          <p:cNvPr id="7" name="Text 4"/>
          <p:cNvSpPr txBox="1"/>
          <p:nvPr/>
        </p:nvSpPr>
        <p:spPr>
          <a:xfrm>
            <a:off x="1280160" y="2606040"/>
            <a:ext cx="2148840" cy="384048"/>
          </a:xfrm>
          <a:prstGeom prst="rect">
            <a:avLst/>
          </a:prstGeom>
          <a:noFill/>
          <a:ln/>
        </p:spPr>
        <p:txBody>
          <a:bodyPr wrap="square" lIns="0" tIns="0" rIns="0" bIns="0" rtlCol="0" anchor="ctr"/>
          <a:lstStyle/>
          <a:p>
            <a:pPr indent="0" marL="0">
              <a:buNone/>
            </a:pPr>
            <a:r>
              <a:rPr lang="en-US" sz="1600" dirty="0">
                <a:solidFill>
                  <a:schemeClr val="bg1"/>
                </a:solidFill>
              </a:rPr>
              <a:t>WhatsApp</a:t>
            </a:r>
            <a:endParaRPr lang="en-US" sz="1600" dirty="0"/>
          </a:p>
        </p:txBody>
      </p:sp>
      <p:pic>
        <p:nvPicPr>
          <p:cNvPr id="8"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2960" y="3209544"/>
            <a:ext cx="274320" cy="274320"/>
          </a:xfrm>
          <a:prstGeom prst="rect">
            <a:avLst/>
          </a:prstGeom>
        </p:spPr>
      </p:pic>
      <p:sp>
        <p:nvSpPr>
          <p:cNvPr id="9" name="Text 5"/>
          <p:cNvSpPr txBox="1"/>
          <p:nvPr/>
        </p:nvSpPr>
        <p:spPr>
          <a:xfrm>
            <a:off x="1280160" y="3154680"/>
            <a:ext cx="2148840" cy="384048"/>
          </a:xfrm>
          <a:prstGeom prst="rect">
            <a:avLst/>
          </a:prstGeom>
          <a:noFill/>
          <a:ln/>
        </p:spPr>
        <p:txBody>
          <a:bodyPr wrap="square" lIns="0" tIns="0" rIns="0" bIns="0" rtlCol="0" anchor="ctr"/>
          <a:lstStyle/>
          <a:p>
            <a:pPr indent="0" marL="0">
              <a:buNone/>
            </a:pPr>
            <a:r>
              <a:rPr lang="en-US" sz="1600" dirty="0">
                <a:solidFill>
                  <a:schemeClr val="bg1"/>
                </a:solidFill>
              </a:rPr>
              <a:t>Microsoft Teams</a:t>
            </a:r>
            <a:endParaRPr lang="en-US" sz="1600" dirty="0"/>
          </a:p>
        </p:txBody>
      </p:sp>
      <p:pic>
        <p:nvPicPr>
          <p:cNvPr id="10"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2960" y="3758184"/>
            <a:ext cx="274320" cy="274320"/>
          </a:xfrm>
          <a:prstGeom prst="rect">
            <a:avLst/>
          </a:prstGeom>
        </p:spPr>
      </p:pic>
      <p:sp>
        <p:nvSpPr>
          <p:cNvPr id="11" name="Text 6"/>
          <p:cNvSpPr txBox="1"/>
          <p:nvPr/>
        </p:nvSpPr>
        <p:spPr>
          <a:xfrm>
            <a:off x="1280160" y="3703320"/>
            <a:ext cx="2148840" cy="384048"/>
          </a:xfrm>
          <a:prstGeom prst="rect">
            <a:avLst/>
          </a:prstGeom>
          <a:noFill/>
          <a:ln/>
        </p:spPr>
        <p:txBody>
          <a:bodyPr wrap="square" lIns="0" tIns="0" rIns="0" bIns="0" rtlCol="0" anchor="ctr"/>
          <a:lstStyle/>
          <a:p>
            <a:pPr indent="0" marL="0">
              <a:buNone/>
            </a:pPr>
            <a:r>
              <a:rPr lang="en-US" sz="1600" dirty="0">
                <a:solidFill>
                  <a:schemeClr val="bg1"/>
                </a:solidFill>
              </a:rPr>
              <a:t>Telegram</a:t>
            </a:r>
            <a:endParaRPr lang="en-US" sz="1600" dirty="0"/>
          </a:p>
        </p:txBody>
      </p:sp>
      <p:pic>
        <p:nvPicPr>
          <p:cNvPr id="12"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22960" y="4306824"/>
            <a:ext cx="274320" cy="274320"/>
          </a:xfrm>
          <a:prstGeom prst="rect">
            <a:avLst/>
          </a:prstGeom>
        </p:spPr>
      </p:pic>
      <p:sp>
        <p:nvSpPr>
          <p:cNvPr id="13" name="Text 7"/>
          <p:cNvSpPr txBox="1"/>
          <p:nvPr/>
        </p:nvSpPr>
        <p:spPr>
          <a:xfrm>
            <a:off x="1280160" y="4251960"/>
            <a:ext cx="2148840" cy="384048"/>
          </a:xfrm>
          <a:prstGeom prst="rect">
            <a:avLst/>
          </a:prstGeom>
          <a:noFill/>
          <a:ln/>
        </p:spPr>
        <p:txBody>
          <a:bodyPr wrap="square" lIns="0" tIns="0" rIns="0" bIns="0" rtlCol="0" anchor="ctr"/>
          <a:lstStyle/>
          <a:p>
            <a:pPr indent="0" marL="0">
              <a:buNone/>
            </a:pPr>
            <a:r>
              <a:rPr lang="en-US" sz="1600" dirty="0">
                <a:solidFill>
                  <a:schemeClr val="bg1"/>
                </a:solidFill>
              </a:rPr>
              <a:t>Web portal</a:t>
            </a:r>
            <a:endParaRPr lang="en-US" sz="1600" dirty="0"/>
          </a:p>
        </p:txBody>
      </p:sp>
      <p:pic>
        <p:nvPicPr>
          <p:cNvPr id="14" name="Image 4">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2960" y="4855464"/>
            <a:ext cx="274320" cy="274320"/>
          </a:xfrm>
          <a:prstGeom prst="rect">
            <a:avLst/>
          </a:prstGeom>
        </p:spPr>
      </p:pic>
      <p:sp>
        <p:nvSpPr>
          <p:cNvPr id="15" name="Text 8"/>
          <p:cNvSpPr txBox="1"/>
          <p:nvPr/>
        </p:nvSpPr>
        <p:spPr>
          <a:xfrm>
            <a:off x="1280160" y="4800600"/>
            <a:ext cx="2148840" cy="384048"/>
          </a:xfrm>
          <a:prstGeom prst="rect">
            <a:avLst/>
          </a:prstGeom>
          <a:noFill/>
          <a:ln/>
        </p:spPr>
        <p:txBody>
          <a:bodyPr wrap="square" lIns="0" tIns="0" rIns="0" bIns="0" rtlCol="0" anchor="ctr"/>
          <a:lstStyle/>
          <a:p>
            <a:pPr indent="0" marL="0">
              <a:buNone/>
            </a:pPr>
            <a:r>
              <a:rPr lang="en-US" sz="1600" dirty="0">
                <a:solidFill>
                  <a:schemeClr val="bg1"/>
                </a:solidFill>
              </a:rPr>
              <a:t>Mobile app</a:t>
            </a:r>
            <a:endParaRPr lang="en-US" sz="1600" dirty="0"/>
          </a:p>
        </p:txBody>
      </p:sp>
      <p:sp>
        <p:nvSpPr>
          <p:cNvPr id="16" name="agentic AI layer">
            <a:extLst>
              <a:ext uri="{C183D7F6-B498-43B3-948B-1728B52AA6E4}">
                <adec:decorative xmlns:adec="http://schemas.microsoft.com/office/drawing/2017/decorative" val="1"/>
              </a:ext>
            </a:extLst>
          </p:cNvPr>
          <p:cNvSpPr/>
          <p:nvPr/>
        </p:nvSpPr>
        <p:spPr>
          <a:xfrm>
            <a:off x="4206240" y="1920240"/>
            <a:ext cx="3779215" cy="3611880"/>
          </a:xfrm>
          <a:prstGeom prst="roundRect">
            <a:avLst>
              <a:gd name="adj" fmla="val 4051"/>
            </a:avLst>
          </a:prstGeom>
          <a:solidFill>
            <a:srgbClr val="0F2A20"/>
          </a:solidFill>
          <a:ln w="9525">
            <a:solidFill>
              <a:schemeClr val="accent1"/>
            </a:solidFill>
            <a:prstDash val="solid"/>
          </a:ln>
          <a:effectLst>
            <a:outerShdw sx="100000" sy="100000" kx="0" ky="0" algn="bl" rotWithShape="0" blurRad="228600" dist="50800" dir="5400000">
              <a:srgbClr val="00D992">
                <a:alpha val="35000"/>
              </a:srgbClr>
            </a:outerShdw>
          </a:effectLst>
        </p:spPr>
      </p:sp>
      <p:sp>
        <p:nvSpPr>
          <p:cNvPr id="17" name="Text 10"/>
          <p:cNvSpPr txBox="1"/>
          <p:nvPr/>
        </p:nvSpPr>
        <p:spPr>
          <a:xfrm>
            <a:off x="4480560" y="2148840"/>
            <a:ext cx="3230575"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AGENTIC AI LAYER</a:t>
            </a:r>
            <a:endParaRPr lang="en-US" sz="1200" dirty="0"/>
          </a:p>
        </p:txBody>
      </p:sp>
      <p:pic>
        <p:nvPicPr>
          <p:cNvPr id="18" name="Image 5">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80560" y="2633472"/>
            <a:ext cx="292608" cy="292608"/>
          </a:xfrm>
          <a:prstGeom prst="rect">
            <a:avLst/>
          </a:prstGeom>
        </p:spPr>
      </p:pic>
      <p:sp>
        <p:nvSpPr>
          <p:cNvPr id="19" name="Text 11"/>
          <p:cNvSpPr txBox="1"/>
          <p:nvPr/>
        </p:nvSpPr>
        <p:spPr>
          <a:xfrm>
            <a:off x="4956048" y="2578608"/>
            <a:ext cx="2773375" cy="292608"/>
          </a:xfrm>
          <a:prstGeom prst="rect">
            <a:avLst/>
          </a:prstGeom>
          <a:noFill/>
          <a:ln/>
        </p:spPr>
        <p:txBody>
          <a:bodyPr wrap="square" lIns="0" tIns="0" rIns="0" bIns="0" rtlCol="0" anchor="t"/>
          <a:lstStyle/>
          <a:p>
            <a:pPr indent="0" marL="0">
              <a:buNone/>
            </a:pPr>
            <a:r>
              <a:rPr lang="en-US" sz="1600" b="1" dirty="0">
                <a:solidFill>
                  <a:srgbClr val="C9F5E4"/>
                </a:solidFill>
              </a:rPr>
              <a:t>Knows your business</a:t>
            </a:r>
            <a:endParaRPr lang="en-US" sz="1600" dirty="0"/>
          </a:p>
        </p:txBody>
      </p:sp>
      <p:sp>
        <p:nvSpPr>
          <p:cNvPr id="20" name="Text 12"/>
          <p:cNvSpPr txBox="1"/>
          <p:nvPr/>
        </p:nvSpPr>
        <p:spPr>
          <a:xfrm>
            <a:off x="4956048" y="2871216"/>
            <a:ext cx="2773375" cy="274320"/>
          </a:xfrm>
          <a:prstGeom prst="rect">
            <a:avLst/>
          </a:prstGeom>
          <a:noFill/>
          <a:ln/>
        </p:spPr>
        <p:txBody>
          <a:bodyPr wrap="square" lIns="0" tIns="0" rIns="0" bIns="0" rtlCol="0" anchor="t"/>
          <a:lstStyle/>
          <a:p>
            <a:pPr indent="0" marL="0">
              <a:buNone/>
            </a:pPr>
            <a:r>
              <a:rPr lang="en-US" sz="1400" dirty="0">
                <a:solidFill>
                  <a:schemeClr val="bg2"/>
                </a:solidFill>
              </a:rPr>
              <a:t>Products, prices, rules</a:t>
            </a:r>
            <a:endParaRPr lang="en-US" sz="1400" dirty="0"/>
          </a:p>
        </p:txBody>
      </p:sp>
      <p:pic>
        <p:nvPicPr>
          <p:cNvPr id="21" name="Image 6">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480560" y="3346704"/>
            <a:ext cx="292608" cy="292608"/>
          </a:xfrm>
          <a:prstGeom prst="rect">
            <a:avLst/>
          </a:prstGeom>
        </p:spPr>
      </p:pic>
      <p:sp>
        <p:nvSpPr>
          <p:cNvPr id="22" name="Text 13"/>
          <p:cNvSpPr txBox="1"/>
          <p:nvPr/>
        </p:nvSpPr>
        <p:spPr>
          <a:xfrm>
            <a:off x="4956048" y="3291840"/>
            <a:ext cx="2773375" cy="292608"/>
          </a:xfrm>
          <a:prstGeom prst="rect">
            <a:avLst/>
          </a:prstGeom>
          <a:noFill/>
          <a:ln/>
        </p:spPr>
        <p:txBody>
          <a:bodyPr wrap="square" lIns="0" tIns="0" rIns="0" bIns="0" rtlCol="0" anchor="t"/>
          <a:lstStyle/>
          <a:p>
            <a:pPr indent="0" marL="0">
              <a:buNone/>
            </a:pPr>
            <a:r>
              <a:rPr lang="en-US" sz="1600" b="1" dirty="0">
                <a:solidFill>
                  <a:srgbClr val="C9F5E4"/>
                </a:solidFill>
              </a:rPr>
              <a:t>Any AI model</a:t>
            </a:r>
            <a:endParaRPr lang="en-US" sz="1600" dirty="0"/>
          </a:p>
        </p:txBody>
      </p:sp>
      <p:sp>
        <p:nvSpPr>
          <p:cNvPr id="23" name="Text 14"/>
          <p:cNvSpPr txBox="1"/>
          <p:nvPr/>
        </p:nvSpPr>
        <p:spPr>
          <a:xfrm>
            <a:off x="4956048" y="3584448"/>
            <a:ext cx="2773375" cy="274320"/>
          </a:xfrm>
          <a:prstGeom prst="rect">
            <a:avLst/>
          </a:prstGeom>
          <a:noFill/>
          <a:ln/>
        </p:spPr>
        <p:txBody>
          <a:bodyPr wrap="square" lIns="0" tIns="0" rIns="0" bIns="0" rtlCol="0" anchor="t"/>
          <a:lstStyle/>
          <a:p>
            <a:pPr indent="0" marL="0">
              <a:buNone/>
            </a:pPr>
            <a:r>
              <a:rPr lang="en-US" sz="1400" dirty="0">
                <a:solidFill>
                  <a:schemeClr val="bg2"/>
                </a:solidFill>
              </a:rPr>
              <a:t>Cloud or private</a:t>
            </a:r>
            <a:endParaRPr lang="en-US" sz="1400" dirty="0"/>
          </a:p>
        </p:txBody>
      </p:sp>
      <p:pic>
        <p:nvPicPr>
          <p:cNvPr id="24" name="Image 7">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480560" y="4059936"/>
            <a:ext cx="292608" cy="292608"/>
          </a:xfrm>
          <a:prstGeom prst="rect">
            <a:avLst/>
          </a:prstGeom>
        </p:spPr>
      </p:pic>
      <p:sp>
        <p:nvSpPr>
          <p:cNvPr id="25" name="Text 15"/>
          <p:cNvSpPr txBox="1"/>
          <p:nvPr/>
        </p:nvSpPr>
        <p:spPr>
          <a:xfrm>
            <a:off x="4956048" y="4005072"/>
            <a:ext cx="2773375" cy="292608"/>
          </a:xfrm>
          <a:prstGeom prst="rect">
            <a:avLst/>
          </a:prstGeom>
          <a:noFill/>
          <a:ln/>
        </p:spPr>
        <p:txBody>
          <a:bodyPr wrap="square" lIns="0" tIns="0" rIns="0" bIns="0" rtlCol="0" anchor="t"/>
          <a:lstStyle/>
          <a:p>
            <a:pPr indent="0" marL="0">
              <a:buNone/>
            </a:pPr>
            <a:r>
              <a:rPr lang="en-US" sz="1600" b="1" dirty="0">
                <a:solidFill>
                  <a:srgbClr val="C9F5E4"/>
                </a:solidFill>
              </a:rPr>
              <a:t>Task agents</a:t>
            </a:r>
            <a:endParaRPr lang="en-US" sz="1600" dirty="0"/>
          </a:p>
        </p:txBody>
      </p:sp>
      <p:sp>
        <p:nvSpPr>
          <p:cNvPr id="26" name="Text 16"/>
          <p:cNvSpPr txBox="1"/>
          <p:nvPr/>
        </p:nvSpPr>
        <p:spPr>
          <a:xfrm>
            <a:off x="4956048" y="4297680"/>
            <a:ext cx="2773375" cy="274320"/>
          </a:xfrm>
          <a:prstGeom prst="rect">
            <a:avLst/>
          </a:prstGeom>
          <a:noFill/>
          <a:ln/>
        </p:spPr>
        <p:txBody>
          <a:bodyPr wrap="square" lIns="0" tIns="0" rIns="0" bIns="0" rtlCol="0" anchor="t"/>
          <a:lstStyle/>
          <a:p>
            <a:pPr indent="0" marL="0">
              <a:buNone/>
            </a:pPr>
            <a:r>
              <a:rPr lang="en-US" sz="1400" dirty="0">
                <a:solidFill>
                  <a:schemeClr val="bg2"/>
                </a:solidFill>
              </a:rPr>
              <a:t>One job each</a:t>
            </a:r>
            <a:endParaRPr lang="en-US" sz="1400" dirty="0"/>
          </a:p>
        </p:txBody>
      </p:sp>
      <p:pic>
        <p:nvPicPr>
          <p:cNvPr id="27" name="Image 8">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480560" y="4773168"/>
            <a:ext cx="292608" cy="292608"/>
          </a:xfrm>
          <a:prstGeom prst="rect">
            <a:avLst/>
          </a:prstGeom>
        </p:spPr>
      </p:pic>
      <p:sp>
        <p:nvSpPr>
          <p:cNvPr id="28" name="Text 17"/>
          <p:cNvSpPr txBox="1"/>
          <p:nvPr/>
        </p:nvSpPr>
        <p:spPr>
          <a:xfrm>
            <a:off x="4956048" y="4718304"/>
            <a:ext cx="2773375" cy="292608"/>
          </a:xfrm>
          <a:prstGeom prst="rect">
            <a:avLst/>
          </a:prstGeom>
          <a:noFill/>
          <a:ln/>
        </p:spPr>
        <p:txBody>
          <a:bodyPr wrap="square" lIns="0" tIns="0" rIns="0" bIns="0" rtlCol="0" anchor="t"/>
          <a:lstStyle/>
          <a:p>
            <a:pPr indent="0" marL="0">
              <a:buNone/>
            </a:pPr>
            <a:r>
              <a:rPr lang="en-US" sz="1600" b="1" dirty="0">
                <a:solidFill>
                  <a:srgbClr val="C9F5E4"/>
                </a:solidFill>
              </a:rPr>
              <a:t>Guardrails</a:t>
            </a:r>
            <a:endParaRPr lang="en-US" sz="1600" dirty="0"/>
          </a:p>
        </p:txBody>
      </p:sp>
      <p:sp>
        <p:nvSpPr>
          <p:cNvPr id="29" name="Text 18"/>
          <p:cNvSpPr txBox="1"/>
          <p:nvPr/>
        </p:nvSpPr>
        <p:spPr>
          <a:xfrm>
            <a:off x="4956048" y="5010912"/>
            <a:ext cx="2773375" cy="274320"/>
          </a:xfrm>
          <a:prstGeom prst="rect">
            <a:avLst/>
          </a:prstGeom>
          <a:noFill/>
          <a:ln/>
        </p:spPr>
        <p:txBody>
          <a:bodyPr wrap="square" lIns="0" tIns="0" rIns="0" bIns="0" rtlCol="0" anchor="t"/>
          <a:lstStyle/>
          <a:p>
            <a:pPr indent="0" marL="0">
              <a:buNone/>
            </a:pPr>
            <a:r>
              <a:rPr lang="en-US" sz="1400" dirty="0">
                <a:solidFill>
                  <a:schemeClr val="bg2"/>
                </a:solidFill>
              </a:rPr>
              <a:t>Checks every output</a:t>
            </a:r>
            <a:endParaRPr lang="en-US" sz="1400" dirty="0"/>
          </a:p>
        </p:txBody>
      </p:sp>
      <p:sp>
        <p:nvSpPr>
          <p:cNvPr id="30" name="your systems">
            <a:extLst>
              <a:ext uri="{C183D7F6-B498-43B3-948B-1728B52AA6E4}">
                <adec:decorative xmlns:adec="http://schemas.microsoft.com/office/drawing/2017/decorative" val="1"/>
              </a:ext>
            </a:extLst>
          </p:cNvPr>
          <p:cNvSpPr/>
          <p:nvPr/>
        </p:nvSpPr>
        <p:spPr>
          <a:xfrm>
            <a:off x="8488375" y="1920240"/>
            <a:ext cx="3154680" cy="3611880"/>
          </a:xfrm>
          <a:prstGeom prst="roundRect">
            <a:avLst>
              <a:gd name="adj" fmla="val 4638"/>
            </a:avLst>
          </a:prstGeom>
          <a:solidFill>
            <a:schemeClr val="tx2"/>
          </a:solidFill>
          <a:ln w="9525">
            <a:solidFill>
              <a:schemeClr val="accent2"/>
            </a:solidFill>
            <a:prstDash val="solid"/>
          </a:ln>
        </p:spPr>
      </p:sp>
      <p:sp>
        <p:nvSpPr>
          <p:cNvPr id="31" name="Text 20"/>
          <p:cNvSpPr txBox="1"/>
          <p:nvPr/>
        </p:nvSpPr>
        <p:spPr>
          <a:xfrm>
            <a:off x="8762695" y="2148840"/>
            <a:ext cx="260604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YOUR SYSTEMS</a:t>
            </a:r>
            <a:endParaRPr lang="en-US" sz="1200" dirty="0"/>
          </a:p>
        </p:txBody>
      </p:sp>
      <p:pic>
        <p:nvPicPr>
          <p:cNvPr id="32" name="Image 9">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8762695" y="2660904"/>
            <a:ext cx="274320" cy="274320"/>
          </a:xfrm>
          <a:prstGeom prst="rect">
            <a:avLst/>
          </a:prstGeom>
        </p:spPr>
      </p:pic>
      <p:sp>
        <p:nvSpPr>
          <p:cNvPr id="33" name="Text 21"/>
          <p:cNvSpPr txBox="1"/>
          <p:nvPr/>
        </p:nvSpPr>
        <p:spPr>
          <a:xfrm>
            <a:off x="9219895" y="2606040"/>
            <a:ext cx="2148840" cy="384048"/>
          </a:xfrm>
          <a:prstGeom prst="rect">
            <a:avLst/>
          </a:prstGeom>
          <a:noFill/>
          <a:ln/>
        </p:spPr>
        <p:txBody>
          <a:bodyPr wrap="square" lIns="0" tIns="0" rIns="0" bIns="0" rtlCol="0" anchor="ctr"/>
          <a:lstStyle/>
          <a:p>
            <a:pPr indent="0" marL="0">
              <a:buNone/>
            </a:pPr>
            <a:r>
              <a:rPr lang="en-US" sz="1600" dirty="0">
                <a:solidFill>
                  <a:schemeClr val="bg1"/>
                </a:solidFill>
              </a:rPr>
              <a:t>AutoCount</a:t>
            </a:r>
            <a:endParaRPr lang="en-US" sz="1600" dirty="0"/>
          </a:p>
        </p:txBody>
      </p:sp>
      <p:pic>
        <p:nvPicPr>
          <p:cNvPr id="34" name="Image 10">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8762695" y="3209544"/>
            <a:ext cx="274320" cy="274320"/>
          </a:xfrm>
          <a:prstGeom prst="rect">
            <a:avLst/>
          </a:prstGeom>
        </p:spPr>
      </p:pic>
      <p:sp>
        <p:nvSpPr>
          <p:cNvPr id="35" name="Text 22"/>
          <p:cNvSpPr txBox="1"/>
          <p:nvPr/>
        </p:nvSpPr>
        <p:spPr>
          <a:xfrm>
            <a:off x="9219895" y="3154680"/>
            <a:ext cx="2148840" cy="384048"/>
          </a:xfrm>
          <a:prstGeom prst="rect">
            <a:avLst/>
          </a:prstGeom>
          <a:noFill/>
          <a:ln/>
        </p:spPr>
        <p:txBody>
          <a:bodyPr wrap="square" lIns="0" tIns="0" rIns="0" bIns="0" rtlCol="0" anchor="ctr"/>
          <a:lstStyle/>
          <a:p>
            <a:pPr indent="0" marL="0">
              <a:buNone/>
            </a:pPr>
            <a:r>
              <a:rPr lang="en-US" sz="1600" dirty="0">
                <a:solidFill>
                  <a:schemeClr val="bg1"/>
                </a:solidFill>
              </a:rPr>
              <a:t>ERP</a:t>
            </a:r>
            <a:endParaRPr lang="en-US" sz="1600" dirty="0"/>
          </a:p>
        </p:txBody>
      </p:sp>
      <p:pic>
        <p:nvPicPr>
          <p:cNvPr id="36" name="Image 11">
            <a:extLs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8762695" y="3758184"/>
            <a:ext cx="274320" cy="274320"/>
          </a:xfrm>
          <a:prstGeom prst="rect">
            <a:avLst/>
          </a:prstGeom>
        </p:spPr>
      </p:pic>
      <p:sp>
        <p:nvSpPr>
          <p:cNvPr id="37" name="Text 23"/>
          <p:cNvSpPr txBox="1"/>
          <p:nvPr/>
        </p:nvSpPr>
        <p:spPr>
          <a:xfrm>
            <a:off x="9219895" y="3703320"/>
            <a:ext cx="2148840" cy="384048"/>
          </a:xfrm>
          <a:prstGeom prst="rect">
            <a:avLst/>
          </a:prstGeom>
          <a:noFill/>
          <a:ln/>
        </p:spPr>
        <p:txBody>
          <a:bodyPr wrap="square" lIns="0" tIns="0" rIns="0" bIns="0" rtlCol="0" anchor="ctr"/>
          <a:lstStyle/>
          <a:p>
            <a:pPr indent="0" marL="0">
              <a:buNone/>
            </a:pPr>
            <a:r>
              <a:rPr lang="en-US" sz="1600" dirty="0">
                <a:solidFill>
                  <a:schemeClr val="bg1"/>
                </a:solidFill>
              </a:rPr>
              <a:t>Payment gateway</a:t>
            </a:r>
            <a:endParaRPr lang="en-US" sz="1600" dirty="0"/>
          </a:p>
        </p:txBody>
      </p:sp>
      <p:pic>
        <p:nvPicPr>
          <p:cNvPr id="38" name="Image 12">
            <a:extLs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8762695" y="4306824"/>
            <a:ext cx="274320" cy="274320"/>
          </a:xfrm>
          <a:prstGeom prst="rect">
            <a:avLst/>
          </a:prstGeom>
        </p:spPr>
      </p:pic>
      <p:sp>
        <p:nvSpPr>
          <p:cNvPr id="39" name="Text 24"/>
          <p:cNvSpPr txBox="1"/>
          <p:nvPr/>
        </p:nvSpPr>
        <p:spPr>
          <a:xfrm>
            <a:off x="9219895" y="4251960"/>
            <a:ext cx="2148840" cy="384048"/>
          </a:xfrm>
          <a:prstGeom prst="rect">
            <a:avLst/>
          </a:prstGeom>
          <a:noFill/>
          <a:ln/>
        </p:spPr>
        <p:txBody>
          <a:bodyPr wrap="square" lIns="0" tIns="0" rIns="0" bIns="0" rtlCol="0" anchor="ctr"/>
          <a:lstStyle/>
          <a:p>
            <a:pPr indent="0" marL="0">
              <a:buNone/>
            </a:pPr>
            <a:r>
              <a:rPr lang="en-US" sz="1600" dirty="0">
                <a:solidFill>
                  <a:schemeClr val="bg1"/>
                </a:solidFill>
              </a:rPr>
              <a:t>Google Calendar</a:t>
            </a:r>
            <a:endParaRPr lang="en-US" sz="1600" dirty="0"/>
          </a:p>
        </p:txBody>
      </p:sp>
      <p:pic>
        <p:nvPicPr>
          <p:cNvPr id="40" name="Image 13">
            <a:extLs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8762695" y="4855464"/>
            <a:ext cx="274320" cy="274320"/>
          </a:xfrm>
          <a:prstGeom prst="rect">
            <a:avLst/>
          </a:prstGeom>
        </p:spPr>
      </p:pic>
      <p:sp>
        <p:nvSpPr>
          <p:cNvPr id="41" name="Text 25"/>
          <p:cNvSpPr txBox="1"/>
          <p:nvPr/>
        </p:nvSpPr>
        <p:spPr>
          <a:xfrm>
            <a:off x="9219895" y="4800600"/>
            <a:ext cx="2148840" cy="384048"/>
          </a:xfrm>
          <a:prstGeom prst="rect">
            <a:avLst/>
          </a:prstGeom>
          <a:noFill/>
          <a:ln/>
        </p:spPr>
        <p:txBody>
          <a:bodyPr wrap="square" lIns="0" tIns="0" rIns="0" bIns="0" rtlCol="0" anchor="ctr"/>
          <a:lstStyle/>
          <a:p>
            <a:pPr indent="0" marL="0">
              <a:buNone/>
            </a:pPr>
            <a:r>
              <a:rPr lang="en-US" sz="1600" dirty="0">
                <a:solidFill>
                  <a:schemeClr val="bg1"/>
                </a:solidFill>
              </a:rPr>
              <a:t>Other systems</a:t>
            </a:r>
            <a:endParaRPr lang="en-US" sz="1600" dirty="0"/>
          </a:p>
        </p:txBody>
      </p:sp>
      <p:pic>
        <p:nvPicPr>
          <p:cNvPr id="42" name="Image 14">
            <a:extLs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3803904" y="3579876"/>
            <a:ext cx="292608" cy="292608"/>
          </a:xfrm>
          <a:prstGeom prst="rect">
            <a:avLst/>
          </a:prstGeom>
        </p:spPr>
      </p:pic>
      <p:pic>
        <p:nvPicPr>
          <p:cNvPr id="43" name="Image 15">
            <a:extLs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8086039" y="3579876"/>
            <a:ext cx="292608" cy="292608"/>
          </a:xfrm>
          <a:prstGeom prst="rect">
            <a:avLst/>
          </a:prstGeom>
        </p:spPr>
      </p:pic>
      <p:sp>
        <p:nvSpPr>
          <p:cNvPr id="45"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Out of stock? The sale continues</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AGENTIC AI LAYER</a:t>
            </a:r>
            <a:endParaRPr lang="en-US" sz="1000" dirty="0"/>
          </a:p>
        </p:txBody>
      </p:sp>
      <p:sp>
        <p:nvSpPr>
          <p:cNvPr id="4" name="Shape 2">
            <a:extLst>
              <a:ext uri="{C183D7F6-B498-43B3-948B-1728B52AA6E4}">
                <adec:decorative xmlns:adec="http://schemas.microsoft.com/office/drawing/2017/decorative" val="1"/>
              </a:ext>
            </a:extLst>
          </p:cNvPr>
          <p:cNvSpPr/>
          <p:nvPr/>
        </p:nvSpPr>
        <p:spPr>
          <a:xfrm>
            <a:off x="1555669" y="2971800"/>
            <a:ext cx="9080358" cy="0"/>
          </a:xfrm>
          <a:prstGeom prst="line">
            <a:avLst/>
          </a:prstGeom>
          <a:noFill/>
          <a:ln w="15875">
            <a:solidFill>
              <a:schemeClr val="accent1"/>
            </a:solidFill>
            <a:prstDash val="solid"/>
          </a:ln>
        </p:spPr>
      </p:sp>
      <p:sp>
        <p:nvSpPr>
          <p:cNvPr id="5" name="step 1">
            <a:extLst>
              <a:ext uri="{C183D7F6-B498-43B3-948B-1728B52AA6E4}">
                <adec:decorative xmlns:adec="http://schemas.microsoft.com/office/drawing/2017/decorative" val="1"/>
              </a:ext>
            </a:extLst>
          </p:cNvPr>
          <p:cNvSpPr/>
          <p:nvPr/>
        </p:nvSpPr>
        <p:spPr>
          <a:xfrm>
            <a:off x="1189909" y="2606040"/>
            <a:ext cx="731520" cy="731520"/>
          </a:xfrm>
          <a:prstGeom prst="ellipse">
            <a:avLst/>
          </a:prstGeom>
          <a:solidFill>
            <a:srgbClr val="09090B"/>
          </a:solidFill>
          <a:ln w="19050">
            <a:solidFill>
              <a:schemeClr val="accent1"/>
            </a:solidFill>
            <a:prstDash val="solid"/>
          </a:ln>
        </p:spPr>
      </p:sp>
      <p:pic>
        <p:nvPicPr>
          <p:cNvPr id="6" name="Image 0" descr="done">    </p:cNvPr>
          <p:cNvPicPr>
            <a:picLocks noChangeAspect="1"/>
          </p:cNvPicPr>
          <p:nvPr/>
        </p:nvPicPr>
        <p:blipFill>
          <a:blip r:embed="rId1"/>
          <a:stretch>
            <a:fillRect/>
          </a:stretch>
        </p:blipFill>
        <p:spPr>
          <a:xfrm>
            <a:off x="1402050" y="2818181"/>
            <a:ext cx="307238" cy="307238"/>
          </a:xfrm>
          <a:prstGeom prst="rect">
            <a:avLst/>
          </a:prstGeom>
        </p:spPr>
      </p:pic>
      <p:sp>
        <p:nvSpPr>
          <p:cNvPr id="7" name="Text 4"/>
          <p:cNvSpPr txBox="1"/>
          <p:nvPr/>
        </p:nvSpPr>
        <p:spPr>
          <a:xfrm>
            <a:off x="548640" y="359359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Understand</a:t>
            </a:r>
            <a:endParaRPr lang="en-US" sz="1800" dirty="0"/>
          </a:p>
        </p:txBody>
      </p:sp>
      <p:sp>
        <p:nvSpPr>
          <p:cNvPr id="8" name="Text 5"/>
          <p:cNvSpPr txBox="1"/>
          <p:nvPr/>
        </p:nvSpPr>
        <p:spPr>
          <a:xfrm>
            <a:off x="548640" y="394106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SALES</a:t>
            </a:r>
            <a:endParaRPr lang="en-US" sz="1200" dirty="0"/>
          </a:p>
        </p:txBody>
      </p:sp>
      <p:sp>
        <p:nvSpPr>
          <p:cNvPr id="9" name="Text 6"/>
          <p:cNvSpPr txBox="1"/>
          <p:nvPr/>
        </p:nvSpPr>
        <p:spPr>
          <a:xfrm>
            <a:off x="594360" y="425196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250 sqft office</a:t>
            </a:r>
            <a:endParaRPr lang="en-US" sz="1400" dirty="0"/>
          </a:p>
        </p:txBody>
      </p:sp>
      <p:sp>
        <p:nvSpPr>
          <p:cNvPr id="10" name="step 2">
            <a:extLst>
              <a:ext uri="{C183D7F6-B498-43B3-948B-1728B52AA6E4}">
                <adec:decorative xmlns:adec="http://schemas.microsoft.com/office/drawing/2017/decorative" val="1"/>
              </a:ext>
            </a:extLst>
          </p:cNvPr>
          <p:cNvSpPr/>
          <p:nvPr/>
        </p:nvSpPr>
        <p:spPr>
          <a:xfrm>
            <a:off x="3459998" y="2606040"/>
            <a:ext cx="731520" cy="731520"/>
          </a:xfrm>
          <a:prstGeom prst="ellipse">
            <a:avLst/>
          </a:prstGeom>
          <a:solidFill>
            <a:schemeClr val="accent4"/>
          </a:solidFill>
          <a:ln w="19050">
            <a:solidFill>
              <a:schemeClr val="accent4"/>
            </a:solidFill>
            <a:prstDash val="solid"/>
          </a:ln>
        </p:spPr>
      </p:sp>
      <p:pic>
        <p:nvPicPr>
          <p:cNvPr id="11" name="Image 1" descr="retried">    </p:cNvPr>
          <p:cNvPicPr>
            <a:picLocks noChangeAspect="1"/>
          </p:cNvPicPr>
          <p:nvPr/>
        </p:nvPicPr>
        <p:blipFill>
          <a:blip r:embed="rId2"/>
          <a:stretch>
            <a:fillRect/>
          </a:stretch>
        </p:blipFill>
        <p:spPr>
          <a:xfrm>
            <a:off x="3672139" y="2818181"/>
            <a:ext cx="307238" cy="307238"/>
          </a:xfrm>
          <a:prstGeom prst="rect">
            <a:avLst/>
          </a:prstGeom>
        </p:spPr>
      </p:pic>
      <p:sp>
        <p:nvSpPr>
          <p:cNvPr id="12" name="Text 8"/>
          <p:cNvSpPr txBox="1"/>
          <p:nvPr/>
        </p:nvSpPr>
        <p:spPr>
          <a:xfrm>
            <a:off x="2818729" y="359359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Recommend</a:t>
            </a:r>
            <a:endParaRPr lang="en-US" sz="1800" dirty="0"/>
          </a:p>
        </p:txBody>
      </p:sp>
      <p:sp>
        <p:nvSpPr>
          <p:cNvPr id="13" name="Text 9"/>
          <p:cNvSpPr txBox="1"/>
          <p:nvPr/>
        </p:nvSpPr>
        <p:spPr>
          <a:xfrm>
            <a:off x="2818729" y="394106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4"/>
                </a:solidFill>
                <a:latin typeface="Courier New" pitchFamily="34" charset="0"/>
                <a:ea typeface="Courier New" pitchFamily="34" charset="-122"/>
                <a:cs typeface="Courier New" pitchFamily="34" charset="-120"/>
              </a:rPr>
              <a:t>PRODUCT</a:t>
            </a:r>
            <a:endParaRPr lang="en-US" sz="1200" dirty="0"/>
          </a:p>
        </p:txBody>
      </p:sp>
      <p:sp>
        <p:nvSpPr>
          <p:cNvPr id="14" name="Text 10"/>
          <p:cNvSpPr txBox="1"/>
          <p:nvPr/>
        </p:nvSpPr>
        <p:spPr>
          <a:xfrm>
            <a:off x="2864449" y="425196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Best-fit model</a:t>
            </a:r>
            <a:endParaRPr lang="en-US" sz="1400" dirty="0"/>
          </a:p>
        </p:txBody>
      </p:sp>
      <p:sp>
        <p:nvSpPr>
          <p:cNvPr id="15" name="step 3">
            <a:extLst>
              <a:ext uri="{C183D7F6-B498-43B3-948B-1728B52AA6E4}">
                <adec:decorative xmlns:adec="http://schemas.microsoft.com/office/drawing/2017/decorative" val="1"/>
              </a:ext>
            </a:extLst>
          </p:cNvPr>
          <p:cNvSpPr/>
          <p:nvPr/>
        </p:nvSpPr>
        <p:spPr>
          <a:xfrm>
            <a:off x="5730088" y="2606040"/>
            <a:ext cx="731520" cy="731520"/>
          </a:xfrm>
          <a:prstGeom prst="ellipse">
            <a:avLst/>
          </a:prstGeom>
          <a:solidFill>
            <a:schemeClr val="accent3"/>
          </a:solidFill>
          <a:ln w="19050">
            <a:solidFill>
              <a:schemeClr val="accent3"/>
            </a:solidFill>
            <a:prstDash val="solid"/>
          </a:ln>
        </p:spPr>
      </p:sp>
      <p:pic>
        <p:nvPicPr>
          <p:cNvPr id="16" name="Image 2" descr="failed">    </p:cNvPr>
          <p:cNvPicPr>
            <a:picLocks noChangeAspect="1"/>
          </p:cNvPicPr>
          <p:nvPr/>
        </p:nvPicPr>
        <p:blipFill>
          <a:blip r:embed="rId3"/>
          <a:stretch>
            <a:fillRect/>
          </a:stretch>
        </p:blipFill>
        <p:spPr>
          <a:xfrm>
            <a:off x="5942228" y="2818181"/>
            <a:ext cx="307238" cy="307238"/>
          </a:xfrm>
          <a:prstGeom prst="rect">
            <a:avLst/>
          </a:prstGeom>
        </p:spPr>
      </p:pic>
      <p:sp>
        <p:nvSpPr>
          <p:cNvPr id="17" name="Text 12"/>
          <p:cNvSpPr txBox="1"/>
          <p:nvPr/>
        </p:nvSpPr>
        <p:spPr>
          <a:xfrm>
            <a:off x="5088819" y="359359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Check stock</a:t>
            </a:r>
            <a:endParaRPr lang="en-US" sz="1800" dirty="0"/>
          </a:p>
        </p:txBody>
      </p:sp>
      <p:sp>
        <p:nvSpPr>
          <p:cNvPr id="18" name="Text 13"/>
          <p:cNvSpPr txBox="1"/>
          <p:nvPr/>
        </p:nvSpPr>
        <p:spPr>
          <a:xfrm>
            <a:off x="5088819" y="394106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3"/>
                </a:solidFill>
                <a:latin typeface="Courier New" pitchFamily="34" charset="0"/>
                <a:ea typeface="Courier New" pitchFamily="34" charset="-122"/>
                <a:cs typeface="Courier New" pitchFamily="34" charset="-120"/>
              </a:rPr>
              <a:t>STOCK</a:t>
            </a:r>
            <a:endParaRPr lang="en-US" sz="1200" dirty="0"/>
          </a:p>
        </p:txBody>
      </p:sp>
      <p:sp>
        <p:nvSpPr>
          <p:cNvPr id="19" name="Text 14"/>
          <p:cNvSpPr txBox="1"/>
          <p:nvPr/>
        </p:nvSpPr>
        <p:spPr>
          <a:xfrm>
            <a:off x="5134539" y="425196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Out → try next</a:t>
            </a:r>
            <a:endParaRPr lang="en-US" sz="1400" dirty="0"/>
          </a:p>
        </p:txBody>
      </p:sp>
      <p:sp>
        <p:nvSpPr>
          <p:cNvPr id="20" name="step 4">
            <a:extLst>
              <a:ext uri="{C183D7F6-B498-43B3-948B-1728B52AA6E4}">
                <adec:decorative xmlns:adec="http://schemas.microsoft.com/office/drawing/2017/decorative" val="1"/>
              </a:ext>
            </a:extLst>
          </p:cNvPr>
          <p:cNvSpPr/>
          <p:nvPr/>
        </p:nvSpPr>
        <p:spPr>
          <a:xfrm>
            <a:off x="8000177" y="2606040"/>
            <a:ext cx="731520" cy="731520"/>
          </a:xfrm>
          <a:prstGeom prst="ellipse">
            <a:avLst/>
          </a:prstGeom>
          <a:solidFill>
            <a:srgbClr val="09090B"/>
          </a:solidFill>
          <a:ln w="19050">
            <a:solidFill>
              <a:schemeClr val="accent1"/>
            </a:solidFill>
            <a:prstDash val="solid"/>
          </a:ln>
        </p:spPr>
      </p:sp>
      <p:pic>
        <p:nvPicPr>
          <p:cNvPr id="21" name="Image 3" descr="done">    </p:cNvPr>
          <p:cNvPicPr>
            <a:picLocks noChangeAspect="1"/>
          </p:cNvPicPr>
          <p:nvPr/>
        </p:nvPicPr>
        <p:blipFill>
          <a:blip r:embed="rId4"/>
          <a:stretch>
            <a:fillRect/>
          </a:stretch>
        </p:blipFill>
        <p:spPr>
          <a:xfrm>
            <a:off x="8212318" y="2818181"/>
            <a:ext cx="307238" cy="307238"/>
          </a:xfrm>
          <a:prstGeom prst="rect">
            <a:avLst/>
          </a:prstGeom>
        </p:spPr>
      </p:pic>
      <p:sp>
        <p:nvSpPr>
          <p:cNvPr id="22" name="Text 16"/>
          <p:cNvSpPr txBox="1"/>
          <p:nvPr/>
        </p:nvSpPr>
        <p:spPr>
          <a:xfrm>
            <a:off x="7358908" y="359359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Schedule</a:t>
            </a:r>
            <a:endParaRPr lang="en-US" sz="1800" dirty="0"/>
          </a:p>
        </p:txBody>
      </p:sp>
      <p:sp>
        <p:nvSpPr>
          <p:cNvPr id="23" name="Text 17"/>
          <p:cNvSpPr txBox="1"/>
          <p:nvPr/>
        </p:nvSpPr>
        <p:spPr>
          <a:xfrm>
            <a:off x="7358908" y="394106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SERVICE</a:t>
            </a:r>
            <a:endParaRPr lang="en-US" sz="1200" dirty="0"/>
          </a:p>
        </p:txBody>
      </p:sp>
      <p:sp>
        <p:nvSpPr>
          <p:cNvPr id="24" name="Text 18"/>
          <p:cNvSpPr txBox="1"/>
          <p:nvPr/>
        </p:nvSpPr>
        <p:spPr>
          <a:xfrm>
            <a:off x="7404628" y="425196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Next open slot</a:t>
            </a:r>
            <a:endParaRPr lang="en-US" sz="1400" dirty="0"/>
          </a:p>
        </p:txBody>
      </p:sp>
      <p:sp>
        <p:nvSpPr>
          <p:cNvPr id="25" name="step 5">
            <a:extLst>
              <a:ext uri="{C183D7F6-B498-43B3-948B-1728B52AA6E4}">
                <adec:decorative xmlns:adec="http://schemas.microsoft.com/office/drawing/2017/decorative" val="1"/>
              </a:ext>
            </a:extLst>
          </p:cNvPr>
          <p:cNvSpPr/>
          <p:nvPr/>
        </p:nvSpPr>
        <p:spPr>
          <a:xfrm>
            <a:off x="10270266" y="2606040"/>
            <a:ext cx="731520" cy="731520"/>
          </a:xfrm>
          <a:prstGeom prst="ellipse">
            <a:avLst/>
          </a:prstGeom>
          <a:solidFill>
            <a:schemeClr val="accent1"/>
          </a:solidFill>
          <a:ln w="19050">
            <a:solidFill>
              <a:schemeClr val="accent1"/>
            </a:solidFill>
            <a:prstDash val="solid"/>
          </a:ln>
        </p:spPr>
      </p:sp>
      <p:pic>
        <p:nvPicPr>
          <p:cNvPr id="26" name="Image 4" descr="done">    </p:cNvPr>
          <p:cNvPicPr>
            <a:picLocks noChangeAspect="1"/>
          </p:cNvPicPr>
          <p:nvPr/>
        </p:nvPicPr>
        <p:blipFill>
          <a:blip r:embed="rId5"/>
          <a:stretch>
            <a:fillRect/>
          </a:stretch>
        </p:blipFill>
        <p:spPr>
          <a:xfrm>
            <a:off x="10482407" y="2818181"/>
            <a:ext cx="307238" cy="307238"/>
          </a:xfrm>
          <a:prstGeom prst="rect">
            <a:avLst/>
          </a:prstGeom>
        </p:spPr>
      </p:pic>
      <p:sp>
        <p:nvSpPr>
          <p:cNvPr id="27" name="Text 20"/>
          <p:cNvSpPr txBox="1"/>
          <p:nvPr/>
        </p:nvSpPr>
        <p:spPr>
          <a:xfrm>
            <a:off x="9628998" y="3593592"/>
            <a:ext cx="2014057" cy="310896"/>
          </a:xfrm>
          <a:prstGeom prst="rect">
            <a:avLst/>
          </a:prstGeom>
          <a:noFill/>
          <a:ln/>
        </p:spPr>
        <p:txBody>
          <a:bodyPr wrap="square" lIns="0" tIns="0" rIns="0" bIns="0" rtlCol="0" anchor="t"/>
          <a:lstStyle/>
          <a:p>
            <a:pPr algn="ctr" indent="0" marL="0">
              <a:buNone/>
            </a:pPr>
            <a:r>
              <a:rPr lang="en-US" sz="1800" b="1" dirty="0">
                <a:solidFill>
                  <a:schemeClr val="bg1"/>
                </a:solidFill>
              </a:rPr>
              <a:t>Quote</a:t>
            </a:r>
            <a:endParaRPr lang="en-US" sz="1800" dirty="0"/>
          </a:p>
        </p:txBody>
      </p:sp>
      <p:sp>
        <p:nvSpPr>
          <p:cNvPr id="28" name="Text 21"/>
          <p:cNvSpPr txBox="1"/>
          <p:nvPr/>
        </p:nvSpPr>
        <p:spPr>
          <a:xfrm>
            <a:off x="9628998" y="3941064"/>
            <a:ext cx="2014057" cy="237744"/>
          </a:xfrm>
          <a:prstGeom prst="rect">
            <a:avLst/>
          </a:prstGeom>
          <a:noFill/>
          <a:ln/>
        </p:spPr>
        <p:txBody>
          <a:bodyPr wrap="square" lIns="0" tIns="0" rIns="0" bIns="0" rtlCol="0" anchor="ctr"/>
          <a:lstStyle/>
          <a:p>
            <a:pPr algn="ctr" indent="0" marL="0">
              <a:buNone/>
            </a:pPr>
            <a:r>
              <a:rPr lang="en-US" sz="1200" spc="100" kern="0" dirty="0">
                <a:solidFill>
                  <a:schemeClr val="accent1"/>
                </a:solidFill>
                <a:latin typeface="Courier New" pitchFamily="34" charset="0"/>
                <a:ea typeface="Courier New" pitchFamily="34" charset="-122"/>
                <a:cs typeface="Courier New" pitchFamily="34" charset="-120"/>
              </a:rPr>
              <a:t>SALES</a:t>
            </a:r>
            <a:endParaRPr lang="en-US" sz="1200" dirty="0"/>
          </a:p>
        </p:txBody>
      </p:sp>
      <p:sp>
        <p:nvSpPr>
          <p:cNvPr id="29" name="Text 22"/>
          <p:cNvSpPr txBox="1"/>
          <p:nvPr/>
        </p:nvSpPr>
        <p:spPr>
          <a:xfrm>
            <a:off x="9674718" y="4251960"/>
            <a:ext cx="1922617" cy="365760"/>
          </a:xfrm>
          <a:prstGeom prst="rect">
            <a:avLst/>
          </a:prstGeom>
          <a:noFill/>
          <a:ln/>
        </p:spPr>
        <p:txBody>
          <a:bodyPr wrap="square" lIns="0" tIns="0" rIns="0" bIns="0" rtlCol="0" anchor="t"/>
          <a:lstStyle/>
          <a:p>
            <a:pPr algn="ctr" indent="0" marL="0">
              <a:buNone/>
            </a:pPr>
            <a:r>
              <a:rPr lang="en-US" sz="1400" dirty="0">
                <a:solidFill>
                  <a:schemeClr val="bg2"/>
                </a:solidFill>
              </a:rPr>
              <a:t>Sent, unit reserved</a:t>
            </a:r>
            <a:endParaRPr lang="en-US" sz="1400" dirty="0"/>
          </a:p>
        </p:txBody>
      </p:sp>
      <p:sp>
        <p:nvSpPr>
          <p:cNvPr id="30" name="retry arc">
            <a:extLst>
              <a:ext uri="{C183D7F6-B498-43B3-948B-1728B52AA6E4}">
                <adec:decorative xmlns:adec="http://schemas.microsoft.com/office/drawing/2017/decorative" val="1"/>
              </a:ext>
            </a:extLst>
          </p:cNvPr>
          <p:cNvSpPr/>
          <p:nvPr/>
        </p:nvSpPr>
        <p:spPr>
          <a:xfrm>
            <a:off x="3825758" y="2103120"/>
            <a:ext cx="2270089" cy="1005840"/>
          </a:xfrm>
          <a:prstGeom prst="arc">
            <a:avLst>
              <a:gd name="adj1" fmla="val 10800000"/>
              <a:gd name="adj2" fmla="val 0"/>
            </a:avLst>
          </a:prstGeom>
          <a:noFill/>
          <a:ln w="25400">
            <a:solidFill>
              <a:schemeClr val="accent4"/>
            </a:solidFill>
            <a:prstDash val="dash"/>
          </a:ln>
        </p:spPr>
      </p:sp>
      <p:sp>
        <p:nvSpPr>
          <p:cNvPr id="31" name="retry arrowhead">
            <a:extLst>
              <a:ext uri="{C183D7F6-B498-43B3-948B-1728B52AA6E4}">
                <adec:decorative xmlns:adec="http://schemas.microsoft.com/office/drawing/2017/decorative" val="1"/>
              </a:ext>
            </a:extLst>
          </p:cNvPr>
          <p:cNvSpPr/>
          <p:nvPr/>
        </p:nvSpPr>
        <p:spPr>
          <a:xfrm rot="10800000">
            <a:off x="3734318" y="2450592"/>
            <a:ext cx="182880" cy="137160"/>
          </a:xfrm>
          <a:prstGeom prst="triangle">
            <a:avLst/>
          </a:prstGeom>
          <a:solidFill>
            <a:schemeClr val="accent4"/>
          </a:solidFill>
          <a:ln w="6350">
            <a:solidFill>
              <a:schemeClr val="accent4"/>
            </a:solidFill>
            <a:prstDash val="solid"/>
          </a:ln>
        </p:spPr>
      </p:sp>
      <p:sp>
        <p:nvSpPr>
          <p:cNvPr id="32" name="Text 25"/>
          <p:cNvSpPr txBox="1"/>
          <p:nvPr/>
        </p:nvSpPr>
        <p:spPr>
          <a:xfrm>
            <a:off x="2911358" y="1737360"/>
            <a:ext cx="4098889" cy="274320"/>
          </a:xfrm>
          <a:prstGeom prst="rect">
            <a:avLst/>
          </a:prstGeom>
          <a:noFill/>
          <a:ln/>
        </p:spPr>
        <p:txBody>
          <a:bodyPr wrap="square" lIns="0" tIns="0" rIns="0" bIns="0" rtlCol="0" anchor="t"/>
          <a:lstStyle/>
          <a:p>
            <a:pPr algn="ctr" indent="0" marL="0">
              <a:buNone/>
            </a:pPr>
            <a:r>
              <a:rPr lang="en-US" sz="1200" b="1" dirty="0">
                <a:solidFill>
                  <a:schemeClr val="accent4"/>
                </a:solidFill>
                <a:latin typeface="Courier New" pitchFamily="34" charset="0"/>
                <a:ea typeface="Courier New" pitchFamily="34" charset="-122"/>
                <a:cs typeface="Courier New" pitchFamily="34" charset="-120"/>
              </a:rPr>
              <a:t>retry with next-best</a:t>
            </a:r>
            <a:endParaRPr lang="en-US" sz="1200" dirty="0"/>
          </a:p>
        </p:txBody>
      </p:sp>
      <p:sp>
        <p:nvSpPr>
          <p:cNvPr id="33" name="takeaway">
            <a:extLst>
              <a:ext uri="{C183D7F6-B498-43B3-948B-1728B52AA6E4}">
                <adec:decorative xmlns:adec="http://schemas.microsoft.com/office/drawing/2017/decorative" val="1"/>
              </a:ext>
            </a:extLst>
          </p:cNvPr>
          <p:cNvSpPr/>
          <p:nvPr/>
        </p:nvSpPr>
        <p:spPr>
          <a:xfrm>
            <a:off x="548640" y="5120640"/>
            <a:ext cx="11094415" cy="685800"/>
          </a:xfrm>
          <a:prstGeom prst="roundRect">
            <a:avLst>
              <a:gd name="adj" fmla="val 13333"/>
            </a:avLst>
          </a:prstGeom>
          <a:solidFill>
            <a:srgbClr val="0F2A20"/>
          </a:solidFill>
          <a:ln w="9525">
            <a:solidFill>
              <a:srgbClr val="1D4D3A"/>
            </a:solidFill>
            <a:prstDash val="solid"/>
          </a:ln>
        </p:spPr>
      </p:sp>
      <p:sp>
        <p:nvSpPr>
          <p:cNvPr id="34" name="Text 27"/>
          <p:cNvSpPr txBox="1"/>
          <p:nvPr/>
        </p:nvSpPr>
        <p:spPr>
          <a:xfrm>
            <a:off x="822960" y="5120640"/>
            <a:ext cx="10545775" cy="685800"/>
          </a:xfrm>
          <a:prstGeom prst="rect">
            <a:avLst/>
          </a:prstGeom>
          <a:noFill/>
          <a:ln/>
        </p:spPr>
        <p:txBody>
          <a:bodyPr wrap="square" lIns="0" tIns="0" rIns="0" bIns="0" rtlCol="0" anchor="ctr"/>
          <a:lstStyle/>
          <a:p>
            <a:pPr indent="0" marL="0">
              <a:buNone/>
            </a:pPr>
            <a:r>
              <a:rPr lang="en-US" sz="1800" b="1" dirty="0">
                <a:solidFill>
                  <a:srgbClr val="C9F5E4"/>
                </a:solidFill>
              </a:rPr>
              <a:t>No dead ends. </a:t>
            </a:r>
            <a:pPr indent="0" marL="0">
              <a:buNone/>
            </a:pPr>
            <a:r>
              <a:rPr lang="en-US" sz="1800" dirty="0">
                <a:solidFill>
                  <a:srgbClr val="C9F5E4"/>
                </a:solidFill>
              </a:rPr>
              <a:t>Always an alternative.</a:t>
            </a:r>
            <a:endParaRPr lang="en-US" sz="1800" dirty="0"/>
          </a:p>
        </p:txBody>
      </p:sp>
      <p:sp>
        <p:nvSpPr>
          <p:cNvPr id="36"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title" hasCustomPrompt="1"/>
          </p:nvPr>
        </p:nvSpPr>
        <p:spPr>
          <a:xfrm>
            <a:off x="548640" y="1188720"/>
            <a:ext cx="6583680" cy="914400"/>
          </a:xfrm>
          <a:prstGeom prst="rect">
            <a:avLst/>
          </a:prstGeom>
          <a:noFill/>
          <a:ln/>
        </p:spPr>
        <p:txBody>
          <a:bodyPr wrap="square" lIns="0" tIns="0" rIns="0" bIns="0" rtlCol="0" anchor="ctr"/>
          <a:lstStyle/>
          <a:p>
            <a:pPr algn="l" indent="0" marL="0">
              <a:buNone/>
            </a:pPr>
            <a:r>
              <a:rPr lang="en-US" sz="5400" b="1" dirty="0">
                <a:solidFill>
                  <a:schemeClr val="bg1"/>
                </a:solidFill>
              </a:rPr>
              <a:t>WareBot</a:t>
            </a:r>
            <a:endParaRPr lang="en-US" sz="5400" dirty="0"/>
          </a:p>
        </p:txBody>
      </p:sp>
      <p:sp>
        <p:nvSpPr>
          <p:cNvPr id="3" name="Text 1"/>
          <p:cNvSpPr/>
          <p:nvPr>
            <p:ph idx="104" type="body" hasCustomPrompt="1"/>
          </p:nvPr>
        </p:nvSpPr>
        <p:spPr>
          <a:xfrm>
            <a:off x="548640" y="2240280"/>
            <a:ext cx="6400800" cy="1188720"/>
          </a:xfrm>
          <a:prstGeom prst="rect">
            <a:avLst/>
          </a:prstGeom>
          <a:noFill/>
          <a:ln/>
        </p:spPr>
        <p:txBody>
          <a:bodyPr wrap="square" lIns="0" tIns="0" rIns="0" bIns="0" rtlCol="0" anchor="t"/>
          <a:lstStyle/>
          <a:p>
            <a:pPr indent="0" marL="0">
              <a:buNone/>
            </a:pPr>
            <a:r>
              <a:rPr lang="en-US" sz="2000" dirty="0">
                <a:solidFill>
                  <a:schemeClr val="bg2"/>
                </a:solidFill>
              </a:rPr>
              <a:t>Ask the warehouse. Changes need a yes.</a:t>
            </a:r>
            <a:endParaRPr lang="en-US" sz="2000" dirty="0"/>
          </a:p>
        </p:txBody>
      </p:sp>
      <p:sp>
        <p:nvSpPr>
          <p:cNvPr id="4"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WAREBOT</a:t>
            </a:r>
            <a:endParaRPr lang="en-US" sz="1000" dirty="0"/>
          </a:p>
        </p:txBody>
      </p:sp>
      <p:sp>
        <p:nvSpPr>
          <p:cNvPr id="5" name="Text 3"/>
          <p:cNvSpPr txBox="1"/>
          <p:nvPr/>
        </p:nvSpPr>
        <p:spPr>
          <a:xfrm>
            <a:off x="548640" y="3200400"/>
            <a:ext cx="5486400" cy="237744"/>
          </a:xfrm>
          <a:prstGeom prst="rect">
            <a:avLst/>
          </a:prstGeom>
          <a:noFill/>
          <a:ln/>
        </p:spPr>
        <p:txBody>
          <a:bodyPr wrap="square" lIns="0" tIns="0" rIns="0" bIns="0" rtlCol="0" anchor="ctr"/>
          <a:lstStyle/>
          <a:p>
            <a:pPr indent="0" marL="0">
              <a:buNone/>
            </a:pPr>
            <a:r>
              <a:rPr lang="en-US" sz="1200" spc="100" kern="0" dirty="0">
                <a:solidFill>
                  <a:schemeClr val="accent2"/>
                </a:solidFill>
                <a:latin typeface="Courier New" pitchFamily="34" charset="0"/>
                <a:ea typeface="Courier New" pitchFamily="34" charset="-122"/>
                <a:cs typeface="Courier New" pitchFamily="34" charset="-120"/>
              </a:rPr>
              <a:t>ASK BY</a:t>
            </a:r>
            <a:endParaRPr lang="en-US" sz="1200" dirty="0"/>
          </a:p>
        </p:txBody>
      </p:sp>
      <p:sp>
        <p:nvSpPr>
          <p:cNvPr id="6" name="Typing">
            <a:extLst>
              <a:ext uri="{C183D7F6-B498-43B3-948B-1728B52AA6E4}">
                <adec:decorative xmlns:adec="http://schemas.microsoft.com/office/drawing/2017/decorative" val="1"/>
              </a:ext>
            </a:extLst>
          </p:cNvPr>
          <p:cNvSpPr/>
          <p:nvPr/>
        </p:nvSpPr>
        <p:spPr>
          <a:xfrm>
            <a:off x="548640" y="3566160"/>
            <a:ext cx="2072640" cy="1371600"/>
          </a:xfrm>
          <a:prstGeom prst="roundRect">
            <a:avLst>
              <a:gd name="adj" fmla="val 10667"/>
            </a:avLst>
          </a:prstGeom>
          <a:solidFill>
            <a:schemeClr val="tx2"/>
          </a:solidFill>
          <a:ln w="9525">
            <a:solidFill>
              <a:schemeClr val="accent2"/>
            </a:solidFill>
            <a:prstDash val="solid"/>
          </a:ln>
        </p:spPr>
      </p:sp>
      <p:sp>
        <p:nvSpPr>
          <p:cNvPr id="7" name="icon circle">
            <a:extLst>
              <a:ext uri="{C183D7F6-B498-43B3-948B-1728B52AA6E4}">
                <adec:decorative xmlns:adec="http://schemas.microsoft.com/office/drawing/2017/decorative" val="1"/>
              </a:ext>
            </a:extLst>
          </p:cNvPr>
          <p:cNvSpPr/>
          <p:nvPr/>
        </p:nvSpPr>
        <p:spPr>
          <a:xfrm>
            <a:off x="777240" y="3794760"/>
            <a:ext cx="530352" cy="530352"/>
          </a:xfrm>
          <a:prstGeom prst="ellipse">
            <a:avLst/>
          </a:prstGeom>
          <a:solidFill>
            <a:srgbClr val="0F2A20"/>
          </a:solidFill>
          <a:ln w="12700">
            <a:solidFill>
              <a:srgbClr val="1D4D3A"/>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9828" y="3927348"/>
            <a:ext cx="265176" cy="265176"/>
          </a:xfrm>
          <a:prstGeom prst="rect">
            <a:avLst/>
          </a:prstGeom>
        </p:spPr>
      </p:pic>
      <p:sp>
        <p:nvSpPr>
          <p:cNvPr id="9" name="Text 6"/>
          <p:cNvSpPr txBox="1"/>
          <p:nvPr/>
        </p:nvSpPr>
        <p:spPr>
          <a:xfrm>
            <a:off x="777240" y="4462272"/>
            <a:ext cx="1615440" cy="310896"/>
          </a:xfrm>
          <a:prstGeom prst="rect">
            <a:avLst/>
          </a:prstGeom>
          <a:noFill/>
          <a:ln/>
        </p:spPr>
        <p:txBody>
          <a:bodyPr wrap="square" lIns="0" tIns="0" rIns="0" bIns="0" rtlCol="0" anchor="t"/>
          <a:lstStyle/>
          <a:p>
            <a:pPr indent="0" marL="0">
              <a:buNone/>
            </a:pPr>
            <a:r>
              <a:rPr lang="en-US" sz="1800" b="1" dirty="0">
                <a:solidFill>
                  <a:schemeClr val="bg1"/>
                </a:solidFill>
              </a:rPr>
              <a:t>Typing</a:t>
            </a:r>
            <a:endParaRPr lang="en-US" sz="1800" dirty="0"/>
          </a:p>
        </p:txBody>
      </p:sp>
      <p:sp>
        <p:nvSpPr>
          <p:cNvPr id="10" name="Scanning">
            <a:extLst>
              <a:ext uri="{C183D7F6-B498-43B3-948B-1728B52AA6E4}">
                <adec:decorative xmlns:adec="http://schemas.microsoft.com/office/drawing/2017/decorative" val="1"/>
              </a:ext>
            </a:extLst>
          </p:cNvPr>
          <p:cNvSpPr/>
          <p:nvPr/>
        </p:nvSpPr>
        <p:spPr>
          <a:xfrm>
            <a:off x="2849880" y="3566160"/>
            <a:ext cx="2072640" cy="1371600"/>
          </a:xfrm>
          <a:prstGeom prst="roundRect">
            <a:avLst>
              <a:gd name="adj" fmla="val 10667"/>
            </a:avLst>
          </a:prstGeom>
          <a:solidFill>
            <a:schemeClr val="tx2"/>
          </a:solidFill>
          <a:ln w="9525">
            <a:solidFill>
              <a:schemeClr val="accent2"/>
            </a:solidFill>
            <a:prstDash val="solid"/>
          </a:ln>
        </p:spPr>
      </p:sp>
      <p:sp>
        <p:nvSpPr>
          <p:cNvPr id="11" name="icon circle">
            <a:extLst>
              <a:ext uri="{C183D7F6-B498-43B3-948B-1728B52AA6E4}">
                <adec:decorative xmlns:adec="http://schemas.microsoft.com/office/drawing/2017/decorative" val="1"/>
              </a:ext>
            </a:extLst>
          </p:cNvPr>
          <p:cNvSpPr/>
          <p:nvPr/>
        </p:nvSpPr>
        <p:spPr>
          <a:xfrm>
            <a:off x="3078480" y="3794760"/>
            <a:ext cx="530352" cy="530352"/>
          </a:xfrm>
          <a:prstGeom prst="ellipse">
            <a:avLst/>
          </a:prstGeom>
          <a:solidFill>
            <a:srgbClr val="0F2A20"/>
          </a:solidFill>
          <a:ln w="12700">
            <a:solidFill>
              <a:srgbClr val="1D4D3A"/>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211068" y="3927348"/>
            <a:ext cx="265176" cy="265176"/>
          </a:xfrm>
          <a:prstGeom prst="rect">
            <a:avLst/>
          </a:prstGeom>
        </p:spPr>
      </p:pic>
      <p:sp>
        <p:nvSpPr>
          <p:cNvPr id="13" name="Text 9"/>
          <p:cNvSpPr txBox="1"/>
          <p:nvPr/>
        </p:nvSpPr>
        <p:spPr>
          <a:xfrm>
            <a:off x="3078480" y="4462272"/>
            <a:ext cx="1615440" cy="310896"/>
          </a:xfrm>
          <a:prstGeom prst="rect">
            <a:avLst/>
          </a:prstGeom>
          <a:noFill/>
          <a:ln/>
        </p:spPr>
        <p:txBody>
          <a:bodyPr wrap="square" lIns="0" tIns="0" rIns="0" bIns="0" rtlCol="0" anchor="t"/>
          <a:lstStyle/>
          <a:p>
            <a:pPr indent="0" marL="0">
              <a:buNone/>
            </a:pPr>
            <a:r>
              <a:rPr lang="en-US" sz="1800" b="1" dirty="0">
                <a:solidFill>
                  <a:schemeClr val="bg1"/>
                </a:solidFill>
              </a:rPr>
              <a:t>Scanning</a:t>
            </a:r>
            <a:endParaRPr lang="en-US" sz="1800" dirty="0"/>
          </a:p>
        </p:txBody>
      </p:sp>
      <p:sp>
        <p:nvSpPr>
          <p:cNvPr id="14" name="Speaking">
            <a:extLst>
              <a:ext uri="{C183D7F6-B498-43B3-948B-1728B52AA6E4}">
                <adec:decorative xmlns:adec="http://schemas.microsoft.com/office/drawing/2017/decorative" val="1"/>
              </a:ext>
            </a:extLst>
          </p:cNvPr>
          <p:cNvSpPr/>
          <p:nvPr/>
        </p:nvSpPr>
        <p:spPr>
          <a:xfrm>
            <a:off x="5151120" y="3566160"/>
            <a:ext cx="2072640" cy="1371600"/>
          </a:xfrm>
          <a:prstGeom prst="roundRect">
            <a:avLst>
              <a:gd name="adj" fmla="val 10667"/>
            </a:avLst>
          </a:prstGeom>
          <a:solidFill>
            <a:schemeClr val="tx2"/>
          </a:solidFill>
          <a:ln w="9525">
            <a:solidFill>
              <a:schemeClr val="accent2"/>
            </a:solidFill>
            <a:prstDash val="solid"/>
          </a:ln>
        </p:spPr>
      </p:sp>
      <p:sp>
        <p:nvSpPr>
          <p:cNvPr id="15" name="icon circle">
            <a:extLst>
              <a:ext uri="{C183D7F6-B498-43B3-948B-1728B52AA6E4}">
                <adec:decorative xmlns:adec="http://schemas.microsoft.com/office/drawing/2017/decorative" val="1"/>
              </a:ext>
            </a:extLst>
          </p:cNvPr>
          <p:cNvSpPr/>
          <p:nvPr/>
        </p:nvSpPr>
        <p:spPr>
          <a:xfrm>
            <a:off x="5379720" y="3794760"/>
            <a:ext cx="530352" cy="530352"/>
          </a:xfrm>
          <a:prstGeom prst="ellipse">
            <a:avLst/>
          </a:prstGeom>
          <a:solidFill>
            <a:srgbClr val="0F2A20"/>
          </a:solidFill>
          <a:ln w="12700">
            <a:solidFill>
              <a:srgbClr val="1D4D3A"/>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12308" y="3927348"/>
            <a:ext cx="265176" cy="265176"/>
          </a:xfrm>
          <a:prstGeom prst="rect">
            <a:avLst/>
          </a:prstGeom>
        </p:spPr>
      </p:pic>
      <p:sp>
        <p:nvSpPr>
          <p:cNvPr id="17" name="Text 12"/>
          <p:cNvSpPr txBox="1"/>
          <p:nvPr/>
        </p:nvSpPr>
        <p:spPr>
          <a:xfrm>
            <a:off x="5379720" y="4462272"/>
            <a:ext cx="1615440" cy="310896"/>
          </a:xfrm>
          <a:prstGeom prst="rect">
            <a:avLst/>
          </a:prstGeom>
          <a:noFill/>
          <a:ln/>
        </p:spPr>
        <p:txBody>
          <a:bodyPr wrap="square" lIns="0" tIns="0" rIns="0" bIns="0" rtlCol="0" anchor="t"/>
          <a:lstStyle/>
          <a:p>
            <a:pPr indent="0" marL="0">
              <a:buNone/>
            </a:pPr>
            <a:r>
              <a:rPr lang="en-US" sz="1800" b="1" dirty="0">
                <a:solidFill>
                  <a:schemeClr val="bg1"/>
                </a:solidFill>
              </a:rPr>
              <a:t>Speaking</a:t>
            </a:r>
            <a:endParaRPr lang="en-US" sz="1800" dirty="0"/>
          </a:p>
        </p:txBody>
      </p:sp>
      <p:sp>
        <p:nvSpPr>
          <p:cNvPr id="18" name="phone">
            <a:extLst>
              <a:ext uri="{C183D7F6-B498-43B3-948B-1728B52AA6E4}">
                <adec:decorative xmlns:adec="http://schemas.microsoft.com/office/drawing/2017/decorative" val="1"/>
              </a:ext>
            </a:extLst>
          </p:cNvPr>
          <p:cNvSpPr/>
          <p:nvPr/>
        </p:nvSpPr>
        <p:spPr>
          <a:xfrm>
            <a:off x="8001000" y="411480"/>
            <a:ext cx="3611880" cy="5760720"/>
          </a:xfrm>
          <a:prstGeom prst="roundRect">
            <a:avLst>
              <a:gd name="adj" fmla="val 9114"/>
            </a:avLst>
          </a:prstGeom>
          <a:solidFill>
            <a:srgbClr val="141417"/>
          </a:solidFill>
          <a:ln w="15875">
            <a:solidFill>
              <a:schemeClr val="accent5"/>
            </a:solidFill>
            <a:prstDash val="solid"/>
          </a:ln>
        </p:spPr>
      </p:sp>
      <p:sp>
        <p:nvSpPr>
          <p:cNvPr id="19" name="Shape 14">
            <a:extLst>
              <a:ext uri="{C183D7F6-B498-43B3-948B-1728B52AA6E4}">
                <adec:decorative xmlns:adec="http://schemas.microsoft.com/office/drawing/2017/decorative" val="1"/>
              </a:ext>
            </a:extLst>
          </p:cNvPr>
          <p:cNvSpPr/>
          <p:nvPr/>
        </p:nvSpPr>
        <p:spPr>
          <a:xfrm>
            <a:off x="8110728" y="521208"/>
            <a:ext cx="3392424" cy="5541264"/>
          </a:xfrm>
          <a:prstGeom prst="roundRect">
            <a:avLst>
              <a:gd name="adj" fmla="val 7008"/>
            </a:avLst>
          </a:prstGeom>
          <a:solidFill>
            <a:srgbClr val="09090B"/>
          </a:solidFill>
          <a:ln w="9525">
            <a:solidFill>
              <a:srgbClr val="26262A"/>
            </a:solidFill>
            <a:prstDash val="solid"/>
          </a:ln>
        </p:spPr>
      </p:sp>
      <p:sp>
        <p:nvSpPr>
          <p:cNvPr id="20" name="Shape 15">
            <a:extLst>
              <a:ext uri="{C183D7F6-B498-43B3-948B-1728B52AA6E4}">
                <adec:decorative xmlns:adec="http://schemas.microsoft.com/office/drawing/2017/decorative" val="1"/>
              </a:ext>
            </a:extLst>
          </p:cNvPr>
          <p:cNvSpPr/>
          <p:nvPr/>
        </p:nvSpPr>
        <p:spPr>
          <a:xfrm>
            <a:off x="8275320" y="685800"/>
            <a:ext cx="384048" cy="384048"/>
          </a:xfrm>
          <a:prstGeom prst="ellipse">
            <a:avLst/>
          </a:prstGeom>
          <a:solidFill>
            <a:srgbClr val="0F2A20"/>
          </a:solidFill>
          <a:ln w="12700">
            <a:solidFill>
              <a:schemeClr val="accent1"/>
            </a:solidFill>
            <a:prstDash val="solid"/>
          </a:ln>
        </p:spPr>
      </p:sp>
      <p:sp>
        <p:nvSpPr>
          <p:cNvPr id="21" name="Text 16"/>
          <p:cNvSpPr txBox="1"/>
          <p:nvPr/>
        </p:nvSpPr>
        <p:spPr>
          <a:xfrm>
            <a:off x="8275320" y="68580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W</a:t>
            </a:r>
            <a:endParaRPr lang="en-US" sz="1400" dirty="0"/>
          </a:p>
        </p:txBody>
      </p:sp>
      <p:sp>
        <p:nvSpPr>
          <p:cNvPr id="22" name="Text 17"/>
          <p:cNvSpPr txBox="1"/>
          <p:nvPr/>
        </p:nvSpPr>
        <p:spPr>
          <a:xfrm>
            <a:off x="8769096" y="630936"/>
            <a:ext cx="2606040" cy="237744"/>
          </a:xfrm>
          <a:prstGeom prst="rect">
            <a:avLst/>
          </a:prstGeom>
          <a:noFill/>
          <a:ln/>
        </p:spPr>
        <p:txBody>
          <a:bodyPr wrap="square" lIns="0" tIns="0" rIns="0" bIns="0" rtlCol="0" anchor="t"/>
          <a:lstStyle/>
          <a:p>
            <a:pPr indent="0" marL="0">
              <a:buNone/>
            </a:pPr>
            <a:r>
              <a:rPr lang="en-US" sz="1300" b="1" dirty="0">
                <a:solidFill>
                  <a:schemeClr val="bg1"/>
                </a:solidFill>
              </a:rPr>
              <a:t>WareBot</a:t>
            </a:r>
            <a:endParaRPr lang="en-US" sz="1300" dirty="0"/>
          </a:p>
        </p:txBody>
      </p:sp>
      <p:sp>
        <p:nvSpPr>
          <p:cNvPr id="23" name="Text 18"/>
          <p:cNvSpPr txBox="1"/>
          <p:nvPr/>
        </p:nvSpPr>
        <p:spPr>
          <a:xfrm>
            <a:off x="8769096" y="868680"/>
            <a:ext cx="2606040" cy="219456"/>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warehouse assistant</a:t>
            </a:r>
            <a:endParaRPr lang="en-US" sz="1200" dirty="0"/>
          </a:p>
        </p:txBody>
      </p:sp>
      <p:sp>
        <p:nvSpPr>
          <p:cNvPr id="24" name="Shape 19">
            <a:extLst>
              <a:ext uri="{C183D7F6-B498-43B3-948B-1728B52AA6E4}">
                <adec:decorative xmlns:adec="http://schemas.microsoft.com/office/drawing/2017/decorative" val="1"/>
              </a:ext>
            </a:extLst>
          </p:cNvPr>
          <p:cNvSpPr/>
          <p:nvPr/>
        </p:nvSpPr>
        <p:spPr>
          <a:xfrm>
            <a:off x="8110728" y="1234440"/>
            <a:ext cx="3392424" cy="0"/>
          </a:xfrm>
          <a:prstGeom prst="line">
            <a:avLst/>
          </a:prstGeom>
          <a:noFill/>
          <a:ln w="9525">
            <a:solidFill>
              <a:srgbClr val="26262A"/>
            </a:solidFill>
            <a:prstDash val="solid"/>
          </a:ln>
        </p:spPr>
      </p:sp>
      <p:sp>
        <p:nvSpPr>
          <p:cNvPr id="25" name="Shape 20">
            <a:extLst>
              <a:ext uri="{C183D7F6-B498-43B3-948B-1728B52AA6E4}">
                <adec:decorative xmlns:adec="http://schemas.microsoft.com/office/drawing/2017/decorative" val="1"/>
              </a:ext>
            </a:extLst>
          </p:cNvPr>
          <p:cNvSpPr/>
          <p:nvPr/>
        </p:nvSpPr>
        <p:spPr>
          <a:xfrm>
            <a:off x="8826703" y="1399032"/>
            <a:ext cx="2511857" cy="356616"/>
          </a:xfrm>
          <a:prstGeom prst="roundRect">
            <a:avLst>
              <a:gd name="adj" fmla="val 25641"/>
            </a:avLst>
          </a:prstGeom>
          <a:solidFill>
            <a:srgbClr val="1C1C20"/>
          </a:solidFill>
          <a:ln w="9525">
            <a:solidFill>
              <a:srgbClr val="26262A"/>
            </a:solidFill>
            <a:prstDash val="solid"/>
          </a:ln>
        </p:spPr>
      </p:sp>
      <p:sp>
        <p:nvSpPr>
          <p:cNvPr id="26" name="Text 21"/>
          <p:cNvSpPr txBox="1"/>
          <p:nvPr/>
        </p:nvSpPr>
        <p:spPr>
          <a:xfrm>
            <a:off x="8936431" y="1472184"/>
            <a:ext cx="2292401"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Stock of A-1020?</a:t>
            </a:r>
            <a:endParaRPr lang="en-US" sz="1200" dirty="0"/>
          </a:p>
        </p:txBody>
      </p:sp>
      <p:sp>
        <p:nvSpPr>
          <p:cNvPr id="27" name="Shape 22">
            <a:extLst>
              <a:ext uri="{C183D7F6-B498-43B3-948B-1728B52AA6E4}">
                <adec:decorative xmlns:adec="http://schemas.microsoft.com/office/drawing/2017/decorative" val="1"/>
              </a:ext>
            </a:extLst>
          </p:cNvPr>
          <p:cNvSpPr/>
          <p:nvPr/>
        </p:nvSpPr>
        <p:spPr>
          <a:xfrm>
            <a:off x="8275320" y="1865376"/>
            <a:ext cx="2511857" cy="356616"/>
          </a:xfrm>
          <a:prstGeom prst="roundRect">
            <a:avLst>
              <a:gd name="adj" fmla="val 25641"/>
            </a:avLst>
          </a:prstGeom>
          <a:solidFill>
            <a:srgbClr val="0F2A20"/>
          </a:solidFill>
          <a:ln w="9525">
            <a:solidFill>
              <a:srgbClr val="1D4D3A"/>
            </a:solidFill>
            <a:prstDash val="solid"/>
          </a:ln>
        </p:spPr>
      </p:sp>
      <p:sp>
        <p:nvSpPr>
          <p:cNvPr id="28" name="Text 23"/>
          <p:cNvSpPr txBox="1"/>
          <p:nvPr/>
        </p:nvSpPr>
        <p:spPr>
          <a:xfrm>
            <a:off x="8385048" y="1938528"/>
            <a:ext cx="2292401" cy="210312"/>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140 units. 24 reserved.</a:t>
            </a:r>
            <a:endParaRPr lang="en-US" sz="1200" dirty="0"/>
          </a:p>
        </p:txBody>
      </p:sp>
      <p:sp>
        <p:nvSpPr>
          <p:cNvPr id="29" name="Shape 24">
            <a:extLst>
              <a:ext uri="{C183D7F6-B498-43B3-948B-1728B52AA6E4}">
                <adec:decorative xmlns:adec="http://schemas.microsoft.com/office/drawing/2017/decorative" val="1"/>
              </a:ext>
            </a:extLst>
          </p:cNvPr>
          <p:cNvSpPr/>
          <p:nvPr/>
        </p:nvSpPr>
        <p:spPr>
          <a:xfrm>
            <a:off x="8826703" y="2331720"/>
            <a:ext cx="2511857" cy="356616"/>
          </a:xfrm>
          <a:prstGeom prst="roundRect">
            <a:avLst>
              <a:gd name="adj" fmla="val 25641"/>
            </a:avLst>
          </a:prstGeom>
          <a:solidFill>
            <a:srgbClr val="1C1C20"/>
          </a:solidFill>
          <a:ln w="9525">
            <a:solidFill>
              <a:srgbClr val="26262A"/>
            </a:solidFill>
            <a:prstDash val="solid"/>
          </a:ln>
        </p:spPr>
      </p:sp>
      <p:sp>
        <p:nvSpPr>
          <p:cNvPr id="30" name="Text 25"/>
          <p:cNvSpPr txBox="1"/>
          <p:nvPr/>
        </p:nvSpPr>
        <p:spPr>
          <a:xfrm>
            <a:off x="8936431" y="2404872"/>
            <a:ext cx="2292401" cy="210312"/>
          </a:xfrm>
          <a:prstGeom prst="rect">
            <a:avLst/>
          </a:prstGeom>
          <a:noFill/>
          <a:ln/>
        </p:spPr>
        <p:txBody>
          <a:bodyPr wrap="square" lIns="0" tIns="0" rIns="0" bIns="0" rtlCol="0" anchor="ctr"/>
          <a:lstStyle/>
          <a:p>
            <a:pPr indent="0" marL="0">
              <a:lnSpc>
                <a:spcPct val="100000"/>
              </a:lnSpc>
              <a:buNone/>
            </a:pPr>
            <a:r>
              <a:rPr lang="en-US" sz="1200" dirty="0">
                <a:solidFill>
                  <a:schemeClr val="bg1"/>
                </a:solidFill>
              </a:rPr>
              <a:t>Move 40 to KL branch.</a:t>
            </a:r>
            <a:endParaRPr lang="en-US" sz="1200" dirty="0"/>
          </a:p>
        </p:txBody>
      </p:sp>
      <p:sp>
        <p:nvSpPr>
          <p:cNvPr id="31" name="confirmation card">
            <a:extLst>
              <a:ext uri="{C183D7F6-B498-43B3-948B-1728B52AA6E4}">
                <adec:decorative xmlns:adec="http://schemas.microsoft.com/office/drawing/2017/decorative" val="1"/>
              </a:ext>
            </a:extLst>
          </p:cNvPr>
          <p:cNvSpPr/>
          <p:nvPr/>
        </p:nvSpPr>
        <p:spPr>
          <a:xfrm>
            <a:off x="8275320" y="2798064"/>
            <a:ext cx="3063240" cy="1600200"/>
          </a:xfrm>
          <a:prstGeom prst="roundRect">
            <a:avLst>
              <a:gd name="adj" fmla="val 5714"/>
            </a:avLst>
          </a:prstGeom>
          <a:solidFill>
            <a:schemeClr val="tx2"/>
          </a:solidFill>
          <a:ln w="15875">
            <a:solidFill>
              <a:schemeClr val="accent1"/>
            </a:solidFill>
            <a:prstDash val="solid"/>
          </a:ln>
          <a:effectLst>
            <a:outerShdw sx="100000" sy="100000" kx="0" ky="0" algn="bl" rotWithShape="0" blurRad="177800" dist="50800" dir="5400000">
              <a:srgbClr val="00D992">
                <a:alpha val="30000"/>
              </a:srgbClr>
            </a:outerShdw>
          </a:effectLst>
        </p:spPr>
      </p:sp>
      <p:sp>
        <p:nvSpPr>
          <p:cNvPr id="32" name="Text 27"/>
          <p:cNvSpPr txBox="1"/>
          <p:nvPr/>
        </p:nvSpPr>
        <p:spPr>
          <a:xfrm>
            <a:off x="8458200" y="2926080"/>
            <a:ext cx="2697480" cy="237744"/>
          </a:xfrm>
          <a:prstGeom prst="rect">
            <a:avLst/>
          </a:prstGeom>
          <a:noFill/>
          <a:ln/>
        </p:spPr>
        <p:txBody>
          <a:bodyPr wrap="square" lIns="0" tIns="0" rIns="0" bIns="0" rtlCol="0" anchor="ctr"/>
          <a:lstStyle/>
          <a:p>
            <a:pPr indent="0" marL="0">
              <a:buNone/>
            </a:pPr>
            <a:r>
              <a:rPr lang="en-US" sz="1200" spc="100" kern="0" dirty="0">
                <a:solidFill>
                  <a:schemeClr val="accent1"/>
                </a:solidFill>
                <a:latin typeface="Courier New" pitchFamily="34" charset="0"/>
                <a:ea typeface="Courier New" pitchFamily="34" charset="-122"/>
                <a:cs typeface="Courier New" pitchFamily="34" charset="-120"/>
              </a:rPr>
              <a:t>CONFIRM TRANSFER</a:t>
            </a:r>
            <a:endParaRPr lang="en-US" sz="1200" dirty="0"/>
          </a:p>
        </p:txBody>
      </p:sp>
      <p:sp>
        <p:nvSpPr>
          <p:cNvPr id="33" name="Text 28"/>
          <p:cNvSpPr txBox="1"/>
          <p:nvPr/>
        </p:nvSpPr>
        <p:spPr>
          <a:xfrm>
            <a:off x="8458200" y="3182112"/>
            <a:ext cx="2697480" cy="548640"/>
          </a:xfrm>
          <a:prstGeom prst="rect">
            <a:avLst/>
          </a:prstGeom>
          <a:noFill/>
          <a:ln/>
        </p:spPr>
        <p:txBody>
          <a:bodyPr wrap="square" lIns="0" tIns="0" rIns="0" bIns="0" rtlCol="0" anchor="t"/>
          <a:lstStyle/>
          <a:p>
            <a:pPr indent="0" marL="0">
              <a:buNone/>
            </a:pPr>
            <a:r>
              <a:rPr lang="en-US" sz="1200" dirty="0">
                <a:solidFill>
                  <a:schemeClr val="bg1"/>
                </a:solidFill>
              </a:rPr>
              <a:t>40 × A-1020</a:t>
            </a:r>
            <a:endParaRPr lang="en-US" sz="1200" dirty="0"/>
          </a:p>
          <a:p>
            <a:pPr indent="0" marL="0">
              <a:buNone/>
            </a:pPr>
            <a:r>
              <a:rPr lang="en-US" sz="1200" dirty="0">
                <a:solidFill>
                  <a:schemeClr val="bg1"/>
                </a:solidFill>
              </a:rPr>
              <a:t>Main → KL branch</a:t>
            </a:r>
            <a:endParaRPr lang="en-US" sz="1200" dirty="0"/>
          </a:p>
        </p:txBody>
      </p:sp>
      <p:sp>
        <p:nvSpPr>
          <p:cNvPr id="34" name="Shape 29">
            <a:extLst>
              <a:ext uri="{C183D7F6-B498-43B3-948B-1728B52AA6E4}">
                <adec:decorative xmlns:adec="http://schemas.microsoft.com/office/drawing/2017/decorative" val="1"/>
              </a:ext>
            </a:extLst>
          </p:cNvPr>
          <p:cNvSpPr/>
          <p:nvPr/>
        </p:nvSpPr>
        <p:spPr>
          <a:xfrm>
            <a:off x="8458200" y="3822192"/>
            <a:ext cx="1280160" cy="384048"/>
          </a:xfrm>
          <a:prstGeom prst="roundRect">
            <a:avLst>
              <a:gd name="adj" fmla="val 11905"/>
            </a:avLst>
          </a:prstGeom>
          <a:solidFill>
            <a:srgbClr val="0E0E10"/>
          </a:solidFill>
          <a:ln w="12700">
            <a:solidFill>
              <a:srgbClr val="3D3A39"/>
            </a:solidFill>
            <a:prstDash val="solid"/>
          </a:ln>
        </p:spPr>
      </p:sp>
      <p:sp>
        <p:nvSpPr>
          <p:cNvPr id="35" name="Text 30"/>
          <p:cNvSpPr txBox="1"/>
          <p:nvPr/>
        </p:nvSpPr>
        <p:spPr>
          <a:xfrm>
            <a:off x="8458200" y="3822192"/>
            <a:ext cx="1280160" cy="384048"/>
          </a:xfrm>
          <a:prstGeom prst="rect">
            <a:avLst/>
          </a:prstGeom>
          <a:noFill/>
          <a:ln/>
        </p:spPr>
        <p:txBody>
          <a:bodyPr wrap="square" lIns="0" tIns="0" rIns="0" bIns="0" rtlCol="0" anchor="ctr"/>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Cancel</a:t>
            </a:r>
            <a:endParaRPr lang="en-US" sz="1200" dirty="0"/>
          </a:p>
        </p:txBody>
      </p:sp>
      <p:sp>
        <p:nvSpPr>
          <p:cNvPr id="36" name="Shape 31">
            <a:extLst>
              <a:ext uri="{C183D7F6-B498-43B3-948B-1728B52AA6E4}">
                <adec:decorative xmlns:adec="http://schemas.microsoft.com/office/drawing/2017/decorative" val="1"/>
              </a:ext>
            </a:extLst>
          </p:cNvPr>
          <p:cNvSpPr/>
          <p:nvPr/>
        </p:nvSpPr>
        <p:spPr>
          <a:xfrm>
            <a:off x="9875520" y="3822192"/>
            <a:ext cx="1280160" cy="384048"/>
          </a:xfrm>
          <a:prstGeom prst="roundRect">
            <a:avLst>
              <a:gd name="adj" fmla="val 11905"/>
            </a:avLst>
          </a:prstGeom>
          <a:solidFill>
            <a:schemeClr val="accent1"/>
          </a:solidFill>
          <a:ln w="12700">
            <a:solidFill>
              <a:schemeClr val="accent1"/>
            </a:solidFill>
            <a:prstDash val="solid"/>
          </a:ln>
        </p:spPr>
      </p:sp>
      <p:sp>
        <p:nvSpPr>
          <p:cNvPr id="37" name="Text 32"/>
          <p:cNvSpPr txBox="1"/>
          <p:nvPr/>
        </p:nvSpPr>
        <p:spPr>
          <a:xfrm>
            <a:off x="9875520" y="3822192"/>
            <a:ext cx="1280160" cy="384048"/>
          </a:xfrm>
          <a:prstGeom prst="rect">
            <a:avLst/>
          </a:prstGeom>
          <a:noFill/>
          <a:ln/>
        </p:spPr>
        <p:txBody>
          <a:bodyPr wrap="square" lIns="0" tIns="0" rIns="0" bIns="0"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Confirm</a:t>
            </a:r>
            <a:endParaRPr lang="en-US" sz="1200" dirty="0"/>
          </a:p>
        </p:txBody>
      </p:sp>
      <p:sp>
        <p:nvSpPr>
          <p:cNvPr id="38" name="Shape 33">
            <a:extLst>
              <a:ext uri="{C183D7F6-B498-43B3-948B-1728B52AA6E4}">
                <adec:decorative xmlns:adec="http://schemas.microsoft.com/office/drawing/2017/decorative" val="1"/>
              </a:ext>
            </a:extLst>
          </p:cNvPr>
          <p:cNvSpPr/>
          <p:nvPr/>
        </p:nvSpPr>
        <p:spPr>
          <a:xfrm>
            <a:off x="8275320" y="4507992"/>
            <a:ext cx="822960" cy="356616"/>
          </a:xfrm>
          <a:prstGeom prst="roundRect">
            <a:avLst>
              <a:gd name="adj" fmla="val 25641"/>
            </a:avLst>
          </a:prstGeom>
          <a:solidFill>
            <a:srgbClr val="0F2A20"/>
          </a:solidFill>
          <a:ln w="9525">
            <a:solidFill>
              <a:srgbClr val="1D4D3A"/>
            </a:solidFill>
            <a:prstDash val="solid"/>
          </a:ln>
        </p:spPr>
      </p:sp>
      <p:sp>
        <p:nvSpPr>
          <p:cNvPr id="39" name="Text 34"/>
          <p:cNvSpPr txBox="1"/>
          <p:nvPr/>
        </p:nvSpPr>
        <p:spPr>
          <a:xfrm>
            <a:off x="8385048" y="4581144"/>
            <a:ext cx="603504" cy="210312"/>
          </a:xfrm>
          <a:prstGeom prst="rect">
            <a:avLst/>
          </a:prstGeom>
          <a:noFill/>
          <a:ln/>
        </p:spPr>
        <p:txBody>
          <a:bodyPr wrap="square" lIns="0" tIns="0" rIns="0" bIns="0" rtlCol="0" anchor="ctr"/>
          <a:lstStyle/>
          <a:p>
            <a:pPr indent="0" marL="0">
              <a:lnSpc>
                <a:spcPct val="100000"/>
              </a:lnSpc>
              <a:buNone/>
            </a:pPr>
            <a:r>
              <a:rPr lang="en-US" sz="1200" dirty="0">
                <a:solidFill>
                  <a:srgbClr val="C9F5E4"/>
                </a:solidFill>
              </a:rPr>
              <a:t>Done.</a:t>
            </a:r>
            <a:endParaRPr lang="en-US" sz="1200" dirty="0"/>
          </a:p>
        </p:txBody>
      </p:sp>
      <p:sp>
        <p:nvSpPr>
          <p:cNvPr id="40" name="Text 35"/>
          <p:cNvSpPr txBox="1"/>
          <p:nvPr/>
        </p:nvSpPr>
        <p:spPr>
          <a:xfrm>
            <a:off x="8275320" y="5687568"/>
            <a:ext cx="3063240" cy="22860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Illustrative</a:t>
            </a:r>
            <a:endParaRPr lang="en-US" sz="12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Fast, but careful</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WAREBOT</a:t>
            </a:r>
            <a:endParaRPr lang="en-US" sz="1000" dirty="0"/>
          </a:p>
        </p:txBody>
      </p:sp>
      <p:sp>
        <p:nvSpPr>
          <p:cNvPr id="4" name="stat 35+">
            <a:extLst>
              <a:ext uri="{C183D7F6-B498-43B3-948B-1728B52AA6E4}">
                <adec:decorative xmlns:adec="http://schemas.microsoft.com/office/drawing/2017/decorative" val="1"/>
              </a:ext>
            </a:extLst>
          </p:cNvPr>
          <p:cNvSpPr/>
          <p:nvPr/>
        </p:nvSpPr>
        <p:spPr>
          <a:xfrm>
            <a:off x="548640" y="2240280"/>
            <a:ext cx="2567864" cy="2743200"/>
          </a:xfrm>
          <a:prstGeom prst="roundRect">
            <a:avLst>
              <a:gd name="adj" fmla="val 5697"/>
            </a:avLst>
          </a:prstGeom>
          <a:solidFill>
            <a:schemeClr val="tx2"/>
          </a:solidFill>
          <a:ln w="9525">
            <a:solidFill>
              <a:schemeClr val="accent2"/>
            </a:solidFill>
            <a:prstDash val="solid"/>
          </a:ln>
        </p:spPr>
      </p:sp>
      <p:sp>
        <p:nvSpPr>
          <p:cNvPr id="5" name="Text 3"/>
          <p:cNvSpPr txBox="1"/>
          <p:nvPr/>
        </p:nvSpPr>
        <p:spPr>
          <a:xfrm>
            <a:off x="822960" y="2834640"/>
            <a:ext cx="2019224" cy="777240"/>
          </a:xfrm>
          <a:prstGeom prst="rect">
            <a:avLst/>
          </a:prstGeom>
          <a:noFill/>
          <a:ln/>
        </p:spPr>
        <p:txBody>
          <a:bodyPr wrap="square" lIns="0" tIns="0" rIns="0" bIns="0" rtlCol="0" anchor="b"/>
          <a:lstStyle/>
          <a:p>
            <a:pPr indent="0" marL="0">
              <a:buNone/>
            </a:pPr>
            <a:r>
              <a:rPr lang="en-US" sz="4000" b="1" dirty="0">
                <a:solidFill>
                  <a:schemeClr val="accent1"/>
                </a:solidFill>
              </a:rPr>
              <a:t>35+</a:t>
            </a:r>
            <a:endParaRPr lang="en-US" sz="4000" dirty="0"/>
          </a:p>
        </p:txBody>
      </p:sp>
      <p:sp>
        <p:nvSpPr>
          <p:cNvPr id="6" name="Text 4"/>
          <p:cNvSpPr txBox="1"/>
          <p:nvPr/>
        </p:nvSpPr>
        <p:spPr>
          <a:xfrm>
            <a:off x="822960" y="3749040"/>
            <a:ext cx="2019224" cy="731520"/>
          </a:xfrm>
          <a:prstGeom prst="rect">
            <a:avLst/>
          </a:prstGeom>
          <a:noFill/>
          <a:ln/>
        </p:spPr>
        <p:txBody>
          <a:bodyPr wrap="square" lIns="0" tIns="0" rIns="0" bIns="0" rtlCol="0" anchor="t"/>
          <a:lstStyle/>
          <a:p>
            <a:pPr indent="0" marL="0">
              <a:buNone/>
            </a:pPr>
            <a:r>
              <a:rPr lang="en-US" sz="1600" dirty="0">
                <a:solidFill>
                  <a:schemeClr val="bg2"/>
                </a:solidFill>
              </a:rPr>
              <a:t>warehouse actions</a:t>
            </a:r>
            <a:endParaRPr lang="en-US" sz="1600" dirty="0"/>
          </a:p>
        </p:txBody>
      </p:sp>
      <p:sp>
        <p:nvSpPr>
          <p:cNvPr id="7" name="stat 1 tap">
            <a:extLst>
              <a:ext uri="{C183D7F6-B498-43B3-948B-1728B52AA6E4}">
                <adec:decorative xmlns:adec="http://schemas.microsoft.com/office/drawing/2017/decorative" val="1"/>
              </a:ext>
            </a:extLst>
          </p:cNvPr>
          <p:cNvSpPr/>
          <p:nvPr/>
        </p:nvSpPr>
        <p:spPr>
          <a:xfrm>
            <a:off x="3390824" y="2240280"/>
            <a:ext cx="2567864" cy="2743200"/>
          </a:xfrm>
          <a:prstGeom prst="roundRect">
            <a:avLst>
              <a:gd name="adj" fmla="val 5697"/>
            </a:avLst>
          </a:prstGeom>
          <a:solidFill>
            <a:schemeClr val="tx2"/>
          </a:solidFill>
          <a:ln w="9525">
            <a:solidFill>
              <a:schemeClr val="accent1"/>
            </a:solidFill>
            <a:prstDash val="solid"/>
          </a:ln>
          <a:effectLst>
            <a:outerShdw sx="100000" sy="100000" kx="0" ky="0" algn="bl" rotWithShape="0" blurRad="228600" dist="50800" dir="5400000">
              <a:srgbClr val="00D992">
                <a:alpha val="35000"/>
              </a:srgbClr>
            </a:outerShdw>
          </a:effectLst>
        </p:spPr>
      </p:sp>
      <p:sp>
        <p:nvSpPr>
          <p:cNvPr id="8" name="Text 6"/>
          <p:cNvSpPr txBox="1"/>
          <p:nvPr/>
        </p:nvSpPr>
        <p:spPr>
          <a:xfrm>
            <a:off x="3665144" y="2834640"/>
            <a:ext cx="2019224" cy="777240"/>
          </a:xfrm>
          <a:prstGeom prst="rect">
            <a:avLst/>
          </a:prstGeom>
          <a:noFill/>
          <a:ln/>
        </p:spPr>
        <p:txBody>
          <a:bodyPr wrap="square" lIns="0" tIns="0" rIns="0" bIns="0" rtlCol="0" anchor="b"/>
          <a:lstStyle/>
          <a:p>
            <a:pPr indent="0" marL="0">
              <a:buNone/>
            </a:pPr>
            <a:r>
              <a:rPr lang="en-US" sz="4000" b="1" dirty="0">
                <a:solidFill>
                  <a:schemeClr val="accent1"/>
                </a:solidFill>
              </a:rPr>
              <a:t>1 tap</a:t>
            </a:r>
            <a:endParaRPr lang="en-US" sz="4000" dirty="0"/>
          </a:p>
        </p:txBody>
      </p:sp>
      <p:sp>
        <p:nvSpPr>
          <p:cNvPr id="9" name="Text 7"/>
          <p:cNvSpPr txBox="1"/>
          <p:nvPr/>
        </p:nvSpPr>
        <p:spPr>
          <a:xfrm>
            <a:off x="3665144" y="3749040"/>
            <a:ext cx="2019224" cy="731520"/>
          </a:xfrm>
          <a:prstGeom prst="rect">
            <a:avLst/>
          </a:prstGeom>
          <a:noFill/>
          <a:ln/>
        </p:spPr>
        <p:txBody>
          <a:bodyPr wrap="square" lIns="0" tIns="0" rIns="0" bIns="0" rtlCol="0" anchor="t"/>
          <a:lstStyle/>
          <a:p>
            <a:pPr indent="0" marL="0">
              <a:buNone/>
            </a:pPr>
            <a:r>
              <a:rPr lang="en-US" sz="1600" dirty="0">
                <a:solidFill>
                  <a:schemeClr val="bg2"/>
                </a:solidFill>
              </a:rPr>
              <a:t>to confirm a change</a:t>
            </a:r>
            <a:endParaRPr lang="en-US" sz="1600" dirty="0"/>
          </a:p>
        </p:txBody>
      </p:sp>
      <p:sp>
        <p:nvSpPr>
          <p:cNvPr id="10" name="stat 5 min">
            <a:extLst>
              <a:ext uri="{C183D7F6-B498-43B3-948B-1728B52AA6E4}">
                <adec:decorative xmlns:adec="http://schemas.microsoft.com/office/drawing/2017/decorative" val="1"/>
              </a:ext>
            </a:extLst>
          </p:cNvPr>
          <p:cNvSpPr/>
          <p:nvPr/>
        </p:nvSpPr>
        <p:spPr>
          <a:xfrm>
            <a:off x="6233008" y="2240280"/>
            <a:ext cx="2567864" cy="2743200"/>
          </a:xfrm>
          <a:prstGeom prst="roundRect">
            <a:avLst>
              <a:gd name="adj" fmla="val 5697"/>
            </a:avLst>
          </a:prstGeom>
          <a:solidFill>
            <a:schemeClr val="tx2"/>
          </a:solidFill>
          <a:ln w="9525">
            <a:solidFill>
              <a:schemeClr val="accent2"/>
            </a:solidFill>
            <a:prstDash val="solid"/>
          </a:ln>
        </p:spPr>
      </p:sp>
      <p:sp>
        <p:nvSpPr>
          <p:cNvPr id="11" name="Text 9"/>
          <p:cNvSpPr txBox="1"/>
          <p:nvPr/>
        </p:nvSpPr>
        <p:spPr>
          <a:xfrm>
            <a:off x="6507328" y="2834640"/>
            <a:ext cx="2019224" cy="777240"/>
          </a:xfrm>
          <a:prstGeom prst="rect">
            <a:avLst/>
          </a:prstGeom>
          <a:noFill/>
          <a:ln/>
        </p:spPr>
        <p:txBody>
          <a:bodyPr wrap="square" lIns="0" tIns="0" rIns="0" bIns="0" rtlCol="0" anchor="b"/>
          <a:lstStyle/>
          <a:p>
            <a:pPr indent="0" marL="0">
              <a:buNone/>
            </a:pPr>
            <a:r>
              <a:rPr lang="en-US" sz="4000" b="1" dirty="0">
                <a:solidFill>
                  <a:schemeClr val="accent1"/>
                </a:solidFill>
              </a:rPr>
              <a:t>5 min</a:t>
            </a:r>
            <a:endParaRPr lang="en-US" sz="4000" dirty="0"/>
          </a:p>
        </p:txBody>
      </p:sp>
      <p:sp>
        <p:nvSpPr>
          <p:cNvPr id="12" name="Text 10"/>
          <p:cNvSpPr txBox="1"/>
          <p:nvPr/>
        </p:nvSpPr>
        <p:spPr>
          <a:xfrm>
            <a:off x="6507328" y="3749040"/>
            <a:ext cx="2019224" cy="731520"/>
          </a:xfrm>
          <a:prstGeom prst="rect">
            <a:avLst/>
          </a:prstGeom>
          <a:noFill/>
          <a:ln/>
        </p:spPr>
        <p:txBody>
          <a:bodyPr wrap="square" lIns="0" tIns="0" rIns="0" bIns="0" rtlCol="0" anchor="t"/>
          <a:lstStyle/>
          <a:p>
            <a:pPr indent="0" marL="0">
              <a:buNone/>
            </a:pPr>
            <a:r>
              <a:rPr lang="en-US" sz="1600" dirty="0">
                <a:solidFill>
                  <a:schemeClr val="bg2"/>
                </a:solidFill>
              </a:rPr>
              <a:t>then unconfirmed changes expire</a:t>
            </a:r>
            <a:endParaRPr lang="en-US" sz="1600" dirty="0"/>
          </a:p>
        </p:txBody>
      </p:sp>
      <p:sp>
        <p:nvSpPr>
          <p:cNvPr id="13" name="stat Private">
            <a:extLst>
              <a:ext uri="{C183D7F6-B498-43B3-948B-1728B52AA6E4}">
                <adec:decorative xmlns:adec="http://schemas.microsoft.com/office/drawing/2017/decorative" val="1"/>
              </a:ext>
            </a:extLst>
          </p:cNvPr>
          <p:cNvSpPr/>
          <p:nvPr/>
        </p:nvSpPr>
        <p:spPr>
          <a:xfrm>
            <a:off x="9075191" y="2240280"/>
            <a:ext cx="2567864" cy="2743200"/>
          </a:xfrm>
          <a:prstGeom prst="roundRect">
            <a:avLst>
              <a:gd name="adj" fmla="val 5697"/>
            </a:avLst>
          </a:prstGeom>
          <a:solidFill>
            <a:schemeClr val="tx2"/>
          </a:solidFill>
          <a:ln w="9525">
            <a:solidFill>
              <a:schemeClr val="accent2"/>
            </a:solidFill>
            <a:prstDash val="solid"/>
          </a:ln>
        </p:spPr>
      </p:sp>
      <p:sp>
        <p:nvSpPr>
          <p:cNvPr id="14" name="Text 12"/>
          <p:cNvSpPr txBox="1"/>
          <p:nvPr/>
        </p:nvSpPr>
        <p:spPr>
          <a:xfrm>
            <a:off x="9349511" y="2834640"/>
            <a:ext cx="2019224" cy="777240"/>
          </a:xfrm>
          <a:prstGeom prst="rect">
            <a:avLst/>
          </a:prstGeom>
          <a:noFill/>
          <a:ln/>
        </p:spPr>
        <p:txBody>
          <a:bodyPr wrap="square" lIns="0" tIns="0" rIns="0" bIns="0" rtlCol="0" anchor="b"/>
          <a:lstStyle/>
          <a:p>
            <a:pPr indent="0" marL="0">
              <a:buNone/>
            </a:pPr>
            <a:r>
              <a:rPr lang="en-US" sz="4000" b="1" dirty="0">
                <a:solidFill>
                  <a:schemeClr val="accent1"/>
                </a:solidFill>
              </a:rPr>
              <a:t>Private</a:t>
            </a:r>
            <a:endParaRPr lang="en-US" sz="4000" dirty="0"/>
          </a:p>
        </p:txBody>
      </p:sp>
      <p:sp>
        <p:nvSpPr>
          <p:cNvPr id="15" name="Text 13"/>
          <p:cNvSpPr txBox="1"/>
          <p:nvPr/>
        </p:nvSpPr>
        <p:spPr>
          <a:xfrm>
            <a:off x="9349511" y="3749040"/>
            <a:ext cx="2019224" cy="731520"/>
          </a:xfrm>
          <a:prstGeom prst="rect">
            <a:avLst/>
          </a:prstGeom>
          <a:noFill/>
          <a:ln/>
        </p:spPr>
        <p:txBody>
          <a:bodyPr wrap="square" lIns="0" tIns="0" rIns="0" bIns="0" rtlCol="0" anchor="t"/>
          <a:lstStyle/>
          <a:p>
            <a:pPr indent="0" marL="0">
              <a:buNone/>
            </a:pPr>
            <a:r>
              <a:rPr lang="en-US" sz="1600" dirty="0">
                <a:solidFill>
                  <a:schemeClr val="bg2"/>
                </a:solidFill>
              </a:rPr>
              <a:t>AI model option</a:t>
            </a:r>
            <a:endParaRPr lang="en-US" sz="1600" dirty="0"/>
          </a:p>
        </p:txBody>
      </p:sp>
      <p:sp>
        <p:nvSpPr>
          <p:cNvPr id="17"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title" hasCustomPrompt="1"/>
          </p:nvPr>
        </p:nvSpPr>
        <p:spPr>
          <a:xfrm>
            <a:off x="548640" y="640080"/>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What all four share</a:t>
            </a:r>
            <a:endParaRPr lang="en-US" sz="3400" dirty="0"/>
          </a:p>
        </p:txBody>
      </p:sp>
      <p:sp>
        <p:nvSpPr>
          <p:cNvPr id="3" name="Text 1"/>
          <p:cNvSpPr/>
          <p:nvPr>
            <p:ph idx="102" type="body" hasCustomPrompt="1"/>
          </p:nvPr>
        </p:nvSpPr>
        <p:spPr>
          <a:xfrm>
            <a:off x="6796735" y="6336792"/>
            <a:ext cx="4206240" cy="219456"/>
          </a:xfrm>
          <a:prstGeom prst="rect">
            <a:avLst/>
          </a:prstGeom>
          <a:noFill/>
          <a:ln/>
        </p:spPr>
        <p:txBody>
          <a:bodyPr wrap="square" lIns="0" tIns="0" rIns="0" bIns="0" rtlCol="0" anchor="ctr"/>
          <a:lstStyle/>
          <a:p>
            <a:pPr algn="r" indent="0" marL="0">
              <a:buNone/>
            </a:pPr>
            <a:r>
              <a:rPr lang="en-US" sz="1000" spc="100" kern="0" dirty="0">
                <a:solidFill>
                  <a:schemeClr val="accent2"/>
                </a:solidFill>
                <a:latin typeface="Courier New" pitchFamily="34" charset="0"/>
                <a:ea typeface="Courier New" pitchFamily="34" charset="-122"/>
                <a:cs typeface="Courier New" pitchFamily="34" charset="-120"/>
              </a:rPr>
              <a:t>SUMMARY</a:t>
            </a:r>
            <a:endParaRPr lang="en-US" sz="1000" dirty="0"/>
          </a:p>
        </p:txBody>
      </p:sp>
      <p:sp>
        <p:nvSpPr>
          <p:cNvPr id="4" name="Familiar channels">
            <a:extLst>
              <a:ext uri="{C183D7F6-B498-43B3-948B-1728B52AA6E4}">
                <adec:decorative xmlns:adec="http://schemas.microsoft.com/office/drawing/2017/decorative" val="1"/>
              </a:ext>
            </a:extLst>
          </p:cNvPr>
          <p:cNvSpPr/>
          <p:nvPr/>
        </p:nvSpPr>
        <p:spPr>
          <a:xfrm>
            <a:off x="548640" y="1828800"/>
            <a:ext cx="5410048" cy="1691640"/>
          </a:xfrm>
          <a:prstGeom prst="roundRect">
            <a:avLst>
              <a:gd name="adj" fmla="val 8649"/>
            </a:avLst>
          </a:prstGeom>
          <a:solidFill>
            <a:schemeClr val="tx2"/>
          </a:solidFill>
          <a:ln w="9525">
            <a:solidFill>
              <a:schemeClr val="accent2"/>
            </a:solidFill>
            <a:prstDash val="solid"/>
          </a:ln>
        </p:spPr>
      </p:sp>
      <p:sp>
        <p:nvSpPr>
          <p:cNvPr id="5" name="icon circle">
            <a:extLst>
              <a:ext uri="{C183D7F6-B498-43B3-948B-1728B52AA6E4}">
                <adec:decorative xmlns:adec="http://schemas.microsoft.com/office/drawing/2017/decorative" val="1"/>
              </a:ext>
            </a:extLst>
          </p:cNvPr>
          <p:cNvSpPr/>
          <p:nvPr/>
        </p:nvSpPr>
        <p:spPr>
          <a:xfrm>
            <a:off x="868680" y="2308860"/>
            <a:ext cx="731520" cy="731520"/>
          </a:xfrm>
          <a:prstGeom prst="ellipse">
            <a:avLst/>
          </a:prstGeom>
          <a:solidFill>
            <a:srgbClr val="0F2A20"/>
          </a:solidFill>
          <a:ln w="12700">
            <a:solidFill>
              <a:srgbClr val="1D4D3A"/>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51560" y="2491740"/>
            <a:ext cx="365760" cy="365760"/>
          </a:xfrm>
          <a:prstGeom prst="rect">
            <a:avLst/>
          </a:prstGeom>
        </p:spPr>
      </p:pic>
      <p:sp>
        <p:nvSpPr>
          <p:cNvPr id="7" name="Text 4"/>
          <p:cNvSpPr txBox="1"/>
          <p:nvPr/>
        </p:nvSpPr>
        <p:spPr>
          <a:xfrm>
            <a:off x="1874520" y="2286000"/>
            <a:ext cx="3809848" cy="384048"/>
          </a:xfrm>
          <a:prstGeom prst="rect">
            <a:avLst/>
          </a:prstGeom>
          <a:noFill/>
          <a:ln/>
        </p:spPr>
        <p:txBody>
          <a:bodyPr wrap="square" lIns="0" tIns="0" rIns="0" bIns="0" rtlCol="0" anchor="t"/>
          <a:lstStyle/>
          <a:p>
            <a:pPr indent="0" marL="0">
              <a:buNone/>
            </a:pPr>
            <a:r>
              <a:rPr lang="en-US" sz="2200" b="1" dirty="0">
                <a:solidFill>
                  <a:schemeClr val="bg1"/>
                </a:solidFill>
              </a:rPr>
              <a:t>Familiar channels</a:t>
            </a:r>
            <a:endParaRPr lang="en-US" sz="2200" dirty="0"/>
          </a:p>
        </p:txBody>
      </p:sp>
      <p:sp>
        <p:nvSpPr>
          <p:cNvPr id="8" name="Text 5"/>
          <p:cNvSpPr txBox="1"/>
          <p:nvPr/>
        </p:nvSpPr>
        <p:spPr>
          <a:xfrm>
            <a:off x="1874520" y="2724912"/>
            <a:ext cx="3809848" cy="365760"/>
          </a:xfrm>
          <a:prstGeom prst="rect">
            <a:avLst/>
          </a:prstGeom>
          <a:noFill/>
          <a:ln/>
        </p:spPr>
        <p:txBody>
          <a:bodyPr wrap="square" lIns="0" tIns="0" rIns="0" bIns="0" rtlCol="0" anchor="t"/>
          <a:lstStyle/>
          <a:p>
            <a:pPr indent="0" marL="0">
              <a:buNone/>
            </a:pPr>
            <a:r>
              <a:rPr lang="en-US" sz="1600" dirty="0">
                <a:solidFill>
                  <a:schemeClr val="bg2"/>
                </a:solidFill>
              </a:rPr>
              <a:t>Teams, WhatsApp, mobile</a:t>
            </a:r>
            <a:endParaRPr lang="en-US" sz="1600" dirty="0"/>
          </a:p>
        </p:txBody>
      </p:sp>
      <p:sp>
        <p:nvSpPr>
          <p:cNvPr id="9" name="AI does the typing">
            <a:extLst>
              <a:ext uri="{C183D7F6-B498-43B3-948B-1728B52AA6E4}">
                <adec:decorative xmlns:adec="http://schemas.microsoft.com/office/drawing/2017/decorative" val="1"/>
              </a:ext>
            </a:extLst>
          </p:cNvPr>
          <p:cNvSpPr/>
          <p:nvPr/>
        </p:nvSpPr>
        <p:spPr>
          <a:xfrm>
            <a:off x="6233008" y="1828800"/>
            <a:ext cx="5410048" cy="1691640"/>
          </a:xfrm>
          <a:prstGeom prst="roundRect">
            <a:avLst>
              <a:gd name="adj" fmla="val 8649"/>
            </a:avLst>
          </a:prstGeom>
          <a:solidFill>
            <a:schemeClr val="tx2"/>
          </a:solidFill>
          <a:ln w="9525">
            <a:solidFill>
              <a:schemeClr val="accent2"/>
            </a:solidFill>
            <a:prstDash val="solid"/>
          </a:ln>
        </p:spPr>
      </p:sp>
      <p:sp>
        <p:nvSpPr>
          <p:cNvPr id="10" name="icon circle">
            <a:extLst>
              <a:ext uri="{C183D7F6-B498-43B3-948B-1728B52AA6E4}">
                <adec:decorative xmlns:adec="http://schemas.microsoft.com/office/drawing/2017/decorative" val="1"/>
              </a:ext>
            </a:extLst>
          </p:cNvPr>
          <p:cNvSpPr/>
          <p:nvPr/>
        </p:nvSpPr>
        <p:spPr>
          <a:xfrm>
            <a:off x="6553048" y="2308860"/>
            <a:ext cx="731520" cy="731520"/>
          </a:xfrm>
          <a:prstGeom prst="ellipse">
            <a:avLst/>
          </a:prstGeom>
          <a:solidFill>
            <a:srgbClr val="0F2A20"/>
          </a:solidFill>
          <a:ln w="12700">
            <a:solidFill>
              <a:srgbClr val="1D4D3A"/>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35928" y="2491740"/>
            <a:ext cx="365760" cy="365760"/>
          </a:xfrm>
          <a:prstGeom prst="rect">
            <a:avLst/>
          </a:prstGeom>
        </p:spPr>
      </p:pic>
      <p:sp>
        <p:nvSpPr>
          <p:cNvPr id="12" name="Text 8"/>
          <p:cNvSpPr txBox="1"/>
          <p:nvPr/>
        </p:nvSpPr>
        <p:spPr>
          <a:xfrm>
            <a:off x="7558888" y="2286000"/>
            <a:ext cx="3809848" cy="384048"/>
          </a:xfrm>
          <a:prstGeom prst="rect">
            <a:avLst/>
          </a:prstGeom>
          <a:noFill/>
          <a:ln/>
        </p:spPr>
        <p:txBody>
          <a:bodyPr wrap="square" lIns="0" tIns="0" rIns="0" bIns="0" rtlCol="0" anchor="t"/>
          <a:lstStyle/>
          <a:p>
            <a:pPr indent="0" marL="0">
              <a:buNone/>
            </a:pPr>
            <a:r>
              <a:rPr lang="en-US" sz="2200" b="1" dirty="0">
                <a:solidFill>
                  <a:schemeClr val="bg1"/>
                </a:solidFill>
              </a:rPr>
              <a:t>AI does the typing</a:t>
            </a:r>
            <a:endParaRPr lang="en-US" sz="2200" dirty="0"/>
          </a:p>
        </p:txBody>
      </p:sp>
      <p:sp>
        <p:nvSpPr>
          <p:cNvPr id="13" name="Text 9"/>
          <p:cNvSpPr txBox="1"/>
          <p:nvPr/>
        </p:nvSpPr>
        <p:spPr>
          <a:xfrm>
            <a:off x="7558888" y="2724912"/>
            <a:ext cx="3809848" cy="365760"/>
          </a:xfrm>
          <a:prstGeom prst="rect">
            <a:avLst/>
          </a:prstGeom>
          <a:noFill/>
          <a:ln/>
        </p:spPr>
        <p:txBody>
          <a:bodyPr wrap="square" lIns="0" tIns="0" rIns="0" bIns="0" rtlCol="0" anchor="t"/>
          <a:lstStyle/>
          <a:p>
            <a:pPr indent="0" marL="0">
              <a:buNone/>
            </a:pPr>
            <a:r>
              <a:rPr lang="en-US" sz="1600" dirty="0">
                <a:solidFill>
                  <a:schemeClr val="bg2"/>
                </a:solidFill>
              </a:rPr>
              <a:t>Receipts, orders, lookups</a:t>
            </a:r>
            <a:endParaRPr lang="en-US" sz="1600" dirty="0"/>
          </a:p>
        </p:txBody>
      </p:sp>
      <p:sp>
        <p:nvSpPr>
          <p:cNvPr id="14" name="People decide">
            <a:extLst>
              <a:ext uri="{C183D7F6-B498-43B3-948B-1728B52AA6E4}">
                <adec:decorative xmlns:adec="http://schemas.microsoft.com/office/drawing/2017/decorative" val="1"/>
              </a:ext>
            </a:extLst>
          </p:cNvPr>
          <p:cNvSpPr/>
          <p:nvPr/>
        </p:nvSpPr>
        <p:spPr>
          <a:xfrm>
            <a:off x="548640" y="3794760"/>
            <a:ext cx="5410048" cy="1691640"/>
          </a:xfrm>
          <a:prstGeom prst="roundRect">
            <a:avLst>
              <a:gd name="adj" fmla="val 8649"/>
            </a:avLst>
          </a:prstGeom>
          <a:solidFill>
            <a:schemeClr val="tx2"/>
          </a:solidFill>
          <a:ln w="9525">
            <a:solidFill>
              <a:schemeClr val="accent2"/>
            </a:solidFill>
            <a:prstDash val="solid"/>
          </a:ln>
        </p:spPr>
      </p:sp>
      <p:sp>
        <p:nvSpPr>
          <p:cNvPr id="15" name="icon circle">
            <a:extLst>
              <a:ext uri="{C183D7F6-B498-43B3-948B-1728B52AA6E4}">
                <adec:decorative xmlns:adec="http://schemas.microsoft.com/office/drawing/2017/decorative" val="1"/>
              </a:ext>
            </a:extLst>
          </p:cNvPr>
          <p:cNvSpPr/>
          <p:nvPr/>
        </p:nvSpPr>
        <p:spPr>
          <a:xfrm>
            <a:off x="868680" y="4274820"/>
            <a:ext cx="731520" cy="731520"/>
          </a:xfrm>
          <a:prstGeom prst="ellipse">
            <a:avLst/>
          </a:prstGeom>
          <a:solidFill>
            <a:srgbClr val="0F2A20"/>
          </a:solidFill>
          <a:ln w="12700">
            <a:solidFill>
              <a:srgbClr val="1D4D3A"/>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51560" y="4457700"/>
            <a:ext cx="365760" cy="365760"/>
          </a:xfrm>
          <a:prstGeom prst="rect">
            <a:avLst/>
          </a:prstGeom>
        </p:spPr>
      </p:pic>
      <p:sp>
        <p:nvSpPr>
          <p:cNvPr id="17" name="Text 12"/>
          <p:cNvSpPr txBox="1"/>
          <p:nvPr/>
        </p:nvSpPr>
        <p:spPr>
          <a:xfrm>
            <a:off x="1874520" y="4251960"/>
            <a:ext cx="3809848" cy="384048"/>
          </a:xfrm>
          <a:prstGeom prst="rect">
            <a:avLst/>
          </a:prstGeom>
          <a:noFill/>
          <a:ln/>
        </p:spPr>
        <p:txBody>
          <a:bodyPr wrap="square" lIns="0" tIns="0" rIns="0" bIns="0" rtlCol="0" anchor="t"/>
          <a:lstStyle/>
          <a:p>
            <a:pPr indent="0" marL="0">
              <a:buNone/>
            </a:pPr>
            <a:r>
              <a:rPr lang="en-US" sz="2200" b="1" dirty="0">
                <a:solidFill>
                  <a:schemeClr val="bg1"/>
                </a:solidFill>
              </a:rPr>
              <a:t>People decide</a:t>
            </a:r>
            <a:endParaRPr lang="en-US" sz="2200" dirty="0"/>
          </a:p>
        </p:txBody>
      </p:sp>
      <p:sp>
        <p:nvSpPr>
          <p:cNvPr id="18" name="Text 13"/>
          <p:cNvSpPr txBox="1"/>
          <p:nvPr/>
        </p:nvSpPr>
        <p:spPr>
          <a:xfrm>
            <a:off x="1874520" y="4690872"/>
            <a:ext cx="3809848" cy="365760"/>
          </a:xfrm>
          <a:prstGeom prst="rect">
            <a:avLst/>
          </a:prstGeom>
          <a:noFill/>
          <a:ln/>
        </p:spPr>
        <p:txBody>
          <a:bodyPr wrap="square" lIns="0" tIns="0" rIns="0" bIns="0" rtlCol="0" anchor="t"/>
          <a:lstStyle/>
          <a:p>
            <a:pPr indent="0" marL="0">
              <a:buNone/>
            </a:pPr>
            <a:r>
              <a:rPr lang="en-US" sz="1600" dirty="0">
                <a:solidFill>
                  <a:schemeClr val="bg2"/>
                </a:solidFill>
              </a:rPr>
              <a:t>Approve before it posts</a:t>
            </a:r>
            <a:endParaRPr lang="en-US" sz="1600" dirty="0"/>
          </a:p>
        </p:txBody>
      </p:sp>
      <p:sp>
        <p:nvSpPr>
          <p:cNvPr id="19" name="Your system stays in charge">
            <a:extLst>
              <a:ext uri="{C183D7F6-B498-43B3-948B-1728B52AA6E4}">
                <adec:decorative xmlns:adec="http://schemas.microsoft.com/office/drawing/2017/decorative" val="1"/>
              </a:ext>
            </a:extLst>
          </p:cNvPr>
          <p:cNvSpPr/>
          <p:nvPr/>
        </p:nvSpPr>
        <p:spPr>
          <a:xfrm>
            <a:off x="6233008" y="3794760"/>
            <a:ext cx="5410048" cy="1691640"/>
          </a:xfrm>
          <a:prstGeom prst="roundRect">
            <a:avLst>
              <a:gd name="adj" fmla="val 8649"/>
            </a:avLst>
          </a:prstGeom>
          <a:solidFill>
            <a:schemeClr val="tx2"/>
          </a:solidFill>
          <a:ln w="9525">
            <a:solidFill>
              <a:schemeClr val="accent2"/>
            </a:solidFill>
            <a:prstDash val="solid"/>
          </a:ln>
        </p:spPr>
      </p:sp>
      <p:sp>
        <p:nvSpPr>
          <p:cNvPr id="20" name="icon circle">
            <a:extLst>
              <a:ext uri="{C183D7F6-B498-43B3-948B-1728B52AA6E4}">
                <adec:decorative xmlns:adec="http://schemas.microsoft.com/office/drawing/2017/decorative" val="1"/>
              </a:ext>
            </a:extLst>
          </p:cNvPr>
          <p:cNvSpPr/>
          <p:nvPr/>
        </p:nvSpPr>
        <p:spPr>
          <a:xfrm>
            <a:off x="6553048" y="4274820"/>
            <a:ext cx="731520" cy="731520"/>
          </a:xfrm>
          <a:prstGeom prst="ellipse">
            <a:avLst/>
          </a:prstGeom>
          <a:solidFill>
            <a:srgbClr val="0F2A20"/>
          </a:solidFill>
          <a:ln w="12700">
            <a:solidFill>
              <a:srgbClr val="1D4D3A"/>
            </a:solidFill>
            <a:prstDash val="solid"/>
          </a:ln>
        </p:spPr>
      </p:sp>
      <p:pic>
        <p:nvPicPr>
          <p:cNvPr id="21" name="Image 3">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735928" y="4457700"/>
            <a:ext cx="365760" cy="365760"/>
          </a:xfrm>
          <a:prstGeom prst="rect">
            <a:avLst/>
          </a:prstGeom>
        </p:spPr>
      </p:pic>
      <p:sp>
        <p:nvSpPr>
          <p:cNvPr id="22" name="Text 16"/>
          <p:cNvSpPr txBox="1"/>
          <p:nvPr/>
        </p:nvSpPr>
        <p:spPr>
          <a:xfrm>
            <a:off x="7558888" y="4251960"/>
            <a:ext cx="3809848" cy="384048"/>
          </a:xfrm>
          <a:prstGeom prst="rect">
            <a:avLst/>
          </a:prstGeom>
          <a:noFill/>
          <a:ln/>
        </p:spPr>
        <p:txBody>
          <a:bodyPr wrap="square" lIns="0" tIns="0" rIns="0" bIns="0" rtlCol="0" anchor="t"/>
          <a:lstStyle/>
          <a:p>
            <a:pPr indent="0" marL="0">
              <a:buNone/>
            </a:pPr>
            <a:r>
              <a:rPr lang="en-US" sz="2200" b="1" dirty="0">
                <a:solidFill>
                  <a:schemeClr val="bg1"/>
                </a:solidFill>
              </a:rPr>
              <a:t>Your system stays in charge</a:t>
            </a:r>
            <a:endParaRPr lang="en-US" sz="2200" dirty="0"/>
          </a:p>
        </p:txBody>
      </p:sp>
      <p:sp>
        <p:nvSpPr>
          <p:cNvPr id="23" name="Text 17"/>
          <p:cNvSpPr txBox="1"/>
          <p:nvPr/>
        </p:nvSpPr>
        <p:spPr>
          <a:xfrm>
            <a:off x="7558888" y="4690872"/>
            <a:ext cx="3809848" cy="365760"/>
          </a:xfrm>
          <a:prstGeom prst="rect">
            <a:avLst/>
          </a:prstGeom>
          <a:noFill/>
          <a:ln/>
        </p:spPr>
        <p:txBody>
          <a:bodyPr wrap="square" lIns="0" tIns="0" rIns="0" bIns="0" rtlCol="0" anchor="t"/>
          <a:lstStyle/>
          <a:p>
            <a:pPr indent="0" marL="0">
              <a:buNone/>
            </a:pPr>
            <a:r>
              <a:rPr lang="en-US" sz="1600" dirty="0">
                <a:solidFill>
                  <a:schemeClr val="bg2"/>
                </a:solidFill>
              </a:rPr>
              <a:t>Dynamics 365, AutoCount, WMS</a:t>
            </a:r>
            <a:endParaRPr lang="en-US" sz="1600" dirty="0"/>
          </a:p>
        </p:txBody>
      </p:sp>
      <p:sp>
        <p:nvSpPr>
          <p:cNvPr id="25" name="Text 1"/>
          <p:cNvSpPr/>
          <p:nvPr>
            <p:ph idx="104" type="body" hasCustomPrompt="1"/>
          </p:nvPr>
        </p:nvSpPr>
        <p:spPr>
          <a:xfrm>
            <a:off x="548640" y="1335024"/>
            <a:ext cx="11094415" cy="566928"/>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85855" y="6336792"/>
            <a:ext cx="457200" cy="21945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949440" cy="2194560"/>
          </a:xfrm>
          <a:prstGeom prst="rect">
            <a:avLst/>
          </a:prstGeom>
          <a:noFill/>
          <a:ln/>
        </p:spPr>
        <p:txBody>
          <a:bodyPr wrap="square" lIns="0" tIns="0" rIns="0" bIns="0" rtlCol="0" anchor="t"/>
          <a:lstStyle/>
          <a:p>
            <a:pPr algn="l" indent="0" marL="0">
              <a:buNone/>
            </a:pPr>
            <a:r>
              <a:rPr lang="en-US" sz="4600" b="1" dirty="0">
                <a:solidFill>
                  <a:schemeClr val="bg1"/>
                </a:solidFill>
              </a:rPr>
              <a:t>Have a workflow that should </a:t>
            </a:r>
            <a:pPr algn="l" indent="0" marL="0">
              <a:buNone/>
            </a:pPr>
            <a:r>
              <a:rPr lang="en-US" sz="4600" b="1" dirty="0">
                <a:solidFill>
                  <a:schemeClr val="accent1"/>
                </a:solidFill>
              </a:rPr>
              <a:t>run itself?</a:t>
            </a:r>
            <a:endParaRPr lang="en-US" sz="4600" dirty="0"/>
          </a:p>
        </p:txBody>
      </p:sp>
      <p:pic>
        <p:nvPicPr>
          <p:cNvPr id="3" name="Image 0" descr="Lim Chee Kin logo mark">    </p:cNvPr>
          <p:cNvPicPr>
            <a:picLocks noChangeAspect="1"/>
          </p:cNvPicPr>
          <p:nvPr/>
        </p:nvPicPr>
        <p:blipFill>
          <a:blip r:embed="rId1"/>
          <a:stretch>
            <a:fillRect/>
          </a:stretch>
        </p:blipFill>
        <p:spPr>
          <a:xfrm>
            <a:off x="548640" y="548640"/>
            <a:ext cx="457200" cy="457200"/>
          </a:xfrm>
          <a:prstGeom prst="rect">
            <a:avLst/>
          </a:prstGeom>
        </p:spPr>
      </p:pic>
      <p:pic>
        <p:nvPicPr>
          <p:cNvPr id="4" name="Image 1">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48640" y="3886200"/>
            <a:ext cx="256032" cy="256032"/>
          </a:xfrm>
          <a:prstGeom prst="rect">
            <a:avLst/>
          </a:prstGeom>
        </p:spPr>
      </p:pic>
      <p:sp>
        <p:nvSpPr>
          <p:cNvPr id="5" name="Text 1"/>
          <p:cNvSpPr txBox="1"/>
          <p:nvPr/>
        </p:nvSpPr>
        <p:spPr>
          <a:xfrm>
            <a:off x="987552" y="3840480"/>
            <a:ext cx="4572000" cy="347472"/>
          </a:xfrm>
          <a:prstGeom prst="rect">
            <a:avLst/>
          </a:prstGeom>
          <a:noFill/>
          <a:ln/>
        </p:spPr>
        <p:txBody>
          <a:bodyPr wrap="square" lIns="0" tIns="0" rIns="0" bIns="0" rtlCol="0" anchor="ctr"/>
          <a:lstStyle/>
          <a:p>
            <a:pPr indent="0" marL="0">
              <a:buNone/>
            </a:pPr>
            <a:r>
              <a:rPr lang="en-US" sz="1400" u="sng" dirty="0">
                <a:solidFill>
                  <a:schemeClr val="bg1"/>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kin.rag.wtf</a:t>
            </a:r>
            <a:endParaRPr lang="en-US" sz="1400" dirty="0"/>
          </a:p>
        </p:txBody>
      </p:sp>
      <p:pic>
        <p:nvPicPr>
          <p:cNvPr id="6" name="Image 2">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48640" y="4343400"/>
            <a:ext cx="256032" cy="256032"/>
          </a:xfrm>
          <a:prstGeom prst="rect">
            <a:avLst/>
          </a:prstGeom>
        </p:spPr>
      </p:pic>
      <p:sp>
        <p:nvSpPr>
          <p:cNvPr id="7" name="Text 2"/>
          <p:cNvSpPr txBox="1"/>
          <p:nvPr/>
        </p:nvSpPr>
        <p:spPr>
          <a:xfrm>
            <a:off x="987552" y="4297680"/>
            <a:ext cx="4572000" cy="347472"/>
          </a:xfrm>
          <a:prstGeom prst="rect">
            <a:avLst/>
          </a:prstGeom>
          <a:noFill/>
          <a:ln/>
        </p:spPr>
        <p:txBody>
          <a:bodyPr wrap="square" lIns="0" tIns="0" rIns="0" bIns="0" rtlCol="0" anchor="ctr"/>
          <a:lstStyle/>
          <a:p>
            <a:pPr indent="0" marL="0">
              <a:buNone/>
            </a:pPr>
            <a:r>
              <a:rPr lang="en-US" sz="1400" u="sng" dirty="0">
                <a:solidFill>
                  <a:schemeClr val="bg1"/>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limcheekin@vobject.com</a:t>
            </a:r>
            <a:endParaRPr lang="en-US" sz="1400" dirty="0"/>
          </a:p>
        </p:txBody>
      </p:sp>
      <p:pic>
        <p:nvPicPr>
          <p:cNvPr id="8" name="Image 3">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48640" y="4800600"/>
            <a:ext cx="256032" cy="256032"/>
          </a:xfrm>
          <a:prstGeom prst="rect">
            <a:avLst/>
          </a:prstGeom>
        </p:spPr>
      </p:pic>
      <p:sp>
        <p:nvSpPr>
          <p:cNvPr id="9" name="Text 3"/>
          <p:cNvSpPr txBox="1"/>
          <p:nvPr/>
        </p:nvSpPr>
        <p:spPr>
          <a:xfrm>
            <a:off x="987552" y="4754880"/>
            <a:ext cx="4572000" cy="347472"/>
          </a:xfrm>
          <a:prstGeom prst="rect">
            <a:avLst/>
          </a:prstGeom>
          <a:noFill/>
          <a:ln/>
        </p:spPr>
        <p:txBody>
          <a:bodyPr wrap="square" lIns="0" tIns="0" rIns="0" bIns="0" rtlCol="0" anchor="ctr"/>
          <a:lstStyle/>
          <a:p>
            <a:pPr indent="0" marL="0">
              <a:buNone/>
            </a:pPr>
            <a:r>
              <a:rPr lang="en-US" sz="1400" u="sng" dirty="0">
                <a:solidFill>
                  <a:schemeClr val="bg1"/>
                </a:solidFill>
                <a:latin typeface="Courier New" pitchFamily="34" charset="0"/>
                <a:ea typeface="Courier New" pitchFamily="34" charset="-122"/>
                <a:cs typeface="Courier New"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linkedin.com/in/limcheekin</a:t>
            </a:r>
            <a:endParaRPr lang="en-US" sz="1400" dirty="0"/>
          </a:p>
        </p:txBody>
      </p:sp>
      <p:pic>
        <p:nvPicPr>
          <p:cNvPr id="10" name="Image 4" descr="Portrait of Lim Chee Kin">    </p:cNvPr>
          <p:cNvPicPr>
            <a:picLocks noChangeAspect="1"/>
          </p:cNvPicPr>
          <p:nvPr/>
        </p:nvPicPr>
        <p:blipFill>
          <a:blip r:embed="rId8"/>
          <a:stretch>
            <a:fillRect/>
          </a:stretch>
        </p:blipFill>
        <p:spPr>
          <a:xfrm>
            <a:off x="7863840" y="1097280"/>
            <a:ext cx="3291840" cy="3291840"/>
          </a:xfrm>
          <a:prstGeom prst="rect">
            <a:avLst/>
          </a:prstGeom>
        </p:spPr>
      </p:pic>
      <p:sp>
        <p:nvSpPr>
          <p:cNvPr id="11" name="Text 4"/>
          <p:cNvSpPr txBox="1"/>
          <p:nvPr/>
        </p:nvSpPr>
        <p:spPr>
          <a:xfrm>
            <a:off x="7498080" y="4663440"/>
            <a:ext cx="4023360" cy="411480"/>
          </a:xfrm>
          <a:prstGeom prst="rect">
            <a:avLst/>
          </a:prstGeom>
          <a:noFill/>
          <a:ln/>
        </p:spPr>
        <p:txBody>
          <a:bodyPr wrap="square" lIns="0" tIns="0" rIns="0" bIns="0" rtlCol="0" anchor="t"/>
          <a:lstStyle/>
          <a:p>
            <a:pPr algn="ctr" indent="0" marL="0">
              <a:buNone/>
            </a:pPr>
            <a:r>
              <a:rPr lang="en-US" sz="2200" b="1" dirty="0">
                <a:solidFill>
                  <a:schemeClr val="bg1"/>
                </a:solidFill>
              </a:rPr>
              <a:t>Lim Chee Kin</a:t>
            </a:r>
            <a:endParaRPr lang="en-US" sz="2200" dirty="0"/>
          </a:p>
        </p:txBody>
      </p:sp>
      <p:sp>
        <p:nvSpPr>
          <p:cNvPr id="12" name="Text 5"/>
          <p:cNvSpPr txBox="1"/>
          <p:nvPr/>
        </p:nvSpPr>
        <p:spPr>
          <a:xfrm>
            <a:off x="7498080" y="5120640"/>
            <a:ext cx="4023360" cy="237744"/>
          </a:xfrm>
          <a:prstGeom prst="rect">
            <a:avLst/>
          </a:prstGeom>
          <a:noFill/>
          <a:ln/>
        </p:spPr>
        <p:txBody>
          <a:bodyPr wrap="square" lIns="0" tIns="0" rIns="0" bIns="0" rtlCol="0" anchor="ctr"/>
          <a:lstStyle/>
          <a:p>
            <a:pPr algn="ctr" indent="0" marL="0">
              <a:buNone/>
            </a:pPr>
            <a:r>
              <a:rPr lang="en-US" sz="1200" spc="100" kern="0" dirty="0">
                <a:solidFill>
                  <a:schemeClr val="accent2"/>
                </a:solidFill>
                <a:latin typeface="Courier New" pitchFamily="34" charset="0"/>
                <a:ea typeface="Courier New" pitchFamily="34" charset="-122"/>
                <a:cs typeface="Courier New" pitchFamily="34" charset="-120"/>
              </a:rPr>
              <a:t>AI SOLUTIONS ARCHITECT</a:t>
            </a:r>
            <a:endParaRPr lang="en-US" sz="1200" dirty="0"/>
          </a:p>
        </p:txBody>
      </p:sp>
    </p:spTree>
  </p:cSld>
  <p:clrMapOvr>
    <a:masterClrMapping/>
  </p:clrMapOvr>
</p:sld>
</file>

<file path=ppt/theme/theme1.xml><?xml version="1.0" encoding="utf-8"?>
<a:theme xmlns:a="http://schemas.openxmlformats.org/drawingml/2006/main" name="Lim Chee Kin Portfolio">
  <a:themeElements>
    <a:clrScheme name="Lim Chee Kin Portfolio">
      <a:dk1>
        <a:srgbClr val="050507"/>
      </a:dk1>
      <a:lt1>
        <a:srgbClr val="F2F2F2"/>
      </a:lt1>
      <a:dk2>
        <a:srgbClr val="0E0E10"/>
      </a:dk2>
      <a:lt2>
        <a:srgbClr val="B8B3B0"/>
      </a:lt2>
      <a:accent1>
        <a:srgbClr val="00D992"/>
      </a:accent1>
      <a:accent2>
        <a:srgbClr val="8B949E"/>
      </a:accent2>
      <a:accent3>
        <a:srgbClr val="FB565B"/>
      </a:accent3>
      <a:accent4>
        <a:srgbClr val="F5A524"/>
      </a:accent4>
      <a:accent5>
        <a:srgbClr val="3D3A39"/>
      </a:accent5>
      <a:accent6>
        <a:srgbClr val="1C1C20"/>
      </a:accent6>
      <a:hlink>
        <a:srgbClr val="00D992"/>
      </a:hlink>
      <a:folHlink>
        <a:srgbClr val="B8B3B0"/>
      </a:folHlink>
    </a:clrScheme>
    <a:fontScheme name="Lim Chee Kin Portfoli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that do real work inside business systems</dc:title>
  <dc:subject>Four case studies: Claim Pilot, Trade Pilot, Agentic AI Layer, WareBot</dc:subject>
  <dc:creator>Lim Chee Kin</dc:creator>
  <cp:lastModifiedBy>Lim Chee Kin</cp:lastModifiedBy>
  <cp:revision>1</cp:revision>
  <dcterms:created xsi:type="dcterms:W3CDTF">2026-10-28T05:08:30Z</dcterms:created>
  <dcterms:modified xsi:type="dcterms:W3CDTF">2026-10-28T05:08:30Z</dcterms:modified>
</cp:coreProperties>
</file>